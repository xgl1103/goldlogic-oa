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5" Type="http://schemas.openxmlformats.org/officeDocument/2006/relationships/slide" Target="slides/slide15.xml" /><Relationship Id="rId0" Type="http://schemas.openxmlformats.org/officeDocument/2006/relationships/slideMaster" Target="slideMasters/slideMaster1.xml" /><Relationship Id="rId14" Type="http://schemas.openxmlformats.org/officeDocument/2006/relationships/slide" Target="slides/slide14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8" Type="http://schemas.openxmlformats.org/officeDocument/2006/relationships/slide" Target="slides/slide8.xml" /><Relationship Id="rId16" Type="http://schemas.openxmlformats.org/officeDocument/2006/relationships/slide" Target="slides/slide16.xml" /><Relationship Id="rId17" Type="http://schemas.openxmlformats.org/officeDocument/2006/relationships/notesMaster" Target="notesMasters/notesMaster1.xml" 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" Type="http://schemas.openxmlformats.org/officeDocument/2006/relationships/slide" Target="slides/slide2.xml" /><Relationship Id="rId20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Relationship Id="rId2" Type="http://schemas.openxmlformats.org/officeDocument/2006/relationships/image" Target="media/image4.png" 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image" Target="media/image2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2" Type="http://schemas.openxmlformats.org/officeDocument/2006/relationships/image" Target="media/image3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 descr="&lt;Slide notes={`今天不讲理论，讲一个我们亲手做完的项目：怎么让一个普通的 OA 系统，长出一个 7×24 小时不睡觉的「AI 监控员工」。它叫小奥，每小时巡查一遍全公司的审批单，超时了就催，每周还会自己写健康度报告。整个流程大家听完可以照着复制——因为今天出现的每一个数字、每一行代码，都是真实的。`}&gt;&#10;  &lt;Box style={{ flexDirection: 'row', width: '100%', height: 720, background: '#FAF9F5' }}&gt;&#10;    &lt;Box style={{ width: 612, height: 720, padding: '90px 40px 60px 70px', justifyContent: 'space-between' }}&gt;&#10;      &lt;Box style={{ flexDirection: 'column', gap: 28 }}&gt;&#10;        &lt;Text style={{ fontFamily: '微软雅黑', fontSize: 15, color: '#A9A294', letterSpacing: 4 }}&gt;知识管理中心 · 内部教学&lt;/Text&gt;&#10;        &lt;Text style={{ fontFamily: '华文中宋', fontSize: 60, fontWeight: 'bold', color: '#1F1E1B', lineHeight: 1.3 }}&gt;当一个 OA 系统&lt;br /&gt;遇上 &lt;span style={{ color: '#D97757' }}&gt;AI 数字员工&lt;/span&gt;&lt;/Text&gt;&#10;        &lt;Text style={{ fontFamily: '微软雅黑', fontSize: 19, color: '#A9A294', lineHeight: 1.6 }}&gt;从业务痛点到 AI 落地的完整开发流程实录&lt;/Text&gt;&#10;      &lt;/Box&gt;&#10;      &lt;Box style={{ flexDirection: 'column', gap: 18 }}&gt;&#10;        &lt;Box style={{ flexDirection: 'row', gap: 24, alignItems: 'center' }}&gt;&#10;          &lt;Box style={{ flexDirection: 'row', alignItems: 'center', gap: 8 }}&gt;&#10;            &lt;Box style={{ width: 8, height: 8, borderRadius: 4, background: '#D97757' }} /&gt;&#10;            &lt;Text style={{ fontFamily: '微软雅黑', fontSize: 15, color: '#1F1E1B' }}&gt;真实项目&lt;/Text&gt;&#10;          &lt;/Box&gt;&#10;          &lt;Box style={{ flexDirection: 'row', alignItems: 'center', gap: 8 }}&gt;&#10;            &lt;Box style={{ width: 8, height: 8, borderRadius: 4, background: '#D97757' }} /&gt;&#10;            &lt;Text style={{ fontFamily: '微软雅黑', fontSize: 15, color: '#1F1E1B' }}&gt;真实代码&lt;/Text&gt;&#10;          &lt;/Box&gt;&#10;          &lt;Box style={{ flexDirection: 'row', alignItems: 'center', gap: 8 }}&gt;&#10;            &lt;Box style={{ width: 8, height: 8, borderRadius: 4, background: '#D97757' }} /&gt;&#10;            &lt;Text style={{ fontFamily: '微软雅黑', fontSize: 15, color: '#1F1E1B' }}&gt;真实数据&lt;/Text&gt;&#10;          &lt;/Box&gt;&#10;        &lt;/Box&gt;&#10;        &lt;Box style={{ flexDirection: 'row', justifyContent: 'space-between', alignItems: 'center' }}&gt;&#10;          &lt;Text style={{ fontFamily: '微软雅黑', fontSize: 13, color: '#A9A294' }}&gt;2026 年 9 月&lt;/Text&gt;&#10;          &lt;Text style={{ fontFamily: '微软雅黑', fontSize: 13, color: '#A9A294' }}&gt;01 / 16&lt;/Text&gt;&#10;        &lt;/Box&gt;&#10;      &lt;/Box&gt;&#10;    &lt;/Box&gt;&#10;    &lt;Image src=&quot;assets/cover_hero.png&quot; style={{ width: 668, height: 720, objectFit: 'cover' }} /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66750" y="857250"/>
            <a:ext cx="4781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A9A294"/>
                </a:solidFill>
                <a:latin typeface="微软雅黑"/>
                <a:ea typeface="微软雅黑"/>
              </a:rPr>
              <a:t>知识管理中心</a:t>
            </a:r>
            <a:r>
              <a:rPr lang="en-US" sz="1125" spc="300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1125" spc="300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66750" y="1295400"/>
            <a:ext cx="4781550" cy="17907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4500" b="1">
                <a:solidFill>
                  <a:srgbClr val="1F1E1B"/>
                </a:solidFill>
                <a:latin typeface="华文中宋"/>
                <a:ea typeface="华文中宋"/>
              </a:rPr>
              <a:t>当一个</a:t>
            </a:r>
            <a:r>
              <a:rPr lang="en-US" sz="4500" b="1">
                <a:solidFill>
                  <a:srgbClr val="1F1E1B"/>
                </a:solidFill>
                <a:latin typeface="华文中宋"/>
                <a:ea typeface="华文中宋"/>
              </a:rPr>
              <a:t> OA </a:t>
            </a:r>
            <a:r>
              <a:rPr lang="zh-CN" sz="4500" b="1">
                <a:solidFill>
                  <a:srgbClr val="1F1E1B"/>
                </a:solidFill>
                <a:latin typeface="华文中宋"/>
                <a:ea typeface="华文中宋"/>
              </a:rPr>
              <a:t>系统</a:t>
            </a:r>
            <a:endParaRPr/>
          </a:p>
          <a:p>
            <a:pPr>
              <a:lnSpc>
                <a:spcPct val="130000"/>
              </a:lnSpc>
            </a:pPr>
            <a:r>
              <a:rPr lang="zh-CN" sz="4500" b="1">
                <a:solidFill>
                  <a:srgbClr val="1F1E1B"/>
                </a:solidFill>
                <a:latin typeface="华文中宋"/>
                <a:ea typeface="华文中宋"/>
              </a:rPr>
              <a:t>遇上</a:t>
            </a:r>
            <a:r>
              <a:rPr lang="en-US" sz="4500" b="1">
                <a:solidFill>
                  <a:srgbClr val="1F1E1B"/>
                </a:solidFill>
                <a:latin typeface="华文中宋"/>
                <a:ea typeface="华文中宋"/>
              </a:rPr>
              <a:t> </a:t>
            </a:r>
            <a:r>
              <a:rPr lang="en-US" sz="4500" b="1">
                <a:solidFill>
                  <a:srgbClr val="D97757"/>
                </a:solidFill>
                <a:latin typeface="华文中宋"/>
                <a:ea typeface="华文中宋"/>
              </a:rPr>
              <a:t>AI </a:t>
            </a:r>
            <a:r>
              <a:rPr lang="zh-CN" sz="4500" b="1">
                <a:solidFill>
                  <a:srgbClr val="D97757"/>
                </a:solidFill>
                <a:latin typeface="华文中宋"/>
                <a:ea typeface="华文中宋"/>
              </a:rPr>
              <a:t>数字员工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66750" y="3352800"/>
            <a:ext cx="478155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A9A294"/>
                </a:solidFill>
                <a:latin typeface="微软雅黑"/>
                <a:ea typeface="微软雅黑"/>
              </a:rPr>
              <a:t>从业务痛点到</a:t>
            </a:r>
            <a:r>
              <a:rPr lang="en-US" sz="142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1425">
                <a:solidFill>
                  <a:srgbClr val="A9A294"/>
                </a:solidFill>
                <a:latin typeface="微软雅黑"/>
                <a:ea typeface="微软雅黑"/>
              </a:rPr>
              <a:t>落地的完整开发流程实录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66750" y="58388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19150" y="57912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真实项目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619250" y="58388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771650" y="57912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真实代码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2571750" y="58388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724150" y="57912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真实数据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66750" y="6134100"/>
            <a:ext cx="762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2026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年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9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月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010150" y="61341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01 / 16</a:t>
            </a:r>
            <a:endParaRPr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 r:embed="rId1"/>
          <a:srcRect l="19074" t="0" r="19074" b="0"/>
          <a:stretch>
            <a:fillRect/>
          </a:stretch>
        </p:blipFill>
        <p:spPr>
          <a:xfrm rot="0" flipH="0" flipV="0">
            <a:off x="5829300" y="0"/>
            <a:ext cx="6362700" cy="6858000"/>
          </a:xfrm>
          <a:prstGeom prst="rect">
            <a:avLst/>
          </a:prstGeom>
          <a:ln/>
        </p:spPr>
      </p:pic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95" name="" descr="&lt;Slide notes={`今天三句话概括：第一，审批流会卡死，AI 能不能发现并催？第二，OA 是老系统，怎么给 AI 开门？第三，OpenClaw 是平台，怎么让它干活形成闭环？最后我会把开发路上踩的四个坑全部公开，还会现场演示真实系统——那些坑比成功经验更有教学价值，每一项我们都付过真实的时间成本。`}&gt;&#10;  &lt;Slide style={{ background: '#FAF9F5', padding: '20px 70px', width: 1280, height: 720 }}&gt;&#10;    &lt;Box style={{ height: 100, justifyContent: 'center' }}&gt;&#10;      &lt;Text style={{ fontFamily: '华文中宋', fontSize: 34, fontWeight: 'bold', color: '#1F1E1B' }}&gt;今天讲什么&lt;/Text&gt;&#10;    &lt;/Box&gt;&#10;    &lt;Box style={{ flexDirection: 'row', height: 540, gap: 50 }}&gt;&#10;      &lt;Box style={{ width: 320, justifyContent: 'center' }}&gt;&#10;        &lt;Text style={{ fontFamily: '华文中宋', fontSize: 150, fontWeight: 'bold', color: '#D97757', lineHeight: 1 }}&gt;3&lt;/Text&gt;&#10;        &lt;Text style={{ fontFamily: '微软雅黑', fontSize: 20, color: '#1F1E1B', marginTop: 16, lineHeight: 1.6 }}&gt;幕结构&lt;br /&gt;一气呵成&lt;/Text&gt;&#10;      &lt;/Box&gt;&#10;      &lt;Box style={{ flex: 1, flexDirection: 'column', justifyContent: 'center', gap: 34 }}&gt;&#10;        &lt;Box style={{ flexDirection: 'row', gap: 24, alignItems: 'flex-start' }}&gt;&#10;          &lt;Text style={{ fontFamily: '华文中宋', fontSize: 44, fontWeight: 'bold', color: '#D97757', lineHeight: 1.1 }}&gt;01&lt;/Text&gt;&#10;          &lt;Box style={{ flex: 1 }}&gt;&#10;            &lt;Text style={{ fontFamily: '微软雅黑', fontSize: 22, fontWeight: 'bold', color: '#1F1E1B' }}&gt;为什么&lt;/Text&gt;&#10;            &lt;Text style={{ fontFamily: '微软雅黑', fontSize: 16, color: '#A9A294', marginTop: 6, lineHeight: 1.5 }}&gt;审批流会「卡死」——AI 能不能发现它、并且去催？&lt;/Text&gt;&#10;          &lt;/Box&gt;&#10;        &lt;/Box&gt;&#10;        &lt;Box style={{ height: 1, background: '#A9A294', opacity: 0.3 }} /&gt;&#10;        &lt;Box style={{ flexDirection: 'row', gap: 24, alignItems: 'flex-start' }}&gt;&#10;          &lt;Text style={{ fontFamily: '华文中宋', fontSize: 44, fontWeight: 'bold', color: '#D97757', lineHeight: 1.1 }}&gt;02&lt;/Text&gt;&#10;          &lt;Box style={{ flex: 1 }}&gt;&#10;            &lt;Text style={{ fontFamily: '微软雅黑', fontSize: 22, fontWeight: 'bold', color: '#1F1E1B' }}&gt;靠什么&lt;/Text&gt;&#10;            &lt;Text style={{ fontFamily: '微软雅黑', fontSize: 16, color: '#A9A294', marginTop: 6, lineHeight: 1.5 }}&gt;OA 是个老系统——怎么给 AI 开一扇门？&lt;/Text&gt;&#10;          &lt;/Box&gt;&#10;        &lt;/Box&gt;&#10;        &lt;Box style={{ height: 1, background: '#A9A294', opacity: 0.3 }} /&gt;&#10;        &lt;Box style={{ flexDirection: 'row', gap: 24, alignItems: 'flex-start' }}&gt;&#10;          &lt;Text style={{ fontFamily: '华文中宋', fontSize: 44, fontWeight: 'bold', color: '#D97757', lineHeight: 1.1 }}&gt;03&lt;/Text&gt;&#10;          &lt;Box style={{ flex: 1 }}&gt;&#10;            &lt;Text style={{ fontFamily: '微软雅黑', fontSize: 22, fontWeight: 'bold', color: '#1F1E1B' }}&gt;怎么连&lt;/Text&gt;&#10;            &lt;Text style={{ fontFamily: '微软雅黑', fontSize: 16, color: '#A9A294', marginTop: 6, lineHeight: 1.5 }}&gt;OpenClaw 是平台——怎么让它干活、形成闭环？&lt;/Text&gt;&#10;          &lt;/Box&gt;&#10;        &lt;/Box&gt;&#10;        &lt;Box style={{ flexDirection: 'row', gap: 12, alignItems: 'center', marginTop: 6 }}&gt;&#10;          &lt;FAIcon name=&quot;gift&quot; style={{ fill: '#D97757', width: 20, height: 20 }} /&gt;&#10;          &lt;Text style={{ fontFamily: '微软雅黑', fontSize: 16, color: '#1F1E1B' }}&gt;附赠：&lt;span style={{ fontWeight: 'bold' }}&gt;踩坑实录&lt;/span&gt; + &lt;span style={{ fontWeight: 'bold' }}&gt;现场演示&lt;/span&gt;&lt;/Text&gt;&#10;        &lt;/Box&gt;&#10;      &lt;/Box&gt;&#10;    &lt;/Box&gt;&#10;    &lt;Box style={{ height: 40, flexDirection: 'row', justifyContent: 'space-between', alignItems: 'center' }}&gt;&#10;      &lt;Text style={{ fontFamily: '微软雅黑', fontSize: 13, color: '#A9A294' }}&gt;当 OA 遇上 AI 数字员工 · 内部教学&lt;/Text&gt;&#10;      &lt;Text style={{ fontFamily: '微软雅黑', fontSize: 13, color: '#A9A294' }}&gt;02 / 16&lt;/Text&gt;&#10;    &lt;/Box&gt;&#10;  &lt;/Slide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今天讲什么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66750" y="2419350"/>
            <a:ext cx="30480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D97757"/>
                </a:solidFill>
                <a:latin typeface="华文中宋"/>
                <a:ea typeface="华文中宋"/>
              </a:rPr>
              <a:t>3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66750" y="4286250"/>
            <a:ext cx="3048000" cy="733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1F1E1B"/>
                </a:solidFill>
                <a:latin typeface="微软雅黑"/>
                <a:ea typeface="微软雅黑"/>
              </a:rPr>
              <a:t>幕结构</a:t>
            </a:r>
            <a:endParaRPr/>
          </a:p>
          <a:p>
            <a:pPr>
              <a:lnSpc>
                <a:spcPct val="160000"/>
              </a:lnSpc>
            </a:pPr>
            <a:r>
              <a:rPr lang="zh-CN" sz="1500">
                <a:solidFill>
                  <a:srgbClr val="1F1E1B"/>
                </a:solidFill>
                <a:latin typeface="微软雅黑"/>
                <a:ea typeface="微软雅黑"/>
              </a:rPr>
              <a:t>一气呵成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191000" y="1885950"/>
            <a:ext cx="533400" cy="5619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300" b="1">
                <a:solidFill>
                  <a:srgbClr val="D97757"/>
                </a:solidFill>
                <a:latin typeface="华文中宋"/>
                <a:ea typeface="华文中宋"/>
              </a:rPr>
              <a:t>01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953000" y="1885950"/>
            <a:ext cx="6572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1E1B"/>
                </a:solidFill>
                <a:latin typeface="微软雅黑"/>
                <a:ea typeface="微软雅黑"/>
              </a:rPr>
              <a:t>为什么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4953000" y="2200275"/>
            <a:ext cx="6572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A9A294"/>
                </a:solidFill>
                <a:latin typeface="微软雅黑"/>
                <a:ea typeface="微软雅黑"/>
              </a:rPr>
              <a:t>审批流会「卡死」——</a:t>
            </a:r>
            <a:r>
              <a:rPr lang="en-US" sz="1200">
                <a:solidFill>
                  <a:srgbClr val="A9A294"/>
                </a:solidFill>
                <a:latin typeface="微软雅黑"/>
                <a:ea typeface="微软雅黑"/>
              </a:rPr>
              <a:t>AI </a:t>
            </a:r>
            <a:r>
              <a:rPr lang="zh-CN" sz="1200">
                <a:solidFill>
                  <a:srgbClr val="A9A294"/>
                </a:solidFill>
                <a:latin typeface="微软雅黑"/>
                <a:ea typeface="微软雅黑"/>
              </a:rPr>
              <a:t>能不能发现它、并且去催？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4191000" y="3133725"/>
            <a:ext cx="533400" cy="5619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300" b="1">
                <a:solidFill>
                  <a:srgbClr val="D97757"/>
                </a:solidFill>
                <a:latin typeface="华文中宋"/>
                <a:ea typeface="华文中宋"/>
              </a:rPr>
              <a:t>02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953000" y="3133725"/>
            <a:ext cx="6572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1E1B"/>
                </a:solidFill>
                <a:latin typeface="微软雅黑"/>
                <a:ea typeface="微软雅黑"/>
              </a:rPr>
              <a:t>靠什么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953000" y="3448050"/>
            <a:ext cx="6572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A9A294"/>
                </a:solidFill>
                <a:latin typeface="微软雅黑"/>
                <a:ea typeface="微软雅黑"/>
              </a:rPr>
              <a:t>OA </a:t>
            </a:r>
            <a:r>
              <a:rPr lang="zh-CN" sz="1200">
                <a:solidFill>
                  <a:srgbClr val="A9A294"/>
                </a:solidFill>
                <a:latin typeface="微软雅黑"/>
                <a:ea typeface="微软雅黑"/>
              </a:rPr>
              <a:t>是个老系统——怎么给</a:t>
            </a:r>
            <a:r>
              <a:rPr lang="en-US" sz="1200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1200">
                <a:solidFill>
                  <a:srgbClr val="A9A294"/>
                </a:solidFill>
                <a:latin typeface="微软雅黑"/>
                <a:ea typeface="微软雅黑"/>
              </a:rPr>
              <a:t>开一扇门？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4191000" y="4381500"/>
            <a:ext cx="533400" cy="5619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300" b="1">
                <a:solidFill>
                  <a:srgbClr val="D97757"/>
                </a:solidFill>
                <a:latin typeface="华文中宋"/>
                <a:ea typeface="华文中宋"/>
              </a:rPr>
              <a:t>03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4953000" y="4381500"/>
            <a:ext cx="6572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1E1B"/>
                </a:solidFill>
                <a:latin typeface="微软雅黑"/>
                <a:ea typeface="微软雅黑"/>
              </a:rPr>
              <a:t>怎么连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4953000" y="4695825"/>
            <a:ext cx="6572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A9A294"/>
                </a:solidFill>
                <a:latin typeface="微软雅黑"/>
                <a:ea typeface="微软雅黑"/>
              </a:rPr>
              <a:t>OpenClaw </a:t>
            </a:r>
            <a:r>
              <a:rPr lang="zh-CN" sz="1200">
                <a:solidFill>
                  <a:srgbClr val="A9A294"/>
                </a:solidFill>
                <a:latin typeface="微软雅黑"/>
                <a:ea typeface="微软雅黑"/>
              </a:rPr>
              <a:t>是平台——怎么让它干活、形成闭环？</a:t>
            </a:r>
            <a:endParaRPr/>
          </a:p>
        </p:txBody>
      </p:sp>
      <p:pic>
        <p:nvPicPr>
          <p:cNvPr id="2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191000" y="5353050"/>
            <a:ext cx="190500" cy="190500"/>
          </a:xfrm>
          <a:prstGeom prst="rect">
            <a:avLst/>
          </a:prstGeom>
          <a:ln/>
        </p:spPr>
      </p:pic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495800" y="535305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附赠：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踩坑实录</a:t>
            </a: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 + 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现场演示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02 / 16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4191000" y="2800350"/>
            <a:ext cx="7334250" cy="9525"/>
          </a:xfrm>
          <a:prstGeom prst="rect">
            <a:avLst/>
          </a:prstGeom>
          <a:solidFill>
            <a:srgbClr val="A9A294">
              <a:alpha val="30000"/>
            </a:srgbClr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4191000" y="4048125"/>
            <a:ext cx="7334250" cy="9525"/>
          </a:xfrm>
          <a:prstGeom prst="rect">
            <a:avLst/>
          </a:prstGeom>
          <a:solidFill>
            <a:srgbClr val="A9A294">
              <a:alpha val="30000"/>
            </a:srgbClr>
          </a:solidFill>
          <a:ln/>
        </p:spPr>
        <p:txBody>
          <a:bodyPr/>
          <a:p/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15" name="" descr="&lt;Slide notes={`我们的 OA 里躺着 30 张正在审批的单子，其中 6 张已经停了超过两天——这个 6 是我刚从系统里拉出来的真实数字。没有任何人会收到提醒：申请人以为领导在忙，领导压根忘了。更要命的是想查都查不动，人工统计要翻数据库，老板要一份周报得手工做半天。所以结论是：不是系统坏了，而是流程缺少一双眼睛。`}&gt;&#10;  &lt;Slide style={{ background: '#FAF9F5', padding: '20px 70px', width: 1280, height: 720 }}&gt;&#10;    &lt;Box style={{ height: 100, justifyContent: 'center' }}&gt;&#10;      &lt;Text style={{ fontFamily: '华文中宋', fontSize: 34, fontWeight: 'bold', color: '#1F1E1B' }}&gt;第一幕 · 审批流正在「悄悄卡死」&lt;/Text&gt;&#10;    &lt;/Box&gt;&#10;    &lt;Box style={{ flexDirection: 'row', height: 540, gap: 40 }}&gt;&#10;      &lt;Box style={{ flex: 1, flexDirection: 'column' }}&gt;&#10;        &lt;Box style={{ flexDirection: 'row', alignItems: 'flex-end', gap: 24 }}&gt;&#10;          &lt;Text style={{ fontFamily: '华文中宋', fontSize: 170, fontWeight: 'bold', color: '#D97757', lineHeight: 0.95 }}&gt;6&lt;/Text&gt;&#10;          &lt;Box style={{ paddingBottom: 14 }}&gt;&#10;            &lt;Text style={{ fontFamily: '微软雅黑', fontSize: 22, fontWeight: 'bold', color: '#1F1E1B', lineHeight: 1.5 }}&gt;张审批停留超过 48 小时&lt;/Text&gt;&#10;            &lt;Text style={{ fontFamily: '微软雅黑', fontSize: 16, color: '#A9A294', marginTop: 8, lineHeight: 1.5 }}&gt;全公司在途审批共 30 单 · 2026-09-09 实测&lt;/Text&gt;&#10;          &lt;/Box&gt;&#10;        &lt;/Box&gt;&#10;        &lt;Box style={{ flexDirection: 'column', gap: 18, marginTop: 36 }}&gt;&#10;          &lt;Box style={{ flexDirection: 'row', gap: 14, alignItems: 'center' }}&gt;&#10;            &lt;FAIcon name=&quot;eye-slash&quot; style={{ fill: '#D97757', width: 24, height: 24 }} /&gt;&#10;            &lt;Text style={{ fontFamily: '微软雅黑', fontSize: 17, color: '#1F1E1B' }}&gt;&lt;span style={{ fontWeight: 'bold' }}&gt;看不见&lt;/span&gt; —— 没人知道哪些单卡住了、卡在谁手里&lt;/Text&gt;&#10;          &lt;/Box&gt;&#10;          &lt;Box style={{ flexDirection: 'row', gap: 14, alignItems: 'center' }}&gt;&#10;            &lt;FAIcon name=&quot;bell-slash&quot; style={{ fill: '#D97757', width: 24, height: 24 }} /&gt;&#10;            &lt;Text style={{ fontFamily: '微软雅黑', fontSize: 17, color: '#1F1E1B' }}&gt;&lt;span style={{ fontWeight: 'bold' }}&gt;没人管&lt;/span&gt; —— 审批人忘了，申请人不好意思催&lt;/Text&gt;&#10;          &lt;/Box&gt;&#10;          &lt;Box style={{ flexDirection: 'row', gap: 14, alignItems: 'center' }}&gt;&#10;            &lt;FAIcon name=&quot;search&quot; style={{ fill: '#D97757', width: 24, height: 24 }} /&gt;&#10;            &lt;Text style={{ fontFamily: '微软雅黑', fontSize: 17, color: '#1F1E1B' }}&gt;&lt;span style={{ fontWeight: 'bold' }}&gt;查不动&lt;/span&gt; —— 人工统计翻库半天，周报全靠手工&lt;/Text&gt;&#10;          &lt;/Box&gt;&#10;        &lt;/Box&gt;&#10;        &lt;Box style={{ marginTop: 'auto', padding: '16px 22px', background: 'rgba(217,119,87,0.08)', borderLeft: '3px solid #D97757', borderRadius: 8 }}&gt;&#10;          &lt;Text style={{ fontFamily: '华文中宋', fontSize: 21, fontWeight: 'bold', color: '#1F1E1B' }}&gt;不是系统坏了，而是流程缺少一双眼睛。&lt;/Text&gt;&#10;        &lt;/Box&gt;&#10;      &lt;/Box&gt;&#10;      &lt;Image src=&quot;assets/pain_stack.png&quot; style={{ width: 400, height: 540, objectFit: 'cover', borderRadius: 16 }} /&gt;&#10;    &lt;/Box&gt;&#10;    &lt;Box style={{ height: 40, flexDirection: 'row', justifyContent: 'space-between', alignItems: 'center' }}&gt;&#10;      &lt;Text style={{ fontFamily: '微软雅黑', fontSize: 13, color: '#A9A294' }}&gt;当 OA 遇上 AI 数字员工 · 内部教学&lt;/Text&gt;&#10;      &lt;Text style={{ fontFamily: '微软雅黑', fontSize: 13, color: '#A9A294' }}&gt;03 / 16&lt;/Text&gt;&#10;    &lt;/Box&gt;&#10;  &lt;/Slide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第一幕</a:t>
            </a:r>
            <a:r>
              <a:rPr lang="en-US" sz="2550" b="1">
                <a:solidFill>
                  <a:srgbClr val="1F1E1B"/>
                </a:solidFill>
                <a:latin typeface="华文中宋"/>
                <a:ea typeface="华文中宋"/>
              </a:rPr>
              <a:t> · </a:t>
            </a: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审批流正在「悄悄卡死」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66750" y="1143000"/>
            <a:ext cx="1038225" cy="1847850"/>
          </a:xfrm>
          <a:prstGeom prst="rect"/>
        </p:spPr>
        <p:txBody>
          <a:bodyPr wrap="none" lIns="0" tIns="0" rIns="0" bIns="0"/>
          <a:p>
            <a:pPr>
              <a:lnSpc>
                <a:spcPct val="95000"/>
              </a:lnSpc>
            </a:pPr>
            <a:r>
              <a:rPr lang="en-US" sz="12750" b="1">
                <a:solidFill>
                  <a:srgbClr val="D97757"/>
                </a:solidFill>
                <a:latin typeface="华文中宋"/>
                <a:ea typeface="华文中宋"/>
              </a:rPr>
              <a:t>6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933575" y="2124075"/>
            <a:ext cx="3048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1F1E1B"/>
                </a:solidFill>
                <a:latin typeface="微软雅黑"/>
                <a:ea typeface="微软雅黑"/>
              </a:rPr>
              <a:t>张审批停留超过</a:t>
            </a:r>
            <a:r>
              <a:rPr lang="en-US" sz="1650" b="1">
                <a:solidFill>
                  <a:srgbClr val="1F1E1B"/>
                </a:solidFill>
                <a:latin typeface="微软雅黑"/>
                <a:ea typeface="微软雅黑"/>
              </a:rPr>
              <a:t> 48 </a:t>
            </a:r>
            <a:r>
              <a:rPr lang="zh-CN" sz="1650" b="1">
                <a:solidFill>
                  <a:srgbClr val="1F1E1B"/>
                </a:solidFill>
                <a:latin typeface="微软雅黑"/>
                <a:ea typeface="微软雅黑"/>
              </a:rPr>
              <a:t>小时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933575" y="2581275"/>
            <a:ext cx="3048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A9A294"/>
                </a:solidFill>
                <a:latin typeface="微软雅黑"/>
                <a:ea typeface="微软雅黑"/>
              </a:rPr>
              <a:t>全公司在途审批共</a:t>
            </a:r>
            <a:r>
              <a:rPr lang="en-US" sz="1200">
                <a:solidFill>
                  <a:srgbClr val="A9A294"/>
                </a:solidFill>
                <a:latin typeface="微软雅黑"/>
                <a:ea typeface="微软雅黑"/>
              </a:rPr>
              <a:t> 30 </a:t>
            </a:r>
            <a:r>
              <a:rPr lang="zh-CN" sz="1200">
                <a:solidFill>
                  <a:srgbClr val="A9A294"/>
                </a:solidFill>
                <a:latin typeface="微软雅黑"/>
                <a:ea typeface="微软雅黑"/>
              </a:rPr>
              <a:t>单</a:t>
            </a:r>
            <a:r>
              <a:rPr lang="en-US" sz="1200">
                <a:solidFill>
                  <a:srgbClr val="A9A294"/>
                </a:solidFill>
                <a:latin typeface="微软雅黑"/>
                <a:ea typeface="微软雅黑"/>
              </a:rPr>
              <a:t> · 2026-09-09 </a:t>
            </a:r>
            <a:r>
              <a:rPr lang="zh-CN" sz="1200">
                <a:solidFill>
                  <a:srgbClr val="A9A294"/>
                </a:solidFill>
                <a:latin typeface="微软雅黑"/>
                <a:ea typeface="微软雅黑"/>
              </a:rPr>
              <a:t>实测</a:t>
            </a:r>
            <a:endParaRPr/>
          </a:p>
        </p:txBody>
      </p:sp>
      <p:pic>
        <p:nvPicPr>
          <p:cNvPr id="2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6750" y="3333750"/>
            <a:ext cx="228600" cy="228600"/>
          </a:xfrm>
          <a:prstGeom prst="rect">
            <a:avLst/>
          </a:prstGeom>
          <a:ln/>
        </p:spPr>
      </p:pic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028700" y="3352800"/>
            <a:ext cx="3505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1E1B"/>
                </a:solidFill>
                <a:latin typeface="微软雅黑"/>
                <a:ea typeface="微软雅黑"/>
              </a:rPr>
              <a:t>看不见</a:t>
            </a:r>
            <a:r>
              <a:rPr lang="en-US" sz="1275">
                <a:solidFill>
                  <a:srgbClr val="1F1E1B"/>
                </a:solidFill>
                <a:latin typeface="微软雅黑"/>
                <a:ea typeface="微软雅黑"/>
              </a:rPr>
              <a:t> —— </a:t>
            </a:r>
            <a:r>
              <a:rPr lang="zh-CN" sz="1275">
                <a:solidFill>
                  <a:srgbClr val="1F1E1B"/>
                </a:solidFill>
                <a:latin typeface="微软雅黑"/>
                <a:ea typeface="微软雅黑"/>
              </a:rPr>
              <a:t>没人知道哪些单卡住了、卡在谁手里</a:t>
            </a:r>
            <a:endParaRPr/>
          </a:p>
        </p:txBody>
      </p:sp>
      <p:pic>
        <p:nvPicPr>
          <p:cNvPr id="2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6750" y="3733800"/>
            <a:ext cx="228600" cy="228600"/>
          </a:xfrm>
          <a:prstGeom prst="rect">
            <a:avLst/>
          </a:prstGeom>
          <a:ln/>
        </p:spPr>
      </p:pic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028700" y="3752850"/>
            <a:ext cx="3181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1E1B"/>
                </a:solidFill>
                <a:latin typeface="微软雅黑"/>
                <a:ea typeface="微软雅黑"/>
              </a:rPr>
              <a:t>没人管</a:t>
            </a:r>
            <a:r>
              <a:rPr lang="en-US" sz="1275">
                <a:solidFill>
                  <a:srgbClr val="1F1E1B"/>
                </a:solidFill>
                <a:latin typeface="微软雅黑"/>
                <a:ea typeface="微软雅黑"/>
              </a:rPr>
              <a:t> —— </a:t>
            </a:r>
            <a:r>
              <a:rPr lang="zh-CN" sz="1275">
                <a:solidFill>
                  <a:srgbClr val="1F1E1B"/>
                </a:solidFill>
                <a:latin typeface="微软雅黑"/>
                <a:ea typeface="微软雅黑"/>
              </a:rPr>
              <a:t>审批人忘了，申请人不好意思催</a:t>
            </a:r>
            <a:endParaRPr/>
          </a:p>
        </p:txBody>
      </p:sp>
      <p:pic>
        <p:nvPicPr>
          <p:cNvPr id="2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6750" y="4133850"/>
            <a:ext cx="228600" cy="228600"/>
          </a:xfrm>
          <a:prstGeom prst="rect">
            <a:avLst/>
          </a:prstGeom>
          <a:ln/>
        </p:spPr>
      </p:pic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028700" y="4152900"/>
            <a:ext cx="3343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1E1B"/>
                </a:solidFill>
                <a:latin typeface="微软雅黑"/>
                <a:ea typeface="微软雅黑"/>
              </a:rPr>
              <a:t>查不动</a:t>
            </a:r>
            <a:r>
              <a:rPr lang="en-US" sz="1275">
                <a:solidFill>
                  <a:srgbClr val="1F1E1B"/>
                </a:solidFill>
                <a:latin typeface="微软雅黑"/>
                <a:ea typeface="微软雅黑"/>
              </a:rPr>
              <a:t> —— </a:t>
            </a:r>
            <a:r>
              <a:rPr lang="zh-CN" sz="1275">
                <a:solidFill>
                  <a:srgbClr val="1F1E1B"/>
                </a:solidFill>
                <a:latin typeface="微软雅黑"/>
                <a:ea typeface="微软雅黑"/>
              </a:rPr>
              <a:t>人工统计翻库半天，周报全靠手工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695325" y="5734050"/>
            <a:ext cx="6667500" cy="552450"/>
          </a:xfrm>
          <a:prstGeom prst="roundRect">
            <a:avLst>
              <a:gd name="adj" fmla="val 13793"/>
            </a:avLst>
          </a:prstGeom>
          <a:solidFill>
            <a:srgbClr val="D97757">
              <a:alpha val="8000"/>
            </a:srgbClr>
          </a:solidFill>
          <a:ln/>
        </p:spPr>
        <p:txBody>
          <a:bodyPr/>
          <a:p/>
        </p:txBody>
      </p:sp>
      <p:sp>
        <p:nvSpPr>
          <p:cNvPr id="228" name=""/>
          <p:cNvSpPr/>
          <p:nvPr/>
        </p:nvSpPr>
        <p:spPr>
          <a:xfrm rot="0" flipH="0" flipV="0">
            <a:off x="695325" y="5734050"/>
            <a:ext cx="6667500" cy="552450"/>
          </a:xfrm>
          <a:custGeom>
            <a:pathLst>
              <a:path w="700" h="5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3"/>
                </a:lnTo>
                <a:cubicBezTo>
                  <a:pt x="3" y="55"/>
                  <a:pt x="5" y="57"/>
                  <a:pt x="7" y="58"/>
                </a:cubicBezTo>
                <a:cubicBezTo>
                  <a:pt x="3" y="57"/>
                  <a:pt x="0" y="54"/>
                  <a:pt x="0" y="5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7757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904875" y="5886450"/>
            <a:ext cx="6219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1E1B"/>
                </a:solidFill>
                <a:latin typeface="华文中宋"/>
                <a:ea typeface="华文中宋"/>
              </a:rPr>
              <a:t>不是系统坏了，而是流程缺少一双眼睛。</a:t>
            </a:r>
            <a:endParaRPr/>
          </a:p>
        </p:txBody>
      </p:sp>
      <p:pic>
        <p:nvPicPr>
          <p:cNvPr id="230" name=""/>
          <p:cNvPicPr>
            <a:picLocks noChangeAspect="1"/>
          </p:cNvPicPr>
          <p:nvPr/>
        </p:nvPicPr>
        <p:blipFill>
          <a:blip r:embed="rId2"/>
          <a:srcRect l="12962" t="0" r="12962" b="0"/>
          <a:stretch>
            <a:fillRect/>
          </a:stretch>
        </p:blipFill>
        <p:spPr>
          <a:xfrm rot="0" flipH="0" flipV="0">
            <a:off x="7715250" y="1143000"/>
            <a:ext cx="3810000" cy="5143500"/>
          </a:xfrm>
          <a:prstGeom prst="roundRect">
            <a:avLst>
              <a:gd name="adj" fmla="val 4000"/>
            </a:avLst>
          </a:prstGeom>
          <a:ln/>
        </p:spPr>
      </p:pic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03 / 16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33" name="" descr="&lt;Slide notes={`需求方的原话是：能不能让 AI 帮我们盯着审批流？翻译成技术语言就是右边四件事：巡检、预警、催办、报告。我们给这个数字员工起了个名字叫小奥。注意这四件事里有个贯穿全程的分工原则——判断和说话交给 AI，动作和数据留在系统里。AI 负责发现谁超时了、组织催促话术，但真正改数据、动流程的事，它一个都碰不到。这个分工是整个项目能快速落地的关键。`}&gt;&#10;  &lt;Slide style={{ background: '#FAF9F5', padding: '20px 70px', width: 1280, height: 720 }}&gt;&#10;    &lt;Box style={{ height: 100, justifyContent: 'center' }}&gt;&#10;      &lt;Text style={{ fontFamily: '华文中宋', fontSize: 34, fontWeight: 'bold', color: '#1F1E1B' }}&gt;雇一个不睡觉的数字员工&lt;/Text&gt;&#10;    &lt;/Box&gt;&#10;    &lt;Box style={{ flexDirection: 'row', height: 540, gap: 44 }}&gt;&#10;      &lt;Image src=&quot;assets/sentry.png&quot; style={{ width: 620, height: 540, objectFit: 'cover', borderRadius: 16 }} /&gt;&#10;      &lt;Box style={{ flex: 1, flexDirection: 'column', justifyContent: 'center', gap: 22 }}&gt;&#10;        &lt;Text style={{ fontFamily: '微软雅黑', fontSize: 18, color: '#A9A294' }}&gt;小奥 · 7×24 小时巡检 OA 审批流&lt;/Text&gt;&#10;        &lt;Box style={{ flexDirection: 'row', gap: 16, alignItems: 'flex-start' }}&gt;&#10;          &lt;Box style={{ width: 44, height: 44, borderRadius: 12, background: 'rgba(217,119,87,0.1)', justifyContent: 'center', alignItems: 'center' }}&gt;&#10;            &lt;FAIcon name=&quot;sync&quot; style={{ fill: '#D97757', width: 22, height: 22 }} /&gt;&#10;          &lt;/Box&gt;&#10;          &lt;Box style={{ flex: 1 }}&gt;&#10;            &lt;Text style={{ fontFamily: '微软雅黑', fontSize: 20, fontWeight: 'bold', color: '#1F1E1B' }}&gt;巡检&lt;/Text&gt;&#10;            &lt;Text style={{ fontFamily: '微软雅黑', fontSize: 15, color: '#A9A294', marginTop: 2 }}&gt;每小时扫一遍在途审批&lt;/Text&gt;&#10;          &lt;/Box&gt;&#10;        &lt;/Box&gt;&#10;        &lt;Box style={{ flexDirection: 'row', gap: 16, alignItems: 'flex-start' }}&gt;&#10;          &lt;Box style={{ width: 44, height: 44, borderRadius: 12, background: 'rgba(217,119,87,0.1)', justifyContent: 'center', alignItems: 'center' }}&gt;&#10;            &lt;FAIcon name=&quot;exclamation-triangle&quot; style={{ fill: '#D97757', width: 22, height: 22 }} /&gt;&#10;          &lt;/Box&gt;&#10;          &lt;Box style={{ flex: 1 }}&gt;&#10;            &lt;Text style={{ fontFamily: '微软雅黑', fontSize: 20, fontWeight: 'bold', color: '#1F1E1B' }}&gt;预警&lt;/Text&gt;&#10;            &lt;Text style={{ fontFamily: '微软雅黑', fontSize: 15, color: '#A9A294', marginTop: 2 }}&gt;超时分级报警（24h / 48h）&lt;/Text&gt;&#10;          &lt;/Box&gt;&#10;        &lt;/Box&gt;&#10;        &lt;Box style={{ flexDirection: 'row', gap: 16, alignItems: 'flex-start' }}&gt;&#10;          &lt;Box style={{ width: 44, height: 44, borderRadius: 12, background: 'rgba(217,119,87,0.1)', justifyContent: 'center', alignItems: 'center' }}&gt;&#10;            &lt;FAIcon name=&quot;bullhorn&quot; style={{ fill: '#D97757', width: 22, height: 22 }} /&gt;&#10;          &lt;/Box&gt;&#10;          &lt;Box style={{ flex: 1 }}&gt;&#10;            &lt;Text style={{ fontFamily: '微软雅黑', fontSize: 20, fontWeight: 'bold', color: '#1F1E1B' }}&gt;催办&lt;/Text&gt;&#10;            &lt;Text style={{ fontFamily: '微软雅黑', fontSize: 15, color: '#A9A294', marginTop: 2 }}&gt;提醒审批人，抄送上级&lt;/Text&gt;&#10;          &lt;/Box&gt;&#10;        &lt;/Box&gt;&#10;        &lt;Box style={{ flexDirection: 'row', gap: 16, alignItems: 'flex-start' }}&gt;&#10;          &lt;Box style={{ width: 44, height: 44, borderRadius: 12, background: 'rgba(217,119,87,0.1)', justifyContent: 'center', alignItems: 'center' }}&gt;&#10;            &lt;FAIcon name=&quot;file-text&quot; style={{ fill: '#D97757', width: 22, height: 22 }} /&gt;&#10;          &lt;/Box&gt;&#10;          &lt;Box style={{ flex: 1 }}&gt;&#10;            &lt;Text style={{ fontFamily: '微软雅黑', fontSize: 20, fontWeight: 'bold', color: '#1F1E1B' }}&gt;报告&lt;/Text&gt;&#10;            &lt;Text style={{ fontFamily: '微软雅黑', fontSize: 15, color: '#A9A294', marginTop: 2 }}&gt;每周自动发布审批健康度公告&lt;/Text&gt;&#10;          &lt;/Box&gt;&#10;        &lt;/Box&gt;&#10;        &lt;Box style={{ marginTop: 8, padding: '14px 18px', background: 'rgba(217,119,87,0.08)', borderLeft: '3px solid #D97757', borderRadius: 8 }}&gt;&#10;          &lt;Text style={{ fontFamily: '微软雅黑', fontSize: 15, color: '#1F1E1B', lineHeight: 1.5 }}&gt;判断和说话交给 AI，&lt;span style={{ fontWeight: 'bold' }}&gt;动作和数据留在系统里&lt;/span&gt;&lt;/Text&gt;&#10;        &lt;/Box&gt;&#10;      &lt;/Box&gt;&#10;    &lt;/Box&gt;&#10;    &lt;Box style={{ height: 40, flexDirection: 'row', justifyContent: 'space-between', alignItems: 'center' }}&gt;&#10;      &lt;Text style={{ fontFamily: '微软雅黑', fontSize: 13, color: '#A9A294' }}&gt;当 OA 遇上 AI 数字员工 · 内部教学&lt;/Text&gt;&#10;      &lt;Text style={{ fontFamily: '微软雅黑', fontSize: 13, color: '#A9A294' }}&gt;04 / 16&lt;/Text&gt;&#10;    &lt;/Box&gt;&#10;  &lt;/Slide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雇一个不睡觉的数字员工</a:t>
            </a:r>
            <a:endParaRPr/>
          </a:p>
        </p:txBody>
      </p:sp>
      <p:pic>
        <p:nvPicPr>
          <p:cNvPr id="236" name=""/>
          <p:cNvPicPr>
            <a:picLocks noChangeAspect="1"/>
          </p:cNvPicPr>
          <p:nvPr/>
        </p:nvPicPr>
        <p:blipFill>
          <a:blip r:embed="rId1"/>
          <a:srcRect l="0" t="6451" r="0" b="6451"/>
          <a:stretch>
            <a:fillRect/>
          </a:stretch>
        </p:blipFill>
        <p:spPr>
          <a:xfrm rot="0" flipH="0" flipV="0">
            <a:off x="666750" y="1143000"/>
            <a:ext cx="5905500" cy="5143500"/>
          </a:xfrm>
          <a:prstGeom prst="roundRect">
            <a:avLst>
              <a:gd name="adj" fmla="val 2963"/>
            </a:avLst>
          </a:prstGeom>
          <a:ln/>
        </p:spPr>
      </p:pic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991350" y="1952625"/>
            <a:ext cx="4533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A9A294"/>
                </a:solidFill>
                <a:latin typeface="微软雅黑"/>
                <a:ea typeface="微软雅黑"/>
              </a:rPr>
              <a:t>小奥</a:t>
            </a:r>
            <a:r>
              <a:rPr lang="en-US" sz="1350">
                <a:solidFill>
                  <a:srgbClr val="A9A294"/>
                </a:solidFill>
                <a:latin typeface="微软雅黑"/>
                <a:ea typeface="微软雅黑"/>
              </a:rPr>
              <a:t> · 7×24 </a:t>
            </a:r>
            <a:r>
              <a:rPr lang="zh-CN" sz="1350">
                <a:solidFill>
                  <a:srgbClr val="A9A294"/>
                </a:solidFill>
                <a:latin typeface="微软雅黑"/>
                <a:ea typeface="微软雅黑"/>
              </a:rPr>
              <a:t>小时巡检</a:t>
            </a:r>
            <a:r>
              <a:rPr lang="en-US" sz="1350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1350">
                <a:solidFill>
                  <a:srgbClr val="A9A294"/>
                </a:solidFill>
                <a:latin typeface="微软雅黑"/>
                <a:ea typeface="微软雅黑"/>
              </a:rPr>
              <a:t>审批流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6991350" y="237172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D97757">
              <a:alpha val="10000"/>
            </a:srgbClr>
          </a:solidFill>
          <a:ln/>
        </p:spPr>
        <p:txBody>
          <a:bodyPr/>
          <a:p/>
        </p:txBody>
      </p:sp>
      <p:pic>
        <p:nvPicPr>
          <p:cNvPr id="2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96125" y="2476500"/>
            <a:ext cx="209550" cy="209550"/>
          </a:xfrm>
          <a:prstGeom prst="rect">
            <a:avLst/>
          </a:prstGeom>
          <a:ln/>
        </p:spPr>
      </p:pic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562850" y="2371725"/>
            <a:ext cx="396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1E1B"/>
                </a:solidFill>
                <a:latin typeface="微软雅黑"/>
                <a:ea typeface="微软雅黑"/>
              </a:rPr>
              <a:t>巡检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562850" y="2619375"/>
            <a:ext cx="3962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每小时扫一遍在途审批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6991350" y="30003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D97757">
              <a:alpha val="10000"/>
            </a:srgbClr>
          </a:solidFill>
          <a:ln/>
        </p:spPr>
        <p:txBody>
          <a:bodyPr/>
          <a:p/>
        </p:txBody>
      </p:sp>
      <p:pic>
        <p:nvPicPr>
          <p:cNvPr id="2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96125" y="3105150"/>
            <a:ext cx="209550" cy="209550"/>
          </a:xfrm>
          <a:prstGeom prst="rect">
            <a:avLst/>
          </a:prstGeom>
          <a:ln/>
        </p:spPr>
      </p:pic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7562850" y="3000375"/>
            <a:ext cx="396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1E1B"/>
                </a:solidFill>
                <a:latin typeface="微软雅黑"/>
                <a:ea typeface="微软雅黑"/>
              </a:rPr>
              <a:t>预警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7562850" y="3248025"/>
            <a:ext cx="3962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超时分级报警（</a:t>
            </a:r>
            <a:r>
              <a:rPr lang="en-US" sz="1125">
                <a:solidFill>
                  <a:srgbClr val="A9A294"/>
                </a:solidFill>
                <a:latin typeface="微软雅黑"/>
                <a:ea typeface="微软雅黑"/>
              </a:rPr>
              <a:t>24h / 48h</a:t>
            </a: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6991350" y="362902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D97757">
              <a:alpha val="10000"/>
            </a:srgbClr>
          </a:solidFill>
          <a:ln/>
        </p:spPr>
        <p:txBody>
          <a:bodyPr/>
          <a:p/>
        </p:txBody>
      </p:sp>
      <p:pic>
        <p:nvPicPr>
          <p:cNvPr id="2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96125" y="3733800"/>
            <a:ext cx="209550" cy="209550"/>
          </a:xfrm>
          <a:prstGeom prst="rect">
            <a:avLst/>
          </a:prstGeom>
          <a:ln/>
        </p:spPr>
      </p:pic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562850" y="3629025"/>
            <a:ext cx="396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1E1B"/>
                </a:solidFill>
                <a:latin typeface="微软雅黑"/>
                <a:ea typeface="微软雅黑"/>
              </a:rPr>
              <a:t>催办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7562850" y="3876675"/>
            <a:ext cx="3962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提醒审批人，抄送上级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6991350" y="42576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D97757">
              <a:alpha val="10000"/>
            </a:srgbClr>
          </a:solidFill>
          <a:ln/>
        </p:spPr>
        <p:txBody>
          <a:bodyPr/>
          <a:p/>
        </p:txBody>
      </p:sp>
      <p:pic>
        <p:nvPicPr>
          <p:cNvPr id="2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096125" y="4362450"/>
            <a:ext cx="209550" cy="209550"/>
          </a:xfrm>
          <a:prstGeom prst="rect">
            <a:avLst/>
          </a:prstGeom>
          <a:ln/>
        </p:spPr>
      </p:pic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562850" y="4257675"/>
            <a:ext cx="396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1E1B"/>
                </a:solidFill>
                <a:latin typeface="微软雅黑"/>
                <a:ea typeface="微软雅黑"/>
              </a:rPr>
              <a:t>报告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562850" y="4505325"/>
            <a:ext cx="3962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每周自动发布审批健康度公告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7019925" y="4962525"/>
            <a:ext cx="4533900" cy="523875"/>
          </a:xfrm>
          <a:prstGeom prst="roundRect">
            <a:avLst>
              <a:gd name="adj" fmla="val 14545"/>
            </a:avLst>
          </a:prstGeom>
          <a:solidFill>
            <a:srgbClr val="D97757">
              <a:alpha val="8000"/>
            </a:srgbClr>
          </a:solidFill>
          <a:ln/>
        </p:spPr>
        <p:txBody>
          <a:bodyPr/>
          <a:p/>
        </p:txBody>
      </p:sp>
      <p:sp>
        <p:nvSpPr>
          <p:cNvPr id="255" name=""/>
          <p:cNvSpPr/>
          <p:nvPr/>
        </p:nvSpPr>
        <p:spPr>
          <a:xfrm rot="0" flipH="0" flipV="0">
            <a:off x="7019925" y="4962525"/>
            <a:ext cx="4533900" cy="523875"/>
          </a:xfrm>
          <a:custGeom>
            <a:pathLst>
              <a:path w="476" h="5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0"/>
                </a:lnTo>
                <a:cubicBezTo>
                  <a:pt x="3" y="52"/>
                  <a:pt x="5" y="54"/>
                  <a:pt x="7" y="55"/>
                </a:cubicBezTo>
                <a:cubicBezTo>
                  <a:pt x="3" y="54"/>
                  <a:pt x="0" y="51"/>
                  <a:pt x="0" y="4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7757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191375" y="5095875"/>
            <a:ext cx="41624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判断和说话交给</a:t>
            </a:r>
            <a:r>
              <a:rPr lang="en-US" sz="1125">
                <a:solidFill>
                  <a:srgbClr val="1F1E1B"/>
                </a:solidFill>
                <a:latin typeface="微软雅黑"/>
                <a:ea typeface="微软雅黑"/>
              </a:rPr>
              <a:t> AI</a:t>
            </a: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，</a:t>
            </a:r>
            <a:r>
              <a:rPr lang="zh-CN" sz="1125" b="1">
                <a:solidFill>
                  <a:srgbClr val="1F1E1B"/>
                </a:solidFill>
                <a:latin typeface="微软雅黑"/>
                <a:ea typeface="微软雅黑"/>
              </a:rPr>
              <a:t>动作和数据留在系统里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04 / 16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59" name="" descr="&lt;Slide notes={`预警规则是业务方定的：24 小时催第一次，48 小时催满三次就升级抄送上级，48 小时还不动就判疑似无需审批。这里有个关键设计：最后这道闸门，AI 只标注、只上报，不砍单。为什么？自动改单据是不可逆动作，AI 可以当哨兵，但不能当刽子手。这个边界是业务和技术一起确认的，也是 AI 开发的第一课——搞清楚哪些事让 AI 做，哪些事必须留给人。`}&gt;&#10;  &lt;Slide style={{ background: '#FAF9F5', padding: '20px 70px', width: 1280, height: 720 }}&gt;&#10;    &lt;Box style={{ height: 100, justifyContent: 'center' }}&gt;&#10;      &lt;Text style={{ fontFamily: '华文中宋', fontSize: 34, fontWeight: 'bold', color: '#1F1E1B' }}&gt;分级预警的三道闸门&lt;/Text&gt;&#10;    &lt;/Box&gt;&#10;    &lt;Box style={{ flexDirection: 'row', height: 540, gap: 40 }}&gt;&#10;      &lt;Box style={{ width: 300, justifyContent: 'center' }}&gt;&#10;        &lt;Text style={{ fontFamily: '华文中宋', fontSize: 72, fontWeight: 'bold', color: '#D97757', lineHeight: 1 }}&gt;48h&lt;/Text&gt;&#10;        &lt;Text style={{ fontFamily: '微软雅黑', fontSize: 18, color: '#1F1E1B', marginTop: 18, lineHeight: 1.7 }}&gt;规则由业务定，&lt;br /&gt;AI 只负责执行。&lt;/Text&gt;&#10;        &lt;Text style={{ fontFamily: '微软雅黑', fontSize: 15, color: '#A9A294', marginTop: 14, lineHeight: 1.6 }}&gt;三条规则覆盖&lt;br /&gt;「提醒→升级→了断」全周期&lt;/Text&gt;&#10;      &lt;/Box&gt;&#10;      &lt;Box style={{ flex: 1, flexDirection: 'column', justifyContent: 'center', gap: 30 }}&gt;&#10;        &lt;Box style={{ flexDirection: 'row', alignItems: 'center' }}&gt;&#10;          &lt;Box style={{ width: 16, height: 16, borderRadius: 8, background: '#D97757' }} /&gt;&#10;          &lt;Box style={{ flex: 1, height: 3, background: '#A9A294', opacity: 0.35 }} /&gt;&#10;          &lt;Box style={{ width: 16, height: 16, borderRadius: 8, background: '#D97757' }} /&gt;&#10;          &lt;Box style={{ flex: 1, height: 3, background: '#A9A294', opacity: 0.35 }} /&gt;&#10;          &lt;Box style={{ width: 16, height: 16, borderRadius: 8, background: '#1F1E1B' }} /&gt;&#10;        &lt;/Box&gt;&#10;        &lt;Box style={{ flexDirection: 'row', gap: 20 }}&gt;&#10;          &lt;Box style={{ flex: 1, padding: '18px 20px', background: 'rgba(31,30,27,0.04)', borderRadius: 12 }}&gt;&#10;            &lt;Text style={{ fontFamily: '华文中宋', fontSize: 30, fontWeight: 'bold', color: '#D97757' }}&gt;24h&lt;/Text&gt;&#10;            &lt;Text style={{ fontFamily: '微软雅黑', fontSize: 17, fontWeight: 'bold', color: '#1F1E1B', marginTop: 8 }}&gt;第一道：催审批人&lt;/Text&gt;&#10;            &lt;Text style={{ fontFamily: '微软雅黑', fontSize: 14, color: '#A9A294', marginTop: 6, lineHeight: 1.5 }}&gt;停留超一天，发送第 1 次催办站内信&lt;/Text&gt;&#10;          &lt;/Box&gt;&#10;          &lt;Box style={{ flex: 1, padding: '18px 20px', background: 'rgba(31,30,27,0.04)', borderRadius: 12 }}&gt;&#10;            &lt;Text style={{ fontFamily: '华文中宋', fontSize: 30, fontWeight: 'bold', color: '#D97757' }}&gt;48h&lt;/Text&gt;&#10;            &lt;Text style={{ fontFamily: '微软雅黑', fontSize: 17, fontWeight: 'bold', color: '#1F1E1B', marginTop: 8 }}&gt;第二道：升级抄送&lt;/Text&gt;&#10;            &lt;Text style={{ fontFamily: '微软雅黑', fontSize: 14, color: '#A9A294', marginTop: 6, lineHeight: 1.5 }}&gt;累计催满 3 次，抄送上级一起盯&lt;/Text&gt;&#10;          &lt;/Box&gt;&#10;          &lt;Box style={{ flex: 1, padding: '18px 20px', background: '#1F1E1B', borderRadius: 12 }}&gt;&#10;            &lt;Text style={{ fontFamily: '华文中宋', fontSize: 30, fontWeight: 'bold', color: '#FAF9F5' }}&gt;48h&lt;/Text&gt;&#10;            &lt;Text style={{ fontFamily: '微软雅黑', fontSize: 17, fontWeight: 'bold', color: '#FAF9F5', marginTop: 8 }}&gt;第三道：判「无需审批」&lt;/Text&gt;&#10;            &lt;Text style={{ fontFamily: '微软雅黑', fontSize: 14, color: '#FAF9F5', opacity: 0.7, marginTop: 6, lineHeight: 1.5 }}&gt;无审批动作 → 只标注上报，人工裁决&lt;/Text&gt;&#10;          &lt;/Box&gt;&#10;        &lt;/Box&gt;&#10;        &lt;Box style={{ flexDirection: 'row', gap: 12, alignItems: 'center', padding: '14px 20px', background: 'rgba(217,119,87,0.08)', borderLeft: '3px solid #D97757', borderRadius: 8 }}&gt;&#10;          &lt;FAIcon name=&quot;shield&quot; style={{ fill: '#D97757', width: 22, height: 22 }} /&gt;&#10;          &lt;Text style={{ fontFamily: '微软雅黑', fontSize: 16, color: '#1F1E1B' }}&gt;AI 可以当哨兵，&lt;span style={{ fontWeight: 'bold' }}&gt;不能当刽子手&lt;/span&gt;——连续两月高风险的审批人移出节点？二期再议。&lt;/Text&gt;&#10;        &lt;/Box&gt;&#10;      &lt;/Box&gt;&#10;    &lt;/Box&gt;&#10;    &lt;Box style={{ height: 40, flexDirection: 'row', justifyContent: 'space-between', alignItems: 'center' }}&gt;&#10;      &lt;Text style={{ fontFamily: '微软雅黑', fontSize: 13, color: '#A9A294' }}&gt;当 OA 遇上 AI 数字员工 · 内部教学&lt;/Text&gt;&#10;      &lt;Text style={{ fontFamily: '微软雅黑', fontSize: 13, color: '#A9A294' }}&gt;05 / 16&lt;/Text&gt;&#10;    &lt;/Box&gt;&#10;  &lt;/Slide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分级预警的三道闸门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66750" y="2524125"/>
            <a:ext cx="28575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D97757"/>
                </a:solidFill>
                <a:latin typeface="华文中宋"/>
                <a:ea typeface="华文中宋"/>
              </a:rPr>
              <a:t>48h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66750" y="3524250"/>
            <a:ext cx="2857500" cy="7048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1F1E1B"/>
                </a:solidFill>
                <a:latin typeface="微软雅黑"/>
                <a:ea typeface="微软雅黑"/>
              </a:rPr>
              <a:t>规则由业务定，</a:t>
            </a:r>
            <a:endParaRPr/>
          </a:p>
          <a:p>
            <a:pPr>
              <a:lnSpc>
                <a:spcPct val="170000"/>
              </a:lnSpc>
            </a:pPr>
            <a:r>
              <a:rPr lang="en-US" sz="1350">
                <a:solidFill>
                  <a:srgbClr val="1F1E1B"/>
                </a:solidFill>
                <a:latin typeface="微软雅黑"/>
                <a:ea typeface="微软雅黑"/>
              </a:rPr>
              <a:t>AI </a:t>
            </a:r>
            <a:r>
              <a:rPr lang="zh-CN" sz="1350">
                <a:solidFill>
                  <a:srgbClr val="1F1E1B"/>
                </a:solidFill>
                <a:latin typeface="微软雅黑"/>
                <a:ea typeface="微软雅黑"/>
              </a:rPr>
              <a:t>只负责执行。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666750" y="4362450"/>
            <a:ext cx="285750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三条规则覆盖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「提醒→升级→了断」全周期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3905250" y="23622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7639050" y="23622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67" name=""/>
          <p:cNvSpPr/>
          <p:nvPr/>
        </p:nvSpPr>
        <p:spPr>
          <a:xfrm rot="0" flipH="0" flipV="0">
            <a:off x="11372850" y="23622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F1E1B"/>
          </a:solidFill>
          <a:ln/>
        </p:spPr>
        <p:txBody>
          <a:bodyPr/>
          <a:p/>
        </p:txBody>
      </p:sp>
      <p:sp>
        <p:nvSpPr>
          <p:cNvPr id="268" name=""/>
          <p:cNvSpPr/>
          <p:nvPr/>
        </p:nvSpPr>
        <p:spPr>
          <a:xfrm rot="0" flipH="0" flipV="0">
            <a:off x="3905250" y="2800350"/>
            <a:ext cx="2409825" cy="1504950"/>
          </a:xfrm>
          <a:prstGeom prst="roundRect">
            <a:avLst>
              <a:gd name="adj" fmla="val 7595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095750" y="2971800"/>
            <a:ext cx="20288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D97757"/>
                </a:solidFill>
                <a:latin typeface="华文中宋"/>
                <a:ea typeface="华文中宋"/>
              </a:rPr>
              <a:t>24h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095750" y="3390900"/>
            <a:ext cx="2028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1E1B"/>
                </a:solidFill>
                <a:latin typeface="微软雅黑"/>
                <a:ea typeface="微软雅黑"/>
              </a:rPr>
              <a:t>第一道：催审批人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4095750" y="3648075"/>
            <a:ext cx="20288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停留超一天，发送第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次催办站内信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505575" y="2800350"/>
            <a:ext cx="2419350" cy="1504950"/>
          </a:xfrm>
          <a:prstGeom prst="roundRect">
            <a:avLst>
              <a:gd name="adj" fmla="val 7595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696075" y="2971800"/>
            <a:ext cx="2038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D97757"/>
                </a:solidFill>
                <a:latin typeface="华文中宋"/>
                <a:ea typeface="华文中宋"/>
              </a:rPr>
              <a:t>48h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696075" y="3390900"/>
            <a:ext cx="2038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1E1B"/>
                </a:solidFill>
                <a:latin typeface="微软雅黑"/>
                <a:ea typeface="微软雅黑"/>
              </a:rPr>
              <a:t>第二道：升级抄送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696075" y="3648075"/>
            <a:ext cx="2038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累计催满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 3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次，抄送上级一起盯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9115425" y="2800350"/>
            <a:ext cx="2409825" cy="1504950"/>
          </a:xfrm>
          <a:prstGeom prst="roundRect">
            <a:avLst>
              <a:gd name="adj" fmla="val 7595"/>
            </a:avLst>
          </a:prstGeom>
          <a:solidFill>
            <a:srgbClr val="1F1E1B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9305925" y="2971800"/>
            <a:ext cx="20288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F9F5"/>
                </a:solidFill>
                <a:latin typeface="华文中宋"/>
                <a:ea typeface="华文中宋"/>
              </a:rPr>
              <a:t>48h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9305925" y="3390900"/>
            <a:ext cx="2028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F9F5"/>
                </a:solidFill>
                <a:latin typeface="微软雅黑"/>
                <a:ea typeface="微软雅黑"/>
              </a:rPr>
              <a:t>第三道：判「无需审批」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3933825" y="4591050"/>
            <a:ext cx="7620000" cy="476250"/>
          </a:xfrm>
          <a:prstGeom prst="roundRect">
            <a:avLst>
              <a:gd name="adj" fmla="val 16000"/>
            </a:avLst>
          </a:prstGeom>
          <a:solidFill>
            <a:srgbClr val="D97757">
              <a:alpha val="8000"/>
            </a:srgbClr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3933825" y="4591050"/>
            <a:ext cx="7620000" cy="476250"/>
          </a:xfrm>
          <a:custGeom>
            <a:pathLst>
              <a:path w="800" h="50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45"/>
                </a:lnTo>
                <a:cubicBezTo>
                  <a:pt x="3" y="47"/>
                  <a:pt x="5" y="49"/>
                  <a:pt x="7" y="50"/>
                </a:cubicBezTo>
                <a:cubicBezTo>
                  <a:pt x="3" y="49"/>
                  <a:pt x="0" y="46"/>
                  <a:pt x="0" y="4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7757"/>
          </a:solidFill>
          <a:ln/>
        </p:spPr>
        <p:txBody>
          <a:bodyPr/>
          <a:p/>
        </p:txBody>
      </p:sp>
      <p:pic>
        <p:nvPicPr>
          <p:cNvPr id="2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124325" y="4724400"/>
            <a:ext cx="209550" cy="209550"/>
          </a:xfrm>
          <a:prstGeom prst="rect">
            <a:avLst/>
          </a:prstGeom>
          <a:ln/>
        </p:spPr>
      </p:pic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4448175" y="4733925"/>
            <a:ext cx="5534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AI 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可以当哨兵，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不能当刽子手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——连续两月高风险的审批人移出节点？二期再议。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05 / 16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4057650" y="2428875"/>
            <a:ext cx="3581400" cy="28575"/>
          </a:xfrm>
          <a:prstGeom prst="rect">
            <a:avLst/>
          </a:prstGeom>
          <a:solidFill>
            <a:srgbClr val="A9A294">
              <a:alpha val="35000"/>
            </a:srgbClr>
          </a:soli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7791450" y="2428875"/>
            <a:ext cx="3581400" cy="28575"/>
          </a:xfrm>
          <a:prstGeom prst="rect">
            <a:avLst/>
          </a:prstGeom>
          <a:solidFill>
            <a:srgbClr val="A9A294">
              <a:alpha val="35000"/>
            </a:srgbClr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9305925" y="3648075"/>
            <a:ext cx="20288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FAF9F5">
                    <a:alpha val="70000"/>
                  </a:srgbClr>
                </a:solidFill>
                <a:latin typeface="微软雅黑"/>
                <a:ea typeface="微软雅黑"/>
              </a:rPr>
              <a:t>无审批动作</a:t>
            </a:r>
            <a:r>
              <a:rPr lang="en-US" sz="1050">
                <a:solidFill>
                  <a:srgbClr val="FAF9F5">
                    <a:alpha val="70000"/>
                  </a:srgbClr>
                </a:solidFill>
                <a:latin typeface="微软雅黑"/>
                <a:ea typeface="微软雅黑"/>
              </a:rPr>
              <a:t> → </a:t>
            </a:r>
            <a:r>
              <a:rPr lang="zh-CN" sz="1050">
                <a:solidFill>
                  <a:srgbClr val="FAF9F5">
                    <a:alpha val="70000"/>
                  </a:srgbClr>
                </a:solidFill>
                <a:latin typeface="微软雅黑"/>
                <a:ea typeface="微软雅黑"/>
              </a:rPr>
              <a:t>只标注上报，人工裁决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88" name="" descr="&lt;Slide notes={`底座很朴素：一个跑在 Docker 里的开源勾股 OA，我们做了深度定制。三个容器——nginx 管入口、PHP 跑业务、MariaDB 存数据，通过樱花内网穿透开放了一个外网入口。数据规模：62 名员工、19 类审批流程、30 张在途单。我想传递的观点是：AI 落地不需要先换系统、不需要高大上的平台，老系统够用就能接。技术选型永远服务于业务问题，而不是反过来。`}&gt;&#10;  &lt;Slide style={{ background: '#FAF9F5', padding: '20px 70px', width: 1280, height: 720 }}&gt;&#10;    &lt;Box style={{ height: 100, justifyContent: 'center' }}&gt;&#10;      &lt;Text style={{ fontFamily: '华文中宋', fontSize: 34, fontWeight: 'bold', color: '#1F1E1B' }}&gt;第二幕 · 底座：一个朴素的 OA&lt;/Text&gt;&#10;    &lt;/Box&gt;&#10;    &lt;Box style={{ flexDirection: 'row', height: 540, gap: 40 }}&gt;&#10;      &lt;Box style={{ flex: 1, justifyContent: 'center' }}&gt;&#10;        &lt;Box style={{ flexDirection: 'row', gap: 16, justifyContent: 'center' }}&gt;&#10;          &lt;Box style={{ flexDirection: 'row', alignItems: 'center', gap: 10, padding: '12px 22px', background: 'rgba(31,30,27,0.04)', borderRadius: 10 }}&gt;&#10;            &lt;FAIcon name=&quot;user&quot; style={{ fill: '#1F1E1B', width: 20, height: 20 }} /&gt;&#10;            &lt;Text style={{ fontFamily: '微软雅黑', fontSize: 16, color: '#1F1E1B' }}&gt;员工浏览器&lt;/Text&gt;&#10;          &lt;/Box&gt;&#10;          &lt;Box style={{ flexDirection: 'row', alignItems: 'center', gap: 10, padding: '12px 22px', background: 'rgba(217,119,87,0.1)', borderRadius: 10 }}&gt;&#10;            &lt;FAIcon name=&quot;robot&quot; style={{ fill: '#D97757', width: 20, height: 20 }} /&gt;&#10;            &lt;Text style={{ fontFamily: '微软雅黑', fontSize: 16, fontWeight: 'bold', color: '#D97757' }}&gt;OpenClaw&lt;/Text&gt;&#10;          &lt;/Box&gt;&#10;        &lt;/Box&gt;&#10;        &lt;Box style={{ alignItems: 'center', padding: '6px 0' }}&gt;&#10;          &lt;FAIcon name=&quot;arrow-down&quot; style={{ fill: '#A9A294', width: 20, height: 20 }} /&gt;&#10;        &lt;/Box&gt;&#10;        &lt;Box style={{ padding: '12px 22px', background: 'rgba(31,30,27,0.04)', borderRadius: 10, alignItems: 'center' }}&gt;&#10;          &lt;Text style={{ fontFamily: '微软雅黑', fontSize: 16, color: '#1F1E1B' }}&gt;樱花 Frp 内网穿透 · 外网入口 &lt;span style={{ fontWeight: 'bold' }}&gt;:20857&lt;/span&gt;&lt;/Text&gt;&#10;        &lt;/Box&gt;&#10;        &lt;Box style={{ alignItems: 'center', padding: '6px 0' }}&gt;&#10;          &lt;FAIcon name=&quot;arrow-down&quot; style={{ fill: '#A9A294', width: 20, height: 20 }} /&gt;&#10;        &lt;/Box&gt;&#10;        &lt;Box style={{ padding: '20px 24px', background: '#1F1E1B', borderRadius: 14 }}&gt;&#10;          &lt;Text style={{ fontFamily: '微软雅黑', fontSize: 14, color: '#FAF9F5', opacity: 0.6, marginBottom: 12 }}&gt;Docker Compose&lt;/Text&gt;&#10;          &lt;Box style={{ flexDirection: 'row', gap: 12, alignItems: 'center' }}&gt;&#10;            &lt;Box style={{ flex: 1, padding: '14px 10px', background: '#FAF9F5', borderRadius: 10, alignItems: 'center' }}&gt;&#10;              &lt;Text style={{ fontFamily: '微软雅黑', fontSize: 15, fontWeight: 'bold', color: '#1F1E1B' }}&gt;nginx&lt;/Text&gt;&#10;              &lt;Text style={{ fontFamily: '微软雅黑', fontSize: 12, color: '#A9A294', marginTop: 2 }}&gt;入口 :8010&lt;/Text&gt;&#10;            &lt;/Box&gt;&#10;            &lt;FAIcon name=&quot;arrow-right&quot; style={{ fill: '#D97757', width: 18, height: 18 }} /&gt;&#10;            &lt;Box style={{ flex: 1, padding: '14px 10px', background: '#FAF9F5', borderRadius: 10, alignItems: 'center' }}&gt;&#10;              &lt;Text style={{ fontFamily: '微软雅黑', fontSize: 15, fontWeight: 'bold', color: '#1F1E1B' }}&gt;PHP 8.2&lt;/Text&gt;&#10;              &lt;Text style={{ fontFamily: '微软雅黑', fontSize: 12, color: '#A9A294', marginTop: 2 }}&gt;ThinkPHP&lt;/Text&gt;&#10;            &lt;/Box&gt;&#10;            &lt;FAIcon name=&quot;arrow-right&quot; style={{ fill: '#D97757', width: 18, height: 18 }} /&gt;&#10;            &lt;Box style={{ flex: 1, padding: '14px 10px', background: '#FAF9F5', borderRadius: 10, alignItems: 'center' }}&gt;&#10;              &lt;Text style={{ fontFamily: '微软雅黑', fontSize: 15, fontWeight: 'bold', color: '#1F1E1B' }}&gt;MariaDB&lt;/Text&gt;&#10;              &lt;Text style={{ fontFamily: '微软雅黑', fontSize: 12, color: '#A9A294', marginTop: 2 }}&gt;数据存储&lt;/Text&gt;&#10;            &lt;/Box&gt;&#10;          &lt;/Box&gt;&#10;        &lt;/Box&gt;&#10;      &lt;/Box&gt;&#10;      &lt;Box style={{ width: 360, justifyContent: 'center', gap: 20 }}&gt;&#10;        &lt;Box style={{ flexDirection: 'row', alignItems: 'baseline', gap: 14, padding: '18px 24px', background: 'rgba(217,119,87,0.08)', borderRadius: 12 }}&gt;&#10;          &lt;Text style={{ fontFamily: '华文中宋', fontSize: 52, fontWeight: 'bold', color: '#D97757', lineHeight: 1 }}&gt;62&lt;/Text&gt;&#10;          &lt;Text style={{ fontFamily: '微软雅黑', fontSize: 16, color: '#1F1E1B' }}&gt;名员工在线使用&lt;/Text&gt;&#10;        &lt;/Box&gt;&#10;        &lt;Box style={{ flexDirection: 'row', alignItems: 'baseline', gap: 14, padding: '18px 24px', background: 'rgba(217,119,87,0.08)', borderRadius: 12 }}&gt;&#10;          &lt;Text style={{ fontFamily: '华文中宋', fontSize: 52, fontWeight: 'bold', color: '#D97757', lineHeight: 1 }}&gt;19&lt;/Text&gt;&#10;          &lt;Text style={{ fontFamily: '微软雅黑', fontSize: 16, color: '#1F1E1B' }}&gt;类审批流程&lt;/Text&gt;&#10;        &lt;/Box&gt;&#10;        &lt;Box style={{ flexDirection: 'row', alignItems: 'baseline', gap: 14, padding: '18px 24px', background: 'rgba(217,119,87,0.08)', borderRadius: 12 }}&gt;&#10;          &lt;Text style={{ fontFamily: '华文中宋', fontSize: 52, fontWeight: 'bold', color: '#D97757', lineHeight: 1 }}&gt;30&lt;/Text&gt;&#10;          &lt;Text style={{ fontFamily: '微软雅黑', fontSize: 16, color: '#1F1E1B' }}&gt;张在途审批单&lt;/Text&gt;&#10;        &lt;/Box&gt;&#10;        &lt;Text style={{ fontFamily: '微软雅黑', fontSize: 15, color: '#A9A294', lineHeight: 1.6, marginTop: 4 }}&gt;开源勾股 OA 深度定制 · Docker 一键部署&lt;br /&gt;不神秘、不高级，但够用&lt;/Text&gt;&#10;      &lt;/Box&gt;&#10;    &lt;/Box&gt;&#10;    &lt;Box style={{ height: 40, flexDirection: 'row', justifyContent: 'space-between', alignItems: 'center' }}&gt;&#10;      &lt;Text style={{ fontFamily: '微软雅黑', fontSize: 13, color: '#A9A294' }}&gt;当 OA 遇上 AI 数字员工 · 内部教学&lt;/Text&gt;&#10;      &lt;Text style={{ fontFamily: '微软雅黑', fontSize: 13, color: '#A9A294' }}&gt;06 / 16&lt;/Text&gt;&#10;    &lt;/Box&gt;&#10;  &lt;/Slide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第二幕</a:t>
            </a:r>
            <a:r>
              <a:rPr lang="en-US" sz="2550" b="1">
                <a:solidFill>
                  <a:srgbClr val="1F1E1B"/>
                </a:solidFill>
                <a:latin typeface="华文中宋"/>
                <a:ea typeface="华文中宋"/>
              </a:rPr>
              <a:t> · </a:t>
            </a: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底座：一个朴素的</a:t>
            </a:r>
            <a:r>
              <a:rPr lang="en-US" sz="2550" b="1">
                <a:solidFill>
                  <a:srgbClr val="1F1E1B"/>
                </a:solidFill>
                <a:latin typeface="华文中宋"/>
                <a:ea typeface="华文中宋"/>
              </a:rPr>
              <a:t> OA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2638425" y="2362200"/>
            <a:ext cx="1466850" cy="419100"/>
          </a:xfrm>
          <a:prstGeom prst="roundRect">
            <a:avLst>
              <a:gd name="adj" fmla="val 22727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pic>
        <p:nvPicPr>
          <p:cNvPr id="2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847975" y="2476500"/>
            <a:ext cx="190500" cy="190500"/>
          </a:xfrm>
          <a:prstGeom prst="rect">
            <a:avLst/>
          </a:prstGeom>
          <a:ln/>
        </p:spPr>
      </p:pic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3133725" y="24765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员工浏览器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4257675" y="2362200"/>
            <a:ext cx="1485900" cy="419100"/>
          </a:xfrm>
          <a:prstGeom prst="roundRect">
            <a:avLst>
              <a:gd name="adj" fmla="val 22727"/>
            </a:avLst>
          </a:prstGeom>
          <a:solidFill>
            <a:srgbClr val="D97757">
              <a:alpha val="10000"/>
            </a:srgbClr>
          </a:solidFill>
          <a:ln/>
        </p:spPr>
        <p:txBody>
          <a:bodyPr/>
          <a:p/>
        </p:txBody>
      </p:sp>
      <p:pic>
        <p:nvPicPr>
          <p:cNvPr id="2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467225" y="2476500"/>
            <a:ext cx="190500" cy="190500"/>
          </a:xfrm>
          <a:prstGeom prst="rect">
            <a:avLst/>
          </a:prstGeom>
          <a:ln/>
        </p:spPr>
      </p:pic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4752975" y="2476500"/>
            <a:ext cx="781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7757"/>
                </a:solidFill>
                <a:latin typeface="微软雅黑"/>
                <a:ea typeface="微软雅黑"/>
              </a:rPr>
              <a:t>OpenClaw</a:t>
            </a:r>
            <a:endParaRPr/>
          </a:p>
        </p:txBody>
      </p:sp>
      <p:pic>
        <p:nvPicPr>
          <p:cNvPr id="2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95750" y="2838450"/>
            <a:ext cx="190500" cy="190500"/>
          </a:xfrm>
          <a:prstGeom prst="rect">
            <a:avLst/>
          </a:prstGeom>
          <a:ln/>
        </p:spPr>
      </p:pic>
      <p:sp>
        <p:nvSpPr>
          <p:cNvPr id="298" name=""/>
          <p:cNvSpPr/>
          <p:nvPr/>
        </p:nvSpPr>
        <p:spPr>
          <a:xfrm rot="0" flipH="0" flipV="0">
            <a:off x="666750" y="3086100"/>
            <a:ext cx="7048500" cy="419100"/>
          </a:xfrm>
          <a:prstGeom prst="roundRect">
            <a:avLst>
              <a:gd name="adj" fmla="val 22727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2895600" y="3200400"/>
            <a:ext cx="2590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樱花</a:t>
            </a: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 Frp 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内网穿透</a:t>
            </a: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 · 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外网入口</a:t>
            </a: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 </a:t>
            </a: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:20857</a:t>
            </a:r>
            <a:endParaRPr/>
          </a:p>
        </p:txBody>
      </p:sp>
      <p:pic>
        <p:nvPicPr>
          <p:cNvPr id="3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95750" y="3562350"/>
            <a:ext cx="190500" cy="190500"/>
          </a:xfrm>
          <a:prstGeom prst="rect">
            <a:avLst/>
          </a:prstGeom>
          <a:ln/>
        </p:spPr>
      </p:pic>
      <p:sp>
        <p:nvSpPr>
          <p:cNvPr id="301" name=""/>
          <p:cNvSpPr/>
          <p:nvPr/>
        </p:nvSpPr>
        <p:spPr>
          <a:xfrm rot="0" flipH="0" flipV="0">
            <a:off x="666750" y="3810000"/>
            <a:ext cx="7048500" cy="1257300"/>
          </a:xfrm>
          <a:prstGeom prst="roundRect">
            <a:avLst>
              <a:gd name="adj" fmla="val 10606"/>
            </a:avLst>
          </a:prstGeom>
          <a:solidFill>
            <a:srgbClr val="1F1E1B"/>
          </a:solidFill>
          <a:ln/>
        </p:spPr>
        <p:txBody>
          <a:bodyPr/>
          <a:p/>
        </p:txBody>
      </p:sp>
      <p:sp>
        <p:nvSpPr>
          <p:cNvPr id="302" name=""/>
          <p:cNvSpPr/>
          <p:nvPr/>
        </p:nvSpPr>
        <p:spPr>
          <a:xfrm rot="0" flipH="0" flipV="0">
            <a:off x="895350" y="4276725"/>
            <a:ext cx="1933575" cy="600075"/>
          </a:xfrm>
          <a:prstGeom prst="roundRect">
            <a:avLst>
              <a:gd name="adj" fmla="val 15873"/>
            </a:avLst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1666875" y="44100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F1E1B"/>
                </a:solidFill>
                <a:latin typeface="微软雅黑"/>
                <a:ea typeface="微软雅黑"/>
              </a:rPr>
              <a:t>nginx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562100" y="4600575"/>
            <a:ext cx="600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入口</a:t>
            </a:r>
            <a:r>
              <a:rPr lang="en-US" sz="900">
                <a:solidFill>
                  <a:srgbClr val="A9A294"/>
                </a:solidFill>
                <a:latin typeface="微软雅黑"/>
                <a:ea typeface="微软雅黑"/>
              </a:rPr>
              <a:t> :8010</a:t>
            </a:r>
            <a:endParaRPr/>
          </a:p>
        </p:txBody>
      </p:sp>
      <p:pic>
        <p:nvPicPr>
          <p:cNvPr id="3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943225" y="4495800"/>
            <a:ext cx="171450" cy="171450"/>
          </a:xfrm>
          <a:prstGeom prst="rect">
            <a:avLst/>
          </a:prstGeom>
          <a:ln/>
        </p:spPr>
      </p:pic>
      <p:sp>
        <p:nvSpPr>
          <p:cNvPr id="306" name=""/>
          <p:cNvSpPr/>
          <p:nvPr/>
        </p:nvSpPr>
        <p:spPr>
          <a:xfrm rot="0" flipH="0" flipV="0">
            <a:off x="3228975" y="4276725"/>
            <a:ext cx="1924050" cy="600075"/>
          </a:xfrm>
          <a:prstGeom prst="roundRect">
            <a:avLst>
              <a:gd name="adj" fmla="val 15873"/>
            </a:avLst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3914775" y="4410075"/>
            <a:ext cx="552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F1E1B"/>
                </a:solidFill>
                <a:latin typeface="微软雅黑"/>
                <a:ea typeface="微软雅黑"/>
              </a:rPr>
              <a:t>PHP 8.2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3924300" y="4600575"/>
            <a:ext cx="542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9A294"/>
                </a:solidFill>
                <a:latin typeface="微软雅黑"/>
                <a:ea typeface="微软雅黑"/>
              </a:rPr>
              <a:t>ThinkPHP</a:t>
            </a:r>
            <a:endParaRPr/>
          </a:p>
        </p:txBody>
      </p:sp>
      <p:pic>
        <p:nvPicPr>
          <p:cNvPr id="3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267325" y="4495800"/>
            <a:ext cx="171450" cy="171450"/>
          </a:xfrm>
          <a:prstGeom prst="rect">
            <a:avLst/>
          </a:prstGeom>
          <a:ln/>
        </p:spPr>
      </p:pic>
      <p:sp>
        <p:nvSpPr>
          <p:cNvPr id="310" name=""/>
          <p:cNvSpPr/>
          <p:nvPr/>
        </p:nvSpPr>
        <p:spPr>
          <a:xfrm rot="0" flipH="0" flipV="0">
            <a:off x="5553075" y="4276725"/>
            <a:ext cx="1933575" cy="600075"/>
          </a:xfrm>
          <a:prstGeom prst="roundRect">
            <a:avLst>
              <a:gd name="adj" fmla="val 15873"/>
            </a:avLst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219825" y="4410075"/>
            <a:ext cx="60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F1E1B"/>
                </a:solidFill>
                <a:latin typeface="微软雅黑"/>
                <a:ea typeface="微软雅黑"/>
              </a:rPr>
              <a:t>MariaDB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296025" y="46005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数据存储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8096250" y="1724025"/>
            <a:ext cx="3429000" cy="942975"/>
          </a:xfrm>
          <a:prstGeom prst="roundRect">
            <a:avLst>
              <a:gd name="adj" fmla="val 12121"/>
            </a:avLst>
          </a:prstGeom>
          <a:solidFill>
            <a:srgbClr val="D97757">
              <a:alpha val="8000"/>
            </a:srgbClr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8324850" y="1895475"/>
            <a:ext cx="63817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D97757"/>
                </a:solidFill>
                <a:latin typeface="华文中宋"/>
                <a:ea typeface="华文中宋"/>
              </a:rPr>
              <a:t>62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9096375" y="1895475"/>
            <a:ext cx="10668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名员工在线使用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8096250" y="2857500"/>
            <a:ext cx="3429000" cy="942975"/>
          </a:xfrm>
          <a:prstGeom prst="roundRect">
            <a:avLst>
              <a:gd name="adj" fmla="val 12121"/>
            </a:avLst>
          </a:prstGeom>
          <a:solidFill>
            <a:srgbClr val="D97757">
              <a:alpha val="8000"/>
            </a:srgbClr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324850" y="3028950"/>
            <a:ext cx="63817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D97757"/>
                </a:solidFill>
                <a:latin typeface="华文中宋"/>
                <a:ea typeface="华文中宋"/>
              </a:rPr>
              <a:t>19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9096375" y="3028950"/>
            <a:ext cx="7620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类审批流程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8096250" y="3990975"/>
            <a:ext cx="3429000" cy="942975"/>
          </a:xfrm>
          <a:prstGeom prst="roundRect">
            <a:avLst>
              <a:gd name="adj" fmla="val 12121"/>
            </a:avLst>
          </a:prstGeom>
          <a:solidFill>
            <a:srgbClr val="D97757">
              <a:alpha val="8000"/>
            </a:srgbClr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8324850" y="4162425"/>
            <a:ext cx="63817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D97757"/>
                </a:solidFill>
                <a:latin typeface="华文中宋"/>
                <a:ea typeface="华文中宋"/>
              </a:rPr>
              <a:t>30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9096375" y="4162425"/>
            <a:ext cx="9144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张在途审批单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8096250" y="5162550"/>
            <a:ext cx="342900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开源勾股</a:t>
            </a:r>
            <a:r>
              <a:rPr lang="en-US" sz="112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深度定制</a:t>
            </a:r>
            <a:r>
              <a:rPr lang="en-US" sz="1125">
                <a:solidFill>
                  <a:srgbClr val="A9A294"/>
                </a:solidFill>
                <a:latin typeface="微软雅黑"/>
                <a:ea typeface="微软雅黑"/>
              </a:rPr>
              <a:t> · Docker </a:t>
            </a: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一键部署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不神秘、不高级，但够用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06 / 16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895350" y="4000500"/>
            <a:ext cx="659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AF9F5">
                    <a:alpha val="60000"/>
                  </a:srgbClr>
                </a:solidFill>
                <a:latin typeface="微软雅黑"/>
                <a:ea typeface="微软雅黑"/>
              </a:rPr>
              <a:t>Docker Compose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26" name="" descr="&lt;Slide notes={`AI 不长眼睛，它读不懂漂亮的审批页面。原系统 50 多个接口是给网页前端用的，靠浏览器 cookie 登录，AI 去调会全被拦。它需要的是：一个网址、一份 JSON 数据、一张通行证。所以我们没有改造老代码，而是加了一层薄薄的 AI 专用接口。这里强调一下：只加不改，是接老系统最安全的姿势——原有业务零风险，新接口独立演进。这层接口 7 个端点，一天开发完，全部实测通过。`}&gt;&#10;  &lt;Slide style={{ background: '#FAF9F5', padding: '20px 70px', width: 1280, height: 720 }}&gt;&#10;    &lt;Box style={{ height: 100, justifyContent: 'center' }}&gt;&#10;      &lt;Text style={{ fontFamily: '华文中宋', fontSize: 34, fontWeight: 'bold', color: '#1F1E1B' }}&gt;关键问题：AI 怎么「进门」？&lt;/Text&gt;&#10;    &lt;/Box&gt;&#10;    &lt;Box style={{ flexDirection: 'row', height: 480, gap: 28 }}&gt;&#10;      &lt;Box style={{ flex: 3, flexDirection: 'column', padding: '28px 30px', background: '#1F1E1B', borderRadius: 16, justifyContent: 'center', gap: 18 }}&gt;&#10;        &lt;Box style={{ flexDirection: 'row', alignItems: 'center', gap: 12 }}&gt;&#10;          &lt;FAIcon name=&quot;check-circle&quot; style={{ fill: '#D97757', width: 30, height: 30 }} /&gt;&#10;          &lt;Text style={{ fontFamily: '微软雅黑', fontSize: 22, fontWeight: 'bold', color: '#FAF9F5' }}&gt;给 AI 用的（我们新建的）&lt;/Text&gt;&#10;        &lt;/Box&gt;&#10;        &lt;Box style={{ flexDirection: 'column', gap: 14, marginTop: 6 }}&gt;&#10;          &lt;Text style={{ fontFamily: '微软雅黑', fontSize: 17, color: '#FAF9F5', opacity: 0.9 }}&gt;&lt;span style={{ color: '#D97757', fontWeight: 'bold' }}&gt;接口 + JSON&lt;/span&gt;——一个网址，一份机器可读的数据&lt;/Text&gt;&#10;          &lt;Text style={{ fontFamily: '微软雅黑', fontSize: 17, color: '#FAF9F5', opacity: 0.9 }}&gt;&lt;span style={{ color: '#D97757', fontWeight: 'bold' }}&gt;JWT Token&lt;/span&gt;——通行证制，1 小时有效，无状态验证&lt;/Text&gt;&#10;          &lt;Text style={{ fontFamily: '微软雅黑', fontSize: 17, color: '#FAF9F5', opacity: 0.9 }}&gt;&lt;span style={{ color: '#D97757', fontWeight: 'bold' }}&gt;统一返回格式&lt;/span&gt;——code / msg / data，AI 解析零成本&lt;/Text&gt;&#10;        &lt;/Box&gt;&#10;        &lt;Box style={{ flexDirection: 'row', alignItems: 'center', gap: 14, marginTop: 14, padding: '14px 20px', background: 'rgba(217,119,87,0.15)', borderRadius: 10 }}&gt;&#10;          &lt;Text style={{ fontFamily: '华文中宋', fontSize: 26, fontWeight: 'bold', color: '#D97757' }}&gt;7 个接口 · 1 天开发 · 全部实测通过&lt;/Text&gt;&#10;        &lt;/Box&gt;&#10;      &lt;/Box&gt;&#10;      &lt;Box style={{ flex: 2, flexDirection: 'column', padding: '28px 30px', background: 'rgba(31,30,27,0.04)', borderRadius: 16, justifyContent: 'center', gap: 18 }}&gt;&#10;        &lt;Box style={{ flexDirection: 'row', alignItems: 'center', gap: 12 }}&gt;&#10;          &lt;FAIcon name=&quot;times-circle&quot; style={{ fill: '#A9A294', width: 30, height: 30 }} /&gt;&#10;          &lt;Text style={{ fontFamily: '微软雅黑', fontSize: 22, fontWeight: 'bold', color: '#1F1E1B' }}&gt;给人用的（网页）&lt;/Text&gt;&#10;        &lt;/Box&gt;&#10;        &lt;Box style={{ flexDirection: 'column', gap: 14, marginTop: 6 }}&gt;&#10;          &lt;Text style={{ fontFamily: '微软雅黑', fontSize: 17, color: '#A9A294', lineHeight: 1.5 }}&gt;HTML 界面 + 按钮，漂亮但 AI 读不懂&lt;/Text&gt;&#10;          &lt;Text style={{ fontFamily: '微软雅黑', fontSize: 17, color: '#A9A294', lineHeight: 1.5 }}&gt;浏览器 Session 登录，依赖 cookie&lt;/Text&gt;&#10;          &lt;Text style={{ fontFamily: '微软雅黑', fontSize: 17, color: '#A9A294', lineHeight: 1.5 }}&gt;50+ 个老接口，全走会话状态&lt;/Text&gt;&#10;        &lt;/Box&gt;&#10;      &lt;/Box&gt;&#10;    &lt;/Box&gt;&#10;    &lt;Box style={{ height: 60, justifyContent: 'center' }}&gt;&#10;      &lt;Text style={{ fontFamily: '华文中宋', fontSize: 20, fontWeight: 'bold', color: '#1F1E1B', textAlign: 'center' }}&gt;结论：&lt;span style={{ color: '#D97757' }}&gt;只加不改&lt;/span&gt;——新建一层 AI 专用接口，老代码一行没动&lt;/Text&gt;&#10;    &lt;/Box&gt;&#10;    &lt;Box style={{ height: 40, flexDirection: 'row', justifyContent: 'space-between', alignItems: 'center' }}&gt;&#10;      &lt;Text style={{ fontFamily: '微软雅黑', fontSize: 13, color: '#A9A294' }}&gt;当 OA 遇上 AI 数字员工 · 内部教学&lt;/Text&gt;&#10;      &lt;Text style={{ fontFamily: '微软雅黑', fontSize: 13, color: '#A9A294' }}&gt;07 / 16&lt;/Text&gt;&#10;    &lt;/Box&gt;&#10;  &lt;/Slide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关键问题：</a:t>
            </a:r>
            <a:r>
              <a:rPr lang="en-US" sz="2550" b="1">
                <a:solidFill>
                  <a:srgbClr val="1F1E1B"/>
                </a:solidFill>
                <a:latin typeface="华文中宋"/>
                <a:ea typeface="华文中宋"/>
              </a:rPr>
              <a:t>AI </a:t>
            </a: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怎么「进门」？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666750" y="1143000"/>
            <a:ext cx="6353175" cy="4572000"/>
          </a:xfrm>
          <a:prstGeom prst="roundRect">
            <a:avLst>
              <a:gd name="adj" fmla="val 3333"/>
            </a:avLst>
          </a:prstGeom>
          <a:solidFill>
            <a:srgbClr val="1F1E1B"/>
          </a:solidFill>
          <a:ln/>
        </p:spPr>
        <p:txBody>
          <a:bodyPr/>
          <a:p/>
        </p:txBody>
      </p:sp>
      <p:pic>
        <p:nvPicPr>
          <p:cNvPr id="3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52500" y="2305050"/>
            <a:ext cx="285750" cy="285750"/>
          </a:xfrm>
          <a:prstGeom prst="rect">
            <a:avLst/>
          </a:prstGeom>
          <a:ln/>
        </p:spPr>
      </p:pic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352550" y="2324100"/>
            <a:ext cx="2438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AF9F5"/>
                </a:solidFill>
                <a:latin typeface="微软雅黑"/>
                <a:ea typeface="微软雅黑"/>
              </a:rPr>
              <a:t>给</a:t>
            </a:r>
            <a:r>
              <a:rPr lang="en-US" sz="1650" b="1">
                <a:solidFill>
                  <a:srgbClr val="FAF9F5"/>
                </a:solidFill>
                <a:latin typeface="微软雅黑"/>
                <a:ea typeface="微软雅黑"/>
              </a:rPr>
              <a:t> AI </a:t>
            </a:r>
            <a:r>
              <a:rPr lang="zh-CN" sz="1650" b="1">
                <a:solidFill>
                  <a:srgbClr val="FAF9F5"/>
                </a:solidFill>
                <a:latin typeface="微软雅黑"/>
                <a:ea typeface="微软雅黑"/>
              </a:rPr>
              <a:t>用的（我们新建的）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952500" y="3990975"/>
            <a:ext cx="5781675" cy="571500"/>
          </a:xfrm>
          <a:prstGeom prst="roundRect">
            <a:avLst>
              <a:gd name="adj" fmla="val 16667"/>
            </a:avLst>
          </a:prstGeom>
          <a:solidFill>
            <a:srgbClr val="D97757">
              <a:alpha val="15000"/>
            </a:srgbClr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1143000" y="4124325"/>
            <a:ext cx="3924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D97757"/>
                </a:solidFill>
                <a:latin typeface="华文中宋"/>
                <a:ea typeface="华文中宋"/>
              </a:rPr>
              <a:t>7 </a:t>
            </a:r>
            <a:r>
              <a:rPr lang="zh-CN" sz="1950" b="1">
                <a:solidFill>
                  <a:srgbClr val="D97757"/>
                </a:solidFill>
                <a:latin typeface="华文中宋"/>
                <a:ea typeface="华文中宋"/>
              </a:rPr>
              <a:t>个接口</a:t>
            </a:r>
            <a:r>
              <a:rPr lang="en-US" sz="1950" b="1">
                <a:solidFill>
                  <a:srgbClr val="D97757"/>
                </a:solidFill>
                <a:latin typeface="华文中宋"/>
                <a:ea typeface="华文中宋"/>
              </a:rPr>
              <a:t> · 1 </a:t>
            </a:r>
            <a:r>
              <a:rPr lang="zh-CN" sz="1950" b="1">
                <a:solidFill>
                  <a:srgbClr val="D97757"/>
                </a:solidFill>
                <a:latin typeface="华文中宋"/>
                <a:ea typeface="华文中宋"/>
              </a:rPr>
              <a:t>天开发</a:t>
            </a:r>
            <a:r>
              <a:rPr lang="en-US" sz="1950" b="1">
                <a:solidFill>
                  <a:srgbClr val="D97757"/>
                </a:solidFill>
                <a:latin typeface="华文中宋"/>
                <a:ea typeface="华文中宋"/>
              </a:rPr>
              <a:t> · </a:t>
            </a:r>
            <a:r>
              <a:rPr lang="zh-CN" sz="1950" b="1">
                <a:solidFill>
                  <a:srgbClr val="D97757"/>
                </a:solidFill>
                <a:latin typeface="华文中宋"/>
                <a:ea typeface="华文中宋"/>
              </a:rPr>
              <a:t>全部实测通过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7286625" y="1143000"/>
            <a:ext cx="4238625" cy="4572000"/>
          </a:xfrm>
          <a:prstGeom prst="roundRect">
            <a:avLst>
              <a:gd name="adj" fmla="val 3596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pic>
        <p:nvPicPr>
          <p:cNvPr id="3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572375" y="2600325"/>
            <a:ext cx="285750" cy="285750"/>
          </a:xfrm>
          <a:prstGeom prst="rect">
            <a:avLst/>
          </a:prstGeom>
          <a:ln/>
        </p:spPr>
      </p:pic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7972425" y="2619375"/>
            <a:ext cx="1676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1E1B"/>
                </a:solidFill>
                <a:latin typeface="微软雅黑"/>
                <a:ea typeface="微软雅黑"/>
              </a:rPr>
              <a:t>给人用的（网页）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7572375" y="3114675"/>
            <a:ext cx="36671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A9A294"/>
                </a:solidFill>
                <a:latin typeface="微软雅黑"/>
                <a:ea typeface="微软雅黑"/>
              </a:rPr>
              <a:t>HTML </a:t>
            </a:r>
            <a:r>
              <a:rPr lang="zh-CN" sz="1275">
                <a:solidFill>
                  <a:srgbClr val="A9A294"/>
                </a:solidFill>
                <a:latin typeface="微软雅黑"/>
                <a:ea typeface="微软雅黑"/>
              </a:rPr>
              <a:t>界面</a:t>
            </a:r>
            <a:r>
              <a:rPr lang="en-US" sz="1275">
                <a:solidFill>
                  <a:srgbClr val="A9A294"/>
                </a:solidFill>
                <a:latin typeface="微软雅黑"/>
                <a:ea typeface="微软雅黑"/>
              </a:rPr>
              <a:t> + </a:t>
            </a:r>
            <a:r>
              <a:rPr lang="zh-CN" sz="1275">
                <a:solidFill>
                  <a:srgbClr val="A9A294"/>
                </a:solidFill>
                <a:latin typeface="微软雅黑"/>
                <a:ea typeface="微软雅黑"/>
              </a:rPr>
              <a:t>按钮，漂亮但</a:t>
            </a:r>
            <a:r>
              <a:rPr lang="en-US" sz="12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1275">
                <a:solidFill>
                  <a:srgbClr val="A9A294"/>
                </a:solidFill>
                <a:latin typeface="微软雅黑"/>
                <a:ea typeface="微软雅黑"/>
              </a:rPr>
              <a:t>读不懂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7572375" y="3543300"/>
            <a:ext cx="36671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A9A294"/>
                </a:solidFill>
                <a:latin typeface="微软雅黑"/>
                <a:ea typeface="微软雅黑"/>
              </a:rPr>
              <a:t>浏览器</a:t>
            </a:r>
            <a:r>
              <a:rPr lang="en-US" sz="1275">
                <a:solidFill>
                  <a:srgbClr val="A9A294"/>
                </a:solidFill>
                <a:latin typeface="微软雅黑"/>
                <a:ea typeface="微软雅黑"/>
              </a:rPr>
              <a:t> Session </a:t>
            </a:r>
            <a:r>
              <a:rPr lang="zh-CN" sz="1275">
                <a:solidFill>
                  <a:srgbClr val="A9A294"/>
                </a:solidFill>
                <a:latin typeface="微软雅黑"/>
                <a:ea typeface="微软雅黑"/>
              </a:rPr>
              <a:t>登录，依赖</a:t>
            </a:r>
            <a:r>
              <a:rPr lang="en-US" sz="1275">
                <a:solidFill>
                  <a:srgbClr val="A9A294"/>
                </a:solidFill>
                <a:latin typeface="微软雅黑"/>
                <a:ea typeface="微软雅黑"/>
              </a:rPr>
              <a:t> cookie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7572375" y="3971925"/>
            <a:ext cx="36671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A9A294"/>
                </a:solidFill>
                <a:latin typeface="微软雅黑"/>
                <a:ea typeface="微软雅黑"/>
              </a:rPr>
              <a:t>50+ </a:t>
            </a:r>
            <a:r>
              <a:rPr lang="zh-CN" sz="1275">
                <a:solidFill>
                  <a:srgbClr val="A9A294"/>
                </a:solidFill>
                <a:latin typeface="微软雅黑"/>
                <a:ea typeface="微软雅黑"/>
              </a:rPr>
              <a:t>个老接口，全走会话状态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666750" y="5886450"/>
            <a:ext cx="108585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1F1E1B"/>
                </a:solidFill>
                <a:latin typeface="华文中宋"/>
                <a:ea typeface="华文中宋"/>
              </a:rPr>
              <a:t>结论：</a:t>
            </a:r>
            <a:r>
              <a:rPr lang="zh-CN" sz="1500" b="1">
                <a:solidFill>
                  <a:srgbClr val="D97757"/>
                </a:solidFill>
                <a:latin typeface="华文中宋"/>
                <a:ea typeface="华文中宋"/>
              </a:rPr>
              <a:t>只加不改</a:t>
            </a:r>
            <a:r>
              <a:rPr lang="zh-CN" sz="1500" b="1">
                <a:solidFill>
                  <a:srgbClr val="1F1E1B"/>
                </a:solidFill>
                <a:latin typeface="华文中宋"/>
                <a:ea typeface="华文中宋"/>
              </a:rPr>
              <a:t>——新建一层</a:t>
            </a:r>
            <a:r>
              <a:rPr lang="en-US" sz="1500" b="1">
                <a:solidFill>
                  <a:srgbClr val="1F1E1B"/>
                </a:solidFill>
                <a:latin typeface="华文中宋"/>
                <a:ea typeface="华文中宋"/>
              </a:rPr>
              <a:t> AI </a:t>
            </a:r>
            <a:r>
              <a:rPr lang="zh-CN" sz="1500" b="1">
                <a:solidFill>
                  <a:srgbClr val="1F1E1B"/>
                </a:solidFill>
                <a:latin typeface="华文中宋"/>
                <a:ea typeface="华文中宋"/>
              </a:rPr>
              <a:t>专用接口，老代码一行没动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07 / 16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952500" y="2819400"/>
            <a:ext cx="5781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D97757">
                    <a:alpha val="90000"/>
                  </a:srgbClr>
                </a:solidFill>
                <a:latin typeface="微软雅黑"/>
                <a:ea typeface="微软雅黑"/>
              </a:rPr>
              <a:t>接口</a:t>
            </a:r>
            <a:r>
              <a:rPr lang="en-US" sz="1275" b="1">
                <a:solidFill>
                  <a:srgbClr val="D97757">
                    <a:alpha val="90000"/>
                  </a:srgbClr>
                </a:solidFill>
                <a:latin typeface="微软雅黑"/>
                <a:ea typeface="微软雅黑"/>
              </a:rPr>
              <a:t> + JSON</a:t>
            </a:r>
            <a:r>
              <a:rPr lang="zh-CN" sz="1275">
                <a:solidFill>
                  <a:srgbClr val="FAF9F5">
                    <a:alpha val="90000"/>
                  </a:srgbClr>
                </a:solidFill>
                <a:latin typeface="微软雅黑"/>
                <a:ea typeface="微软雅黑"/>
              </a:rPr>
              <a:t>——一个网址，一份机器可读的数据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952500" y="3152775"/>
            <a:ext cx="5781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D97757">
                    <a:alpha val="90000"/>
                  </a:srgbClr>
                </a:solidFill>
                <a:latin typeface="微软雅黑"/>
                <a:ea typeface="微软雅黑"/>
              </a:rPr>
              <a:t>JWT Token</a:t>
            </a:r>
            <a:r>
              <a:rPr lang="zh-CN" sz="1275">
                <a:solidFill>
                  <a:srgbClr val="FAF9F5">
                    <a:alpha val="90000"/>
                  </a:srgbClr>
                </a:solidFill>
                <a:latin typeface="微软雅黑"/>
                <a:ea typeface="微软雅黑"/>
              </a:rPr>
              <a:t>——通行证制，</a:t>
            </a:r>
            <a:r>
              <a:rPr lang="en-US" sz="1275">
                <a:solidFill>
                  <a:srgbClr val="FAF9F5">
                    <a:alpha val="90000"/>
                  </a:srgbClr>
                </a:solidFill>
                <a:latin typeface="微软雅黑"/>
                <a:ea typeface="微软雅黑"/>
              </a:rPr>
              <a:t>1 </a:t>
            </a:r>
            <a:r>
              <a:rPr lang="zh-CN" sz="1275">
                <a:solidFill>
                  <a:srgbClr val="FAF9F5">
                    <a:alpha val="90000"/>
                  </a:srgbClr>
                </a:solidFill>
                <a:latin typeface="微软雅黑"/>
                <a:ea typeface="微软雅黑"/>
              </a:rPr>
              <a:t>小时有效，无状态验证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952500" y="3486150"/>
            <a:ext cx="5781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D97757">
                    <a:alpha val="90000"/>
                  </a:srgbClr>
                </a:solidFill>
                <a:latin typeface="微软雅黑"/>
                <a:ea typeface="微软雅黑"/>
              </a:rPr>
              <a:t>统一返回格式</a:t>
            </a:r>
            <a:r>
              <a:rPr lang="en-US" sz="1275">
                <a:solidFill>
                  <a:srgbClr val="FAF9F5">
                    <a:alpha val="90000"/>
                  </a:srgbClr>
                </a:solidFill>
                <a:latin typeface="微软雅黑"/>
                <a:ea typeface="微软雅黑"/>
              </a:rPr>
              <a:t>——code / msg / data</a:t>
            </a:r>
            <a:r>
              <a:rPr lang="zh-CN" sz="1275">
                <a:solidFill>
                  <a:srgbClr val="FAF9F5">
                    <a:alpha val="90000"/>
                  </a:srgbClr>
                </a:solidFill>
                <a:latin typeface="微软雅黑"/>
                <a:ea typeface="微软雅黑"/>
              </a:rPr>
              <a:t>，</a:t>
            </a:r>
            <a:r>
              <a:rPr lang="en-US" sz="1275">
                <a:solidFill>
                  <a:srgbClr val="FAF9F5">
                    <a:alpha val="90000"/>
                  </a:srgbClr>
                </a:solidFill>
                <a:latin typeface="微软雅黑"/>
                <a:ea typeface="微软雅黑"/>
              </a:rPr>
              <a:t>AI </a:t>
            </a:r>
            <a:r>
              <a:rPr lang="zh-CN" sz="1275">
                <a:solidFill>
                  <a:srgbClr val="FAF9F5">
                    <a:alpha val="90000"/>
                  </a:srgbClr>
                </a:solidFill>
                <a:latin typeface="微软雅黑"/>
                <a:ea typeface="微软雅黑"/>
              </a:rPr>
              <a:t>解析零成本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46" name="" descr="&lt;Slide notes={`七个接口不多，但设计有讲究：读的多、写的少。五个只读查询——心跳、巡检、统计、待办，AI 随便调都不会出事；两个写操作——发站内信、发公告，也都是催一催、喊一喊级别的安全动作。核心是中间那行高亮的 approve_pending：拉出所有在途单，每张单带停留时长、当前审批人、风险分级，巡检全靠它。自动砍单那种接口我们压根没做——工具箱里不放进危险的刀，这是设计原则。`}&gt;&#10;  &lt;Slide style={{ background: '#FAF9F5', padding: '20px 70px', width: 1280, height: 720 }}&gt;&#10;    &lt;Box style={{ height: 100, justifyContent: 'center' }}&gt;&#10;      &lt;Text style={{ fontFamily: '华文中宋', fontSize: 34, fontWeight: 'bold', color: '#1F1E1B' }}&gt;7 个接口 = AI 的全部工具箱&lt;/Text&gt;&#10;    &lt;/Box&gt;&#10;    &lt;Box style={{ flexDirection: 'row', height: 540, gap: 40 }}&gt;&#10;      &lt;Box style={{ width: 280, justifyContent: 'center' }}&gt;&#10;        &lt;Text style={{ fontFamily: '华文中宋', fontSize: 140, fontWeight: 'bold', color: '#D97757', lineHeight: 1 }}&gt;7&lt;/Text&gt;&#10;        &lt;Text style={{ fontFamily: '微软雅黑', fontSize: 20, fontWeight: 'bold', color: '#1F1E1B', marginTop: 14 }}&gt;5 个只读 · 2 个写&lt;/Text&gt;&#10;        &lt;Text style={{ fontFamily: '微软雅黑', fontSize: 15, color: '#A9A294', marginTop: 12, lineHeight: 1.6 }}&gt;自动砍单那种危险接口，&lt;br /&gt;压根没做——&lt;br /&gt;工具箱里不放危险的刀&lt;/Text&gt;&#10;      &lt;/Box&gt;&#10;      &lt;Box style={{ flex: 1, flexDirection: 'column', justifyContent: 'center', gap: 8 }}&gt;&#10;        &lt;Box style={{ flexDirection: 'row', padding: '10px 18px', gap: 16 }}&gt;&#10;          &lt;Text style={{ fontFamily: '微软雅黑', fontSize: 14, color: '#A9A294', width: 210 }}&gt;接口&lt;/Text&gt;&#10;          &lt;Text style={{ fontFamily: '微软雅黑', fontSize: 14, color: '#A9A294', flex: 1 }}&gt;干什么&lt;/Text&gt;&#10;          &lt;Text style={{ fontFamily: '微软雅黑', fontSize: 14, color: '#A9A294', width: 90 }}&gt;比喻&lt;/Text&gt;&#10;        &lt;/Box&gt;&#10;        &lt;Box style={{ flexDirection: 'row', padding: '11px 18px', gap: 16, background: 'rgba(31,30,27,0.04)', borderRadius: 8, alignItems: 'center' }}&gt;&#10;          &lt;Text style={{ fontFamily: '微软雅黑', fontSize: 16, fontWeight: 'bold', color: '#1F1E1B', width: 210 }}&gt;GET /api/ai/ping&lt;/Text&gt;&#10;          &lt;Text style={{ fontFamily: '微软雅黑', fontSize: 16, color: '#1F1E1B', flex: 1 }}&gt;心跳 + 在途审批总览&lt;/Text&gt;&#10;          &lt;Text style={{ fontFamily: '微软雅黑', fontSize: 15, color: '#A9A294', width: 90 }}&gt;探个头&lt;/Text&gt;&#10;        &lt;/Box&gt;&#10;        &lt;Box style={{ flexDirection: 'row', padding: '11px 18px', gap: 16, background: 'rgba(217,119,87,0.1)', borderLeft: '3px solid #D97757', borderRadius: 8, alignItems: 'center' }}&gt;&#10;          &lt;Text style={{ fontFamily: '微软雅黑', fontSize: 16, fontWeight: 'bold', color: '#D97757', width: 210 }}&gt;GET …/approve_pending&lt;/Text&gt;&#10;          &lt;Text style={{ fontFamily: '微软雅黑', fontSize: 16, color: '#1F1E1B', flex: 1 }}&gt;&lt;span style={{ fontWeight: 'bold' }}&gt;在途单+停留时长+审批人+风险分级&lt;/span&gt;&lt;/Text&gt;&#10;          &lt;Text style={{ fontFamily: '微软雅黑', fontSize: 15, fontWeight: 'bold', color: '#D97757', width: 90 }}&gt;巡检主力&lt;/Text&gt;&#10;        &lt;/Box&gt;&#10;        &lt;Box style={{ flexDirection: 'row', padding: '11px 18px', gap: 16, background: 'rgba(31,30,27,0.04)', borderRadius: 8, alignItems: 'center' }}&gt;&#10;          &lt;Text style={{ fontFamily: '微软雅黑', fontSize: 16, fontWeight: 'bold', color: '#1F1E1B', width: 210 }}&gt;GET /api/ai/approve_stats&lt;/Text&gt;&#10;          &lt;Text style={{ fontFamily: '微软雅黑', fontSize: 16, color: '#1F1E1B', flex: 1 }}&gt;按类型 / 按审批人统计健康度&lt;/Text&gt;&#10;          &lt;Text style={{ fontFamily: '微软雅黑', fontSize: 15, color: '#A9A294', width: 90 }}&gt;体检报告&lt;/Text&gt;&#10;        &lt;/Box&gt;&#10;        &lt;Box style={{ flexDirection: 'row', padding: '11px 18px', gap: 16, background: 'rgba(31,30,27,0.04)', borderRadius: 8, alignItems: 'center' }}&gt;&#10;          &lt;Text style={{ fontFamily: '微软雅黑', fontSize: 16, fontWeight: 'bold', color: '#1F1E1B', width: 210 }}&gt;GET /api/ai/todo_list&lt;/Text&gt;&#10;          &lt;Text style={{ fontFamily: '微软雅黑', fontSize: 16, color: '#1F1E1B', flex: 1 }}&gt;指定员工的待办清单&lt;/Text&gt;&#10;          &lt;Text style={{ fontFamily: '微软雅黑', fontSize: 15, color: '#A9A294', width: 90 }}&gt;点名&lt;/Text&gt;&#10;        &lt;/Box&gt;&#10;        &lt;Box style={{ flexDirection: 'row', padding: '11px 18px', gap: 16, background: 'rgba(31,30,27,0.04)', borderRadius: 8, alignItems: 'center' }}&gt;&#10;          &lt;Text style={{ fontFamily: '微软雅黑', fontSize: 16, fontWeight: 'bold', color: '#1F1E1B', width: 210 }}&gt;GET /api/ai/token&lt;/Text&gt;&#10;          &lt;Text style={{ fontFamily: '微软雅黑', fontSize: 16, color: '#1F1E1B', flex: 1 }}&gt;账号密码换通行证（1 小时有效）&lt;/Text&gt;&#10;          &lt;Text style={{ fontFamily: '微软雅黑', fontSize: 15, color: '#A9A294', width: 90 }}&gt;刷工卡&lt;/Text&gt;&#10;        &lt;/Box&gt;&#10;        &lt;Box style={{ flexDirection: 'row', padding: '11px 18px', gap: 16, background: 'rgba(31,30,27,0.04)', borderRadius: 8, alignItems: 'center' }}&gt;&#10;          &lt;Text style={{ fontFamily: '微软雅黑', fontSize: 16, fontWeight: 'bold', color: '#1F1E1B', width: 210 }}&gt;POST /api/ai/message_send&lt;/Text&gt;&#10;          &lt;Text style={{ fontFamily: '微软雅黑', fontSize: 16, color: '#1F1E1B', flex: 1 }}&gt;发催办站内信（可多人）&lt;/Text&gt;&#10;          &lt;Text style={{ fontFamily: '微软雅黑', fontSize: 15, color: '#A9A294', width: 90 }}&gt;喇叭&lt;/Text&gt;&#10;        &lt;/Box&gt;&#10;        &lt;Box style={{ flexDirection: 'row', padding: '11px 18px', gap: 16, background: 'rgba(31,30,27,0.04)', borderRadius: 8, alignItems: 'center' }}&gt;&#10;          &lt;Text style={{ fontFamily: '微软雅黑', fontSize: 16, fontWeight: 'bold', color: '#1F1E1B', width: 210 }}&gt;POST /api/ai/note_publish&lt;/Text&gt;&#10;          &lt;Text style={{ fontFamily: '微软雅黑', fontSize: 16, color: '#1F1E1B', flex: 1 }}&gt;报告落盘为全员公告&lt;/Text&gt;&#10;          &lt;Text style={{ fontFamily: '微软雅黑', fontSize: 15, color: '#A9A294', width: 90 }}&gt;黑板报&lt;/Text&gt;&#10;        &lt;/Box&gt;&#10;      &lt;/Box&gt;&#10;    &lt;/Box&gt;&#10;    &lt;Box style={{ height: 40, flexDirection: 'row', justifyContent: 'space-between', alignItems: 'center' }}&gt;&#10;      &lt;Text style={{ fontFamily: '微软雅黑', fontSize: 13, color: '#A9A294' }}&gt;当 OA 遇上 AI 数字员工 · 内部教学&lt;/Text&gt;&#10;      &lt;Text style={{ fontFamily: '微软雅黑', fontSize: 13, color: '#A9A294' }}&gt;08 / 16&lt;/Text&gt;&#10;    &lt;/Box&gt;&#10;  &lt;/Slide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F1E1B"/>
                </a:solidFill>
                <a:latin typeface="华文中宋"/>
                <a:ea typeface="华文中宋"/>
              </a:rPr>
              <a:t>7 </a:t>
            </a: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个接口</a:t>
            </a:r>
            <a:r>
              <a:rPr lang="en-US" sz="2550" b="1">
                <a:solidFill>
                  <a:srgbClr val="1F1E1B"/>
                </a:solidFill>
                <a:latin typeface="华文中宋"/>
                <a:ea typeface="华文中宋"/>
              </a:rPr>
              <a:t> = AI </a:t>
            </a: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的全部工具箱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66750" y="2266950"/>
            <a:ext cx="2667000" cy="1600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0" b="1">
                <a:solidFill>
                  <a:srgbClr val="D97757"/>
                </a:solidFill>
                <a:latin typeface="华文中宋"/>
                <a:ea typeface="华文中宋"/>
              </a:rPr>
              <a:t>7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666750" y="4000500"/>
            <a:ext cx="2667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F1E1B"/>
                </a:solidFill>
                <a:latin typeface="微软雅黑"/>
                <a:ea typeface="微软雅黑"/>
              </a:rPr>
              <a:t>5 </a:t>
            </a:r>
            <a:r>
              <a:rPr lang="zh-CN" sz="1500" b="1">
                <a:solidFill>
                  <a:srgbClr val="1F1E1B"/>
                </a:solidFill>
                <a:latin typeface="微软雅黑"/>
                <a:ea typeface="微软雅黑"/>
              </a:rPr>
              <a:t>个只读</a:t>
            </a:r>
            <a:r>
              <a:rPr lang="en-US" sz="1500" b="1">
                <a:solidFill>
                  <a:srgbClr val="1F1E1B"/>
                </a:solidFill>
                <a:latin typeface="微软雅黑"/>
                <a:ea typeface="微软雅黑"/>
              </a:rPr>
              <a:t> · 2 </a:t>
            </a:r>
            <a:r>
              <a:rPr lang="zh-CN" sz="1500" b="1">
                <a:solidFill>
                  <a:srgbClr val="1F1E1B"/>
                </a:solidFill>
                <a:latin typeface="微软雅黑"/>
                <a:ea typeface="微软雅黑"/>
              </a:rPr>
              <a:t>个写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666750" y="4343400"/>
            <a:ext cx="2667000" cy="828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自动砍单那种危险接口，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压根没做——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工具箱里不放危险的刀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3886200" y="187642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接口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038850" y="1876425"/>
            <a:ext cx="430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干什么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0496550" y="1876425"/>
            <a:ext cx="857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比喻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3714750" y="2209800"/>
            <a:ext cx="7810500" cy="400050"/>
          </a:xfrm>
          <a:prstGeom prst="roundRect">
            <a:avLst>
              <a:gd name="adj" fmla="val 19048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3886200" y="231457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GET /api/ai/ping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038850" y="2314575"/>
            <a:ext cx="430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心跳</a:t>
            </a: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 + 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在途审批总览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10496550" y="23241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探个头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3743325" y="2686050"/>
            <a:ext cx="7810500" cy="400050"/>
          </a:xfrm>
          <a:prstGeom prst="roundRect">
            <a:avLst>
              <a:gd name="adj" fmla="val 19048"/>
            </a:avLst>
          </a:prstGeom>
          <a:solidFill>
            <a:srgbClr val="D97757">
              <a:alpha val="10000"/>
            </a:srgbClr>
          </a:solidFill>
          <a:ln/>
        </p:spPr>
        <p:txBody>
          <a:bodyPr/>
          <a:p/>
        </p:txBody>
      </p:sp>
      <p:sp>
        <p:nvSpPr>
          <p:cNvPr id="360" name=""/>
          <p:cNvSpPr/>
          <p:nvPr/>
        </p:nvSpPr>
        <p:spPr>
          <a:xfrm rot="0" flipH="0" flipV="0">
            <a:off x="3743325" y="2686050"/>
            <a:ext cx="7810500" cy="400050"/>
          </a:xfrm>
          <a:custGeom>
            <a:pathLst>
              <a:path w="820" h="4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37"/>
                </a:lnTo>
                <a:cubicBezTo>
                  <a:pt x="3" y="39"/>
                  <a:pt x="5" y="41"/>
                  <a:pt x="7" y="42"/>
                </a:cubicBezTo>
                <a:cubicBezTo>
                  <a:pt x="3" y="41"/>
                  <a:pt x="0" y="38"/>
                  <a:pt x="0" y="3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7757"/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3914775" y="279082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97757"/>
                </a:solidFill>
                <a:latin typeface="微软雅黑"/>
                <a:ea typeface="微软雅黑"/>
              </a:rPr>
              <a:t>GET …/approve_pending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067425" y="2790825"/>
            <a:ext cx="427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在途单</a:t>
            </a: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+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停留时长</a:t>
            </a: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+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审批人</a:t>
            </a: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+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风险分级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10496550" y="28003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7757"/>
                </a:solidFill>
                <a:latin typeface="微软雅黑"/>
                <a:ea typeface="微软雅黑"/>
              </a:rPr>
              <a:t>巡检主力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3714750" y="3162300"/>
            <a:ext cx="7810500" cy="400050"/>
          </a:xfrm>
          <a:prstGeom prst="roundRect">
            <a:avLst>
              <a:gd name="adj" fmla="val 19048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3886200" y="326707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GET /api/ai/approve_stats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6038850" y="3267075"/>
            <a:ext cx="430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按类型</a:t>
            </a: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按审批人统计健康度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10496550" y="32766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体检报告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3714750" y="3638550"/>
            <a:ext cx="7810500" cy="400050"/>
          </a:xfrm>
          <a:prstGeom prst="roundRect">
            <a:avLst>
              <a:gd name="adj" fmla="val 19048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3886200" y="374332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GET /api/ai/todo_list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6038850" y="3743325"/>
            <a:ext cx="430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指定员工的待办清单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10496550" y="37528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点名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3714750" y="4114800"/>
            <a:ext cx="7810500" cy="400050"/>
          </a:xfrm>
          <a:prstGeom prst="roundRect">
            <a:avLst>
              <a:gd name="adj" fmla="val 19048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3886200" y="421957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GET /api/ai/token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6038850" y="4219575"/>
            <a:ext cx="430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账号密码换通行证（</a:t>
            </a: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1 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小时有效）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10496550" y="42291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刷工卡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3714750" y="4591050"/>
            <a:ext cx="7810500" cy="581025"/>
          </a:xfrm>
          <a:prstGeom prst="roundRect">
            <a:avLst>
              <a:gd name="adj" fmla="val 13115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3886200" y="4695825"/>
            <a:ext cx="200025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POST /api/ai/message_send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6038850" y="4791075"/>
            <a:ext cx="430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发催办站内信（可多人）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10496550" y="48006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喇叭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3714750" y="5248275"/>
            <a:ext cx="7810500" cy="400050"/>
          </a:xfrm>
          <a:prstGeom prst="roundRect">
            <a:avLst>
              <a:gd name="adj" fmla="val 19048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3886200" y="5353050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POST /api/ai/note_publish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038850" y="5353050"/>
            <a:ext cx="430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报告落盘为全员公告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10496550" y="536257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黑板报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08 / 16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86" name="" descr="&lt;Slide notes={`给 AI 发的是专用工卡，不是管理员密码。左边是 JWT 的流程：账号密码去 token 接口换一张通行证，有效期一小时，之后每个请求带上这张证就行，过期自动重取。右边是小奥的账号卡：全公司视野，因为巡检需要，但它只能做那 7 件事。三条安全原则请记住：AI 永远用独立账号；Token 一小时过期，泄露影响可控；密码走私密渠道，不进代码不进群。最小权限原则，从第一行代码就开始。`}&gt;&#10;  &lt;Slide style={{ background: '#FAF9F5', padding: '20px 70px', width: 1280, height: 720 }}&gt;&#10;    &lt;Box style={{ height: 100, justifyContent: 'center' }}&gt;&#10;      &lt;Text style={{ fontFamily: '华文中宋', fontSize: 34, fontWeight: 'bold', color: '#1F1E1B' }}&gt;安全设计：一张有边界的工卡&lt;/Text&gt;&#10;    &lt;/Box&gt;&#10;    &lt;Box style={{ flexDirection: 'row', height: 540, gap: 40 }}&gt;&#10;      &lt;Box style={{ flex: 3, flexDirection: 'column', justifyContent: 'center', gap: 14 }}&gt;&#10;        &lt;Text style={{ fontFamily: '微软雅黑', fontSize: 16, color: '#A9A294' }}&gt;JWT 鉴权流程&lt;/Text&gt;&#10;        &lt;Box style={{ flexDirection: 'row', gap: 10, alignItems: 'center' }}&gt;&#10;          &lt;Box style={{ flex: 1, padding: '16px 14px', background: 'rgba(31,30,27,0.04)', borderRadius: 10, alignItems: 'center' }}&gt;&#10;            &lt;Text style={{ fontFamily: '微软雅黑', fontSize: 16, fontWeight: 'bold', color: '#1F1E1B' }}&gt;账号密码&lt;/Text&gt;&#10;            &lt;Text style={{ fontFamily: '微软雅黑', fontSize: 12, color: '#A9A294', marginTop: 4 }}&gt;走私密渠道配置&lt;/Text&gt;&#10;          &lt;/Box&gt;&#10;          &lt;FAIcon name=&quot;arrow-right&quot; style={{ fill: '#D97757', width: 18, height: 18 }} /&gt;&#10;          &lt;Box style={{ flex: 1, padding: '16px 14px', background: 'rgba(31,30,27,0.04)', borderRadius: 10, alignItems: 'center' }}&gt;&#10;            &lt;Text style={{ fontFamily: '微软雅黑', fontSize: 16, fontWeight: 'bold', color: '#1F1E1B' }}&gt;token 接口&lt;/Text&gt;&#10;            &lt;Text style={{ fontFamily: '微软雅黑', fontSize: 12, color: '#A9A294', marginTop: 4 }}&gt;唯一免鉴权入口&lt;/Text&gt;&#10;          &lt;/Box&gt;&#10;          &lt;FAIcon name=&quot;arrow-right&quot; style={{ fill: '#D97757', width: 18, height: 18 }} /&gt;&#10;          &lt;Box style={{ flex: 1, padding: '16px 14px', background: 'rgba(217,119,87,0.12)', borderRadius: 10, alignItems: 'center' }}&gt;&#10;            &lt;Text style={{ fontFamily: '微软雅黑', fontSize: 16, fontWeight: 'bold', color: '#D97757' }}&gt;通行证 Token&lt;/Text&gt;&#10;            &lt;Text style={{ fontFamily: '微软雅黑', fontSize: 12, color: '#1F1E1B', marginTop: 4 }}&gt;1 小时有效&lt;/Text&gt;&#10;          &lt;/Box&gt;&#10;        &lt;/Box&gt;&#10;        &lt;Box style={{ flexDirection: 'row', gap: 10, alignItems: 'center' }}&gt;&#10;          &lt;Box style={{ flex: 1, padding: '16px 14px', background: 'rgba(31,30,27,0.04)', borderRadius: 10, alignItems: 'center' }}&gt;&#10;            &lt;Text style={{ fontFamily: '微软雅黑', fontSize: 16, fontWeight: 'bold', color: '#1F1E1B' }}&gt;带 Token 头调 7 接口&lt;/Text&gt;&#10;            &lt;Text style={{ fontFamily: '微软雅黑', fontSize: 12, color: '#A9A294', marginTop: 4 }}&gt;无状态验证，服务端不存会话&lt;/Text&gt;&#10;          &lt;/Box&gt;&#10;          &lt;FAIcon name=&quot;sync&quot; style={{ fill: '#A9A294', width: 18, height: 18 }} /&gt;&#10;          &lt;Box style={{ flex: 1, padding: '16px 14px', background: 'rgba(31,30,27,0.04)', borderRadius: 10, alignItems: 'center' }}&gt;&#10;            &lt;Text style={{ fontFamily: '微软雅黑', fontSize: 16, fontWeight: 'bold', color: '#1F1E1B' }}&gt;401 过期 → 自动重取&lt;/Text&gt;&#10;            &lt;Text style={{ fontFamily: '微软雅黑', fontSize: 12, color: '#A9A294', marginTop: 4 }}&gt;OpenClaw 侧缓存，无感续期&lt;/Text&gt;&#10;          &lt;/Box&gt;&#10;        &lt;/Box&gt;&#10;        &lt;Box style={{ flexDirection: 'column', gap: 10, marginTop: 14 }}&gt;&#10;          &lt;Box style={{ flexDirection: 'row', gap: 12, alignItems: 'center' }}&gt;&#10;            &lt;Text style={{ fontFamily: '华文中宋', fontSize: 24, fontWeight: 'bold', color: '#D97757', width: 24 }}&gt;1&lt;/Text&gt;&#10;            &lt;Text style={{ fontFamily: '微软雅黑', fontSize: 17, color: '#1F1E1B' }}&gt;AI 用&lt;span style={{ fontWeight: 'bold' }}&gt;独立账号&lt;/span&gt;，不用任何人的账号&lt;/Text&gt;&#10;          &lt;/Box&gt;&#10;          &lt;Box style={{ flexDirection: 'row', gap: 12, alignItems: 'center' }}&gt;&#10;            &lt;Text style={{ fontFamily: '华文中宋', fontSize: 24, fontWeight: 'bold', color: '#D97757', width: 24 }}&gt;2&lt;/Text&gt;&#10;            &lt;Text style={{ fontFamily: '微软雅黑', fontSize: 17, color: '#1F1E1B' }}&gt;Token 一小时过期，&lt;span style={{ fontWeight: 'bold' }}&gt;泄露影响可控&lt;/span&gt;&lt;/Text&gt;&#10;          &lt;/Box&gt;&#10;          &lt;Box style={{ flexDirection: 'row', gap: 12, alignItems: 'center' }}&gt;&#10;            &lt;Text style={{ fontFamily: '华文中宋', fontSize: 24, fontWeight: 'bold', color: '#D97757', width: 24 }}&gt;3&lt;/Text&gt;&#10;            &lt;Text style={{ fontFamily: '微软雅黑', fontSize: 17, color: '#1F1E1B' }}&gt;密码走私密渠道，&lt;span style={{ fontWeight: 'bold' }}&gt;不进代码不进群&lt;/span&gt;&lt;/Text&gt;&#10;          &lt;/Box&gt;&#10;        &lt;/Box&gt;&#10;      &lt;/Box&gt;&#10;      &lt;Box style={{ flex: 2, padding: '30px 30px', background: '#1F1E1B', borderRadius: 16, justifyContent: 'center', gap: 16 }}&gt;&#10;        &lt;Box style={{ flexDirection: 'row', alignItems: 'center', gap: 14 }}&gt;&#10;          &lt;Box style={{ width: 64, height: 64, borderRadius: 32, background: '#D97757', justifyContent: 'center', alignItems: 'center' }}&gt;&#10;            &lt;FAIcon name=&quot;robot&quot; style={{ fill: '#FAF9F5', width: 34, height: 34 }} /&gt;&#10;          &lt;/Box&gt;&#10;          &lt;Box&gt;&#10;            &lt;Text style={{ fontFamily: '微软雅黑', fontSize: 24, fontWeight: 'bold', color: '#FAF9F5' }}&gt;小奥&lt;/Text&gt;&#10;            &lt;Text style={{ fontFamily: '微软雅黑', fontSize: 14, color: '#FAF9F5', opacity: 0.6 }}&gt;aiworker · uid 61&lt;/Text&gt;&#10;          &lt;/Box&gt;&#10;        &lt;/Box&gt;&#10;        &lt;Box style={{ height: 1, background: '#FAF9F5', opacity: 0.15 }} /&gt;&#10;        &lt;Text style={{ fontFamily: '微软雅黑', fontSize: 15, color: '#FAF9F5', opacity: 0.85, lineHeight: 1.7 }}&gt;AI 专属身份，全公司管理视野&lt;br /&gt;只能做那 7 件事&lt;/Text&gt;&#10;        &lt;Text style={{ fontFamily: '华文中宋', fontSize: 18, fontWeight: 'bold', color: '#D97757', lineHeight: 1.5 }}&gt;最小权限原则，&lt;br /&gt;从第一行代码就开始&lt;/Text&gt;&#10;      &lt;/Box&gt;&#10;    &lt;/Box&gt;&#10;    &lt;Box style={{ height: 40, flexDirection: 'row', justifyContent: 'space-between', alignItems: 'center' }}&gt;&#10;      &lt;Text style={{ fontFamily: '微软雅黑', fontSize: 13, color: '#A9A294' }}&gt;当 OA 遇上 AI 数字员工 · 内部教学&lt;/Text&gt;&#10;      &lt;Text style={{ fontFamily: '微软雅黑', fontSize: 13, color: '#A9A294' }}&gt;09 / 16&lt;/Text&gt;&#10;    &lt;/Box&gt;&#10;  &lt;/Slide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安全设计：一张有边界的工卡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666750" y="2171700"/>
            <a:ext cx="628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A9A294"/>
                </a:solidFill>
                <a:latin typeface="微软雅黑"/>
                <a:ea typeface="微软雅黑"/>
              </a:rPr>
              <a:t>JWT </a:t>
            </a:r>
            <a:r>
              <a:rPr lang="zh-CN" sz="1200">
                <a:solidFill>
                  <a:srgbClr val="A9A294"/>
                </a:solidFill>
                <a:latin typeface="微软雅黑"/>
                <a:ea typeface="微软雅黑"/>
              </a:rPr>
              <a:t>鉴权流程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666750" y="2495550"/>
            <a:ext cx="1857375" cy="676275"/>
          </a:xfrm>
          <a:prstGeom prst="roundRect">
            <a:avLst>
              <a:gd name="adj" fmla="val 14085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1295400" y="26479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账号密码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1200150" y="2876550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走私密渠道配置</a:t>
            </a:r>
            <a:endParaRPr/>
          </a:p>
        </p:txBody>
      </p:sp>
      <p:pic>
        <p:nvPicPr>
          <p:cNvPr id="3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619375" y="2752725"/>
            <a:ext cx="171450" cy="171450"/>
          </a:xfrm>
          <a:prstGeom prst="rect">
            <a:avLst/>
          </a:prstGeom>
          <a:ln/>
        </p:spPr>
      </p:pic>
      <p:sp>
        <p:nvSpPr>
          <p:cNvPr id="394" name=""/>
          <p:cNvSpPr/>
          <p:nvPr/>
        </p:nvSpPr>
        <p:spPr>
          <a:xfrm rot="0" flipH="0" flipV="0">
            <a:off x="2886075" y="2495550"/>
            <a:ext cx="1847850" cy="676275"/>
          </a:xfrm>
          <a:prstGeom prst="roundRect">
            <a:avLst>
              <a:gd name="adj" fmla="val 14085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3419475" y="2647950"/>
            <a:ext cx="781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token 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接口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3409950" y="2876550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唯一免鉴权入口</a:t>
            </a:r>
            <a:endParaRPr/>
          </a:p>
        </p:txBody>
      </p:sp>
      <p:pic>
        <p:nvPicPr>
          <p:cNvPr id="3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829175" y="2752725"/>
            <a:ext cx="171450" cy="171450"/>
          </a:xfrm>
          <a:prstGeom prst="rect">
            <a:avLst/>
          </a:prstGeom>
          <a:ln/>
        </p:spPr>
      </p:pic>
      <p:sp>
        <p:nvSpPr>
          <p:cNvPr id="398" name=""/>
          <p:cNvSpPr/>
          <p:nvPr/>
        </p:nvSpPr>
        <p:spPr>
          <a:xfrm rot="0" flipH="0" flipV="0">
            <a:off x="5095875" y="2495550"/>
            <a:ext cx="1857375" cy="676275"/>
          </a:xfrm>
          <a:prstGeom prst="roundRect">
            <a:avLst>
              <a:gd name="adj" fmla="val 14085"/>
            </a:avLst>
          </a:prstGeom>
          <a:solidFill>
            <a:srgbClr val="D97757">
              <a:alpha val="12000"/>
            </a:srgbClr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5553075" y="2647950"/>
            <a:ext cx="942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D97757"/>
                </a:solidFill>
                <a:latin typeface="微软雅黑"/>
                <a:ea typeface="微软雅黑"/>
              </a:rPr>
              <a:t>通行证</a:t>
            </a:r>
            <a:r>
              <a:rPr lang="en-US" sz="1200" b="1">
                <a:solidFill>
                  <a:srgbClr val="D97757"/>
                </a:solidFill>
                <a:latin typeface="微软雅黑"/>
                <a:ea typeface="微软雅黑"/>
              </a:rPr>
              <a:t> Token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5743575" y="287655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1F1E1B"/>
                </a:solidFill>
                <a:latin typeface="微软雅黑"/>
                <a:ea typeface="微软雅黑"/>
              </a:rPr>
              <a:t>1 </a:t>
            </a:r>
            <a:r>
              <a:rPr lang="zh-CN" sz="900">
                <a:solidFill>
                  <a:srgbClr val="1F1E1B"/>
                </a:solidFill>
                <a:latin typeface="微软雅黑"/>
                <a:ea typeface="微软雅黑"/>
              </a:rPr>
              <a:t>小时有效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666750" y="3305175"/>
            <a:ext cx="2962275" cy="676275"/>
          </a:xfrm>
          <a:prstGeom prst="roundRect">
            <a:avLst>
              <a:gd name="adj" fmla="val 14085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400175" y="3457575"/>
            <a:ext cx="1495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带</a:t>
            </a: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 Token 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头调</a:t>
            </a: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 7 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接口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1409700" y="3686175"/>
            <a:ext cx="1485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无状态验证，服务端不存会话</a:t>
            </a:r>
            <a:endParaRPr/>
          </a:p>
        </p:txBody>
      </p:sp>
      <p:pic>
        <p:nvPicPr>
          <p:cNvPr id="40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724275" y="3562350"/>
            <a:ext cx="171450" cy="171450"/>
          </a:xfrm>
          <a:prstGeom prst="rect">
            <a:avLst/>
          </a:prstGeom>
          <a:ln/>
        </p:spPr>
      </p:pic>
      <p:sp>
        <p:nvSpPr>
          <p:cNvPr id="405" name=""/>
          <p:cNvSpPr/>
          <p:nvPr/>
        </p:nvSpPr>
        <p:spPr>
          <a:xfrm rot="0" flipH="0" flipV="0">
            <a:off x="3990975" y="3305175"/>
            <a:ext cx="2962275" cy="676275"/>
          </a:xfrm>
          <a:prstGeom prst="roundRect">
            <a:avLst>
              <a:gd name="adj" fmla="val 14085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4733925" y="3457575"/>
            <a:ext cx="1485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401 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过期</a:t>
            </a:r>
            <a:r>
              <a:rPr lang="en-US" sz="1200" b="1">
                <a:solidFill>
                  <a:srgbClr val="1F1E1B"/>
                </a:solidFill>
                <a:latin typeface="微软雅黑"/>
                <a:ea typeface="微软雅黑"/>
              </a:rPr>
              <a:t> → 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自动重取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4705350" y="3686175"/>
            <a:ext cx="1533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9A294"/>
                </a:solidFill>
                <a:latin typeface="微软雅黑"/>
                <a:ea typeface="微软雅黑"/>
              </a:rPr>
              <a:t>OpenClaw </a:t>
            </a:r>
            <a:r>
              <a:rPr lang="zh-CN" sz="900">
                <a:solidFill>
                  <a:srgbClr val="A9A294"/>
                </a:solidFill>
                <a:latin typeface="微软雅黑"/>
                <a:ea typeface="微软雅黑"/>
              </a:rPr>
              <a:t>侧缓存，无感续期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666750" y="424815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D97757"/>
                </a:solidFill>
                <a:latin typeface="华文中宋"/>
                <a:ea typeface="华文中宋"/>
              </a:rPr>
              <a:t>1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1009650" y="4286250"/>
            <a:ext cx="2486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F1E1B"/>
                </a:solidFill>
                <a:latin typeface="微软雅黑"/>
                <a:ea typeface="微软雅黑"/>
              </a:rPr>
              <a:t>AI </a:t>
            </a:r>
            <a:r>
              <a:rPr lang="zh-CN" sz="1275">
                <a:solidFill>
                  <a:srgbClr val="1F1E1B"/>
                </a:solidFill>
                <a:latin typeface="微软雅黑"/>
                <a:ea typeface="微软雅黑"/>
              </a:rPr>
              <a:t>用</a:t>
            </a:r>
            <a:r>
              <a:rPr lang="zh-CN" sz="1275" b="1">
                <a:solidFill>
                  <a:srgbClr val="1F1E1B"/>
                </a:solidFill>
                <a:latin typeface="微软雅黑"/>
                <a:ea typeface="微软雅黑"/>
              </a:rPr>
              <a:t>独立账号</a:t>
            </a:r>
            <a:r>
              <a:rPr lang="zh-CN" sz="1275">
                <a:solidFill>
                  <a:srgbClr val="1F1E1B"/>
                </a:solidFill>
                <a:latin typeface="微软雅黑"/>
                <a:ea typeface="微软雅黑"/>
              </a:rPr>
              <a:t>，不用任何人的账号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666750" y="461962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D97757"/>
                </a:solidFill>
                <a:latin typeface="华文中宋"/>
                <a:ea typeface="华文中宋"/>
              </a:rPr>
              <a:t>2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1009650" y="4657725"/>
            <a:ext cx="2457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F1E1B"/>
                </a:solidFill>
                <a:latin typeface="微软雅黑"/>
                <a:ea typeface="微软雅黑"/>
              </a:rPr>
              <a:t>Token </a:t>
            </a:r>
            <a:r>
              <a:rPr lang="zh-CN" sz="1275">
                <a:solidFill>
                  <a:srgbClr val="1F1E1B"/>
                </a:solidFill>
                <a:latin typeface="微软雅黑"/>
                <a:ea typeface="微软雅黑"/>
              </a:rPr>
              <a:t>一小时过期，</a:t>
            </a:r>
            <a:r>
              <a:rPr lang="zh-CN" sz="1275" b="1">
                <a:solidFill>
                  <a:srgbClr val="1F1E1B"/>
                </a:solidFill>
                <a:latin typeface="微软雅黑"/>
                <a:ea typeface="微软雅黑"/>
              </a:rPr>
              <a:t>泄露影响可控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666750" y="499110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D97757"/>
                </a:solidFill>
                <a:latin typeface="华文中宋"/>
                <a:ea typeface="华文中宋"/>
              </a:rPr>
              <a:t>3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009650" y="5029200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F1E1B"/>
                </a:solidFill>
                <a:latin typeface="微软雅黑"/>
                <a:ea typeface="微软雅黑"/>
              </a:rPr>
              <a:t>密码走私密渠道，</a:t>
            </a:r>
            <a:r>
              <a:rPr lang="zh-CN" sz="1275" b="1">
                <a:solidFill>
                  <a:srgbClr val="1F1E1B"/>
                </a:solidFill>
                <a:latin typeface="微软雅黑"/>
                <a:ea typeface="微软雅黑"/>
              </a:rPr>
              <a:t>不进代码不进群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7334250" y="1143000"/>
            <a:ext cx="4191000" cy="5143500"/>
          </a:xfrm>
          <a:prstGeom prst="roundRect">
            <a:avLst>
              <a:gd name="adj" fmla="val 3636"/>
            </a:avLst>
          </a:prstGeom>
          <a:solidFill>
            <a:srgbClr val="1F1E1B"/>
          </a:solidFill>
          <a:ln/>
        </p:spPr>
        <p:txBody>
          <a:bodyPr/>
          <a:p/>
        </p:txBody>
      </p:sp>
      <p:sp>
        <p:nvSpPr>
          <p:cNvPr id="415" name=""/>
          <p:cNvSpPr/>
          <p:nvPr/>
        </p:nvSpPr>
        <p:spPr>
          <a:xfrm rot="0" flipH="0" flipV="0">
            <a:off x="7620000" y="25717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pic>
        <p:nvPicPr>
          <p:cNvPr id="4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762875" y="2714625"/>
            <a:ext cx="323850" cy="323850"/>
          </a:xfrm>
          <a:prstGeom prst="rect">
            <a:avLst/>
          </a:prstGeom>
          <a:ln/>
        </p:spPr>
      </p:pic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8362950" y="2657475"/>
            <a:ext cx="11239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AF9F5"/>
                </a:solidFill>
                <a:latin typeface="微软雅黑"/>
                <a:ea typeface="微软雅黑"/>
              </a:rPr>
              <a:t>小奥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7620000" y="4238625"/>
            <a:ext cx="3619500" cy="619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D97757"/>
                </a:solidFill>
                <a:latin typeface="华文中宋"/>
                <a:ea typeface="华文中宋"/>
              </a:rPr>
              <a:t>最小权限原则，</a:t>
            </a:r>
            <a:endParaRPr/>
          </a:p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D97757"/>
                </a:solidFill>
                <a:latin typeface="华文中宋"/>
                <a:ea typeface="华文中宋"/>
              </a:rPr>
              <a:t>从第一行代码就开始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09 / 16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8362950" y="29337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AF9F5">
                    <a:alpha val="60000"/>
                  </a:srgbClr>
                </a:solidFill>
                <a:latin typeface="微软雅黑"/>
                <a:ea typeface="微软雅黑"/>
              </a:rPr>
              <a:t>aiworker · uid 61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7620000" y="3333750"/>
            <a:ext cx="3619500" cy="9525"/>
          </a:xfrm>
          <a:prstGeom prst="rect">
            <a:avLst/>
          </a:prstGeom>
          <a:solidFill>
            <a:srgbClr val="FAF9F5">
              <a:alpha val="15000"/>
            </a:srgbClr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7620000" y="3495675"/>
            <a:ext cx="361950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AI </a:t>
            </a:r>
            <a:r>
              <a:rPr lang="zh-CN" sz="1125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专属身份，全公司管理视野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只能做那</a:t>
            </a:r>
            <a:r>
              <a:rPr lang="en-US" sz="1125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 7 </a:t>
            </a:r>
            <a:r>
              <a:rPr lang="zh-CN" sz="1125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件事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5" name="" descr="&lt;Slide notes={`这是整个系统的心脏：每小时一次的巡检闭环。OpenClaw 定时触发，先换通行证，再拉在途单，然后 AI 判断谁超时了、催过几次——注意这个记忆 OA 不存，OpenClaw 自己记，接口是无状态的。超时了就发站内信催办，每周五再汇总统计、AI 写报告、发成全员公告。右边这句话是重点：OA 只出数据，OpenClaw 管脑子。业务哪天说 24 小时改成 12 小时，改 AI 侧配置就行，OA 一行代码不用动——这就是无状态设计的价值。`}&gt;&#10;  &lt;Slide style={{ background: '#FAF9F5', padding: '20px 70px', width: 1280, height: 720 }}&gt;&#10;    &lt;Box style={{ height: 100, justifyContent: 'center' }}&gt;&#10;      &lt;Text style={{ fontFamily: '华文中宋', fontSize: 34, fontWeight: 'bold', color: '#1F1E1B' }}&gt;第三幕 · 一次完整的巡检闭环&lt;/Text&gt;&#10;    &lt;/Box&gt;&#10;    &lt;Box style={{ flexDirection: 'row', height: 540, gap: 40 }}&gt;&#10;      &lt;Box style={{ flex: 3, flexDirection: 'column', justifyContent: 'center', gap: 13 }}&gt;&#10;        &lt;Box style={{ flexDirection: 'row', gap: 16, alignItems: 'center' }}&gt;&#10;          &lt;Box style={{ width: 40, height: 40, borderRadius: 20, background: '#D97757', justifyContent: 'center', alignItems: 'center' }}&gt;&#10;            &lt;Text style={{ fontFamily: '华文中宋', fontSize: 18, fontWeight: 'bold', color: '#FAF9F5' }}&gt;1&lt;/Text&gt;&#10;          &lt;/Box&gt;&#10;          &lt;Text style={{ fontFamily: '微软雅黑', fontSize: 18, color: '#1F1E1B' }}&gt;&lt;span style={{ fontWeight: 'bold' }}&gt;每小时定时触发&lt;/span&gt;——OpenClaw 的定时任务开始巡逻&lt;/Text&gt;&#10;        &lt;/Box&gt;&#10;        &lt;Box style={{ marginLeft: 19, height: 14, width: 2, background: '#A9A294', opacity: 0.4 }} /&gt;&#10;        &lt;Box style={{ flexDirection: 'row', gap: 16, alignItems: 'center' }}&gt;&#10;          &lt;Box style={{ width: 40, height: 40, borderRadius: 20, background: '#D97757', justifyContent: 'center', alignItems: 'center' }}&gt;&#10;            &lt;Text style={{ fontFamily: '华文中宋', fontSize: 18, fontWeight: 'bold', color: '#FAF9F5' }}&gt;2&lt;/Text&gt;&#10;          &lt;/Box&gt;&#10;          &lt;Text style={{ fontFamily: '微软雅黑', fontSize: 18, color: '#1F1E1B' }}&gt;&lt;span style={{ fontWeight: 'bold' }}&gt;换通行证、拉在途单&lt;/span&gt;——token → approve_pending&lt;/Text&gt;&#10;        &lt;/Box&gt;&#10;        &lt;Box style={{ marginLeft: 19, height: 14, width: 2, background: '#A9A294', opacity: 0.4 }} /&gt;&#10;        &lt;Box style={{ flexDirection: 'row', gap: 16, alignItems: 'center' }}&gt;&#10;          &lt;Box style={{ width: 40, height: 40, borderRadius: 20, background: '#1F1E1B', justifyContent: 'center', alignItems: 'center' }}&gt;&#10;            &lt;Text style={{ fontFamily: '华文中宋', fontSize: 18, fontWeight: 'bold', color: '#FAF9F5' }}&gt;3&lt;/Text&gt;&#10;          &lt;/Box&gt;&#10;          &lt;Text style={{ fontFamily: '微软雅黑', fontSize: 18, color: '#1F1E1B' }}&gt;&lt;span style={{ fontWeight: 'bold' }}&gt;AI 判断&lt;/span&gt;——谁超时了？催过几次？&lt;span style={{ color: '#D97757', fontWeight: 'bold' }}&gt;状态机在 OpenClaw 侧&lt;/span&gt;&lt;/Text&gt;&#10;        &lt;/Box&gt;&#10;        &lt;Box style={{ marginLeft: 19, height: 14, width: 2, background: '#A9A294', opacity: 0.4 }} /&gt;&#10;        &lt;Box style={{ flexDirection: 'row', gap: 16, alignItems: 'center' }}&gt;&#10;          &lt;Box style={{ width: 40, height: 40, borderRadius: 20, background: '#D97757', justifyContent: 'center', alignItems: 'center' }}&gt;&#10;            &lt;Text style={{ fontFamily: '华文中宋', fontSize: 18, fontWeight: 'bold', color: '#FAF9F5' }}&gt;4&lt;/Text&gt;&#10;          &lt;/Box&gt;&#10;          &lt;Text style={{ fontFamily: '微软雅黑', fontSize: 18, color: '#1F1E1B' }}&gt;&lt;span style={{ fontWeight: 'bold' }}&gt;催办触达&lt;/span&gt;——message_send：催审批人 + 抄送上级&lt;/Text&gt;&#10;        &lt;/Box&gt;&#10;        &lt;Box style={{ marginLeft: 19, height: 14, width: 2, background: '#A9A294', opacity: 0.4 }} /&gt;&#10;        &lt;Box style={{ flexDirection: 'row', gap: 16, alignItems: 'center' }}&gt;&#10;          &lt;Box style={{ width: 40, height: 40, borderRadius: 20, background: '#D97757', justifyContent: 'center', alignItems: 'center' }}&gt;&#10;            &lt;Text style={{ fontFamily: '华文中宋', fontSize: 18, fontWeight: 'bold', color: '#FAF9F5' }}&gt;5&lt;/Text&gt;&#10;          &lt;/Box&gt;&#10;          &lt;Text style={{ fontFamily: '微软雅黑', fontSize: 18, color: '#1F1E1B' }}&gt;&lt;span style={{ fontWeight: 'bold' }}&gt;每周五收官&lt;/span&gt;——统计汇总 → AI 写报告 → 发全员公告&lt;/Text&gt;&#10;        &lt;/Box&gt;&#10;      &lt;/Box&gt;&#10;      &lt;Box style={{ flex: 2, flexDirection: 'column', padding: '36px 34px', background: 'rgba(217,119,87,0.08)', borderRadius: 16, justifyContent: 'center', gap: 18 }}&gt;&#10;        &lt;FAIcon name=&quot;sync&quot; style={{ fill: '#D97757', width: 72, height: 72 }} /&gt;&#10;        &lt;Text style={{ fontFamily: '华文中宋', fontSize: 26, fontWeight: 'bold', color: '#1F1E1B', lineHeight: 1.5 }}&gt;OA 只出数据&lt;br /&gt;OpenClaw 管脑子&lt;/Text&gt;&#10;        &lt;Text style={{ fontFamily: '微软雅黑', fontSize: 16, color: '#A9A294', lineHeight: 1.6 }}&gt;接口无状态，「催过几次」的记忆放在 AI 侧。业务改规则，OA 一行代码不动。&lt;/Text&gt;&#10;      &lt;/Box&gt;&#10;    &lt;/Box&gt;&#10;    &lt;Box style={{ height: 40, flexDirection: 'row', justifyContent: 'space-between', alignItems: 'center' }}&gt;&#10;      &lt;Text style={{ fontFamily: '微软雅黑', fontSize: 13, color: '#A9A294' }}&gt;当 OA 遇上 AI 数字员工 · 内部教学&lt;/Text&gt;&#10;      &lt;Text style={{ fontFamily: '微软雅黑', fontSize: 13, color: '#A9A294' }}&gt;10 / 16&lt;/Text&gt;&#10;    &lt;/Box&gt;&#10;  &lt;/Slide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第三幕</a:t>
            </a:r>
            <a:r>
              <a:rPr lang="en-US" sz="2550" b="1">
                <a:solidFill>
                  <a:srgbClr val="1F1E1B"/>
                </a:solidFill>
                <a:latin typeface="华文中宋"/>
                <a:ea typeface="华文中宋"/>
              </a:rPr>
              <a:t> · </a:t>
            </a: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一次完整的巡检闭环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66750" y="20002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00100" y="20859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AF9F5"/>
                </a:solidFill>
                <a:latin typeface="华文中宋"/>
                <a:ea typeface="华文中宋"/>
              </a:rPr>
              <a:t>1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200150" y="2085975"/>
            <a:ext cx="4019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1E1B"/>
                </a:solidFill>
                <a:latin typeface="微软雅黑"/>
                <a:ea typeface="微软雅黑"/>
              </a:rPr>
              <a:t>每小时定时触发</a:t>
            </a:r>
            <a:r>
              <a:rPr lang="en-US" sz="1350">
                <a:solidFill>
                  <a:srgbClr val="1F1E1B"/>
                </a:solidFill>
                <a:latin typeface="微软雅黑"/>
                <a:ea typeface="微软雅黑"/>
              </a:rPr>
              <a:t>——OpenClaw </a:t>
            </a:r>
            <a:r>
              <a:rPr lang="zh-CN" sz="1350">
                <a:solidFill>
                  <a:srgbClr val="1F1E1B"/>
                </a:solidFill>
                <a:latin typeface="微软雅黑"/>
                <a:ea typeface="微软雅黑"/>
              </a:rPr>
              <a:t>的定时任务开始巡逻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666750" y="27622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00100" y="28479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AF9F5"/>
                </a:solidFill>
                <a:latin typeface="华文中宋"/>
                <a:ea typeface="华文中宋"/>
              </a:rPr>
              <a:t>2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200150" y="2847975"/>
            <a:ext cx="41052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1E1B"/>
                </a:solidFill>
                <a:latin typeface="微软雅黑"/>
                <a:ea typeface="微软雅黑"/>
              </a:rPr>
              <a:t>换通行证、拉在途单</a:t>
            </a:r>
            <a:r>
              <a:rPr lang="en-US" sz="1350">
                <a:solidFill>
                  <a:srgbClr val="1F1E1B"/>
                </a:solidFill>
                <a:latin typeface="微软雅黑"/>
                <a:ea typeface="微软雅黑"/>
              </a:rPr>
              <a:t>——token → approve_pending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66750" y="35242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F1E1B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00100" y="36099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AF9F5"/>
                </a:solidFill>
                <a:latin typeface="华文中宋"/>
                <a:ea typeface="华文中宋"/>
              </a:rPr>
              <a:t>3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200150" y="3609975"/>
            <a:ext cx="44672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F1E1B"/>
                </a:solidFill>
                <a:latin typeface="微软雅黑"/>
                <a:ea typeface="微软雅黑"/>
              </a:rPr>
              <a:t>AI </a:t>
            </a:r>
            <a:r>
              <a:rPr lang="zh-CN" sz="1350" b="1">
                <a:solidFill>
                  <a:srgbClr val="1F1E1B"/>
                </a:solidFill>
                <a:latin typeface="微软雅黑"/>
                <a:ea typeface="微软雅黑"/>
              </a:rPr>
              <a:t>判断</a:t>
            </a:r>
            <a:r>
              <a:rPr lang="zh-CN" sz="1350">
                <a:solidFill>
                  <a:srgbClr val="1F1E1B"/>
                </a:solidFill>
                <a:latin typeface="微软雅黑"/>
                <a:ea typeface="微软雅黑"/>
              </a:rPr>
              <a:t>——谁超时了？催过几次？</a:t>
            </a:r>
            <a:r>
              <a:rPr lang="zh-CN" sz="1350" b="1">
                <a:solidFill>
                  <a:srgbClr val="D97757"/>
                </a:solidFill>
                <a:latin typeface="微软雅黑"/>
                <a:ea typeface="微软雅黑"/>
              </a:rPr>
              <a:t>状态机在</a:t>
            </a:r>
            <a:r>
              <a:rPr lang="en-US" sz="1350" b="1">
                <a:solidFill>
                  <a:srgbClr val="D97757"/>
                </a:solidFill>
                <a:latin typeface="微软雅黑"/>
                <a:ea typeface="微软雅黑"/>
              </a:rPr>
              <a:t> OpenClaw </a:t>
            </a:r>
            <a:r>
              <a:rPr lang="zh-CN" sz="1350" b="1">
                <a:solidFill>
                  <a:srgbClr val="D97757"/>
                </a:solidFill>
                <a:latin typeface="微软雅黑"/>
                <a:ea typeface="微软雅黑"/>
              </a:rPr>
              <a:t>侧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66750" y="42862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00100" y="43719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AF9F5"/>
                </a:solidFill>
                <a:latin typeface="华文中宋"/>
                <a:ea typeface="华文中宋"/>
              </a:rPr>
              <a:t>4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200150" y="4371975"/>
            <a:ext cx="409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1E1B"/>
                </a:solidFill>
                <a:latin typeface="微软雅黑"/>
                <a:ea typeface="微软雅黑"/>
              </a:rPr>
              <a:t>催办触达</a:t>
            </a:r>
            <a:r>
              <a:rPr lang="en-US" sz="1350">
                <a:solidFill>
                  <a:srgbClr val="1F1E1B"/>
                </a:solidFill>
                <a:latin typeface="微软雅黑"/>
                <a:ea typeface="微软雅黑"/>
              </a:rPr>
              <a:t>——message_send</a:t>
            </a:r>
            <a:r>
              <a:rPr lang="zh-CN" sz="1350">
                <a:solidFill>
                  <a:srgbClr val="1F1E1B"/>
                </a:solidFill>
                <a:latin typeface="微软雅黑"/>
                <a:ea typeface="微软雅黑"/>
              </a:rPr>
              <a:t>：催审批人</a:t>
            </a:r>
            <a:r>
              <a:rPr lang="en-US" sz="1350">
                <a:solidFill>
                  <a:srgbClr val="1F1E1B"/>
                </a:solidFill>
                <a:latin typeface="微软雅黑"/>
                <a:ea typeface="微软雅黑"/>
              </a:rPr>
              <a:t> + </a:t>
            </a:r>
            <a:r>
              <a:rPr lang="zh-CN" sz="1350">
                <a:solidFill>
                  <a:srgbClr val="1F1E1B"/>
                </a:solidFill>
                <a:latin typeface="微软雅黑"/>
                <a:ea typeface="微软雅黑"/>
              </a:rPr>
              <a:t>抄送上级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66750" y="50482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00100" y="51339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AF9F5"/>
                </a:solidFill>
                <a:latin typeface="华文中宋"/>
                <a:ea typeface="华文中宋"/>
              </a:rPr>
              <a:t>5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200150" y="5133975"/>
            <a:ext cx="39909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1E1B"/>
                </a:solidFill>
                <a:latin typeface="微软雅黑"/>
                <a:ea typeface="微软雅黑"/>
              </a:rPr>
              <a:t>每周五收官</a:t>
            </a:r>
            <a:r>
              <a:rPr lang="zh-CN" sz="1350">
                <a:solidFill>
                  <a:srgbClr val="1F1E1B"/>
                </a:solidFill>
                <a:latin typeface="微软雅黑"/>
                <a:ea typeface="微软雅黑"/>
              </a:rPr>
              <a:t>——统计汇总</a:t>
            </a:r>
            <a:r>
              <a:rPr lang="en-US" sz="1350">
                <a:solidFill>
                  <a:srgbClr val="1F1E1B"/>
                </a:solidFill>
                <a:latin typeface="微软雅黑"/>
                <a:ea typeface="微软雅黑"/>
              </a:rPr>
              <a:t> → AI </a:t>
            </a:r>
            <a:r>
              <a:rPr lang="zh-CN" sz="1350">
                <a:solidFill>
                  <a:srgbClr val="1F1E1B"/>
                </a:solidFill>
                <a:latin typeface="微软雅黑"/>
                <a:ea typeface="微软雅黑"/>
              </a:rPr>
              <a:t>写报告</a:t>
            </a:r>
            <a:r>
              <a:rPr lang="en-US" sz="1350">
                <a:solidFill>
                  <a:srgbClr val="1F1E1B"/>
                </a:solidFill>
                <a:latin typeface="微软雅黑"/>
                <a:ea typeface="微软雅黑"/>
              </a:rPr>
              <a:t> → </a:t>
            </a:r>
            <a:r>
              <a:rPr lang="zh-CN" sz="1350">
                <a:solidFill>
                  <a:srgbClr val="1F1E1B"/>
                </a:solidFill>
                <a:latin typeface="微软雅黑"/>
                <a:ea typeface="微软雅黑"/>
              </a:rPr>
              <a:t>发全员公告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7334250" y="1143000"/>
            <a:ext cx="4191000" cy="5143500"/>
          </a:xfrm>
          <a:prstGeom prst="roundRect">
            <a:avLst>
              <a:gd name="adj" fmla="val 3636"/>
            </a:avLst>
          </a:prstGeom>
          <a:solidFill>
            <a:srgbClr val="D97757">
              <a:alpha val="8000"/>
            </a:srgbClr>
          </a:solidFill>
          <a:ln/>
        </p:spPr>
        <p:txBody>
          <a:bodyPr/>
          <a:p/>
        </p:txBody>
      </p:sp>
      <p:pic>
        <p:nvPicPr>
          <p:cNvPr id="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58100" y="2457450"/>
            <a:ext cx="685800" cy="685800"/>
          </a:xfrm>
          <a:prstGeom prst="rect">
            <a:avLst/>
          </a:prstGeom>
          <a:ln/>
        </p:spPr>
      </p:pic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658100" y="3314700"/>
            <a:ext cx="3543300" cy="895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950" b="1">
                <a:solidFill>
                  <a:srgbClr val="1F1E1B"/>
                </a:solidFill>
                <a:latin typeface="华文中宋"/>
                <a:ea typeface="华文中宋"/>
              </a:rPr>
              <a:t>OA </a:t>
            </a:r>
            <a:r>
              <a:rPr lang="zh-CN" sz="1950" b="1">
                <a:solidFill>
                  <a:srgbClr val="1F1E1B"/>
                </a:solidFill>
                <a:latin typeface="华文中宋"/>
                <a:ea typeface="华文中宋"/>
              </a:rPr>
              <a:t>只出数据</a:t>
            </a:r>
            <a:endParaRPr/>
          </a:p>
          <a:p>
            <a:pPr>
              <a:lnSpc>
                <a:spcPct val="150000"/>
              </a:lnSpc>
            </a:pPr>
            <a:r>
              <a:rPr lang="en-US" sz="1950" b="1">
                <a:solidFill>
                  <a:srgbClr val="1F1E1B"/>
                </a:solidFill>
                <a:latin typeface="华文中宋"/>
                <a:ea typeface="华文中宋"/>
              </a:rPr>
              <a:t>OpenClaw </a:t>
            </a:r>
            <a:r>
              <a:rPr lang="zh-CN" sz="1950" b="1">
                <a:solidFill>
                  <a:srgbClr val="1F1E1B"/>
                </a:solidFill>
                <a:latin typeface="华文中宋"/>
                <a:ea typeface="华文中宋"/>
              </a:rPr>
              <a:t>管脑子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658100" y="4381500"/>
            <a:ext cx="3543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A9A294"/>
                </a:solidFill>
                <a:latin typeface="微软雅黑"/>
                <a:ea typeface="微软雅黑"/>
              </a:rPr>
              <a:t>接口无状态，「催过几次」的记忆放在</a:t>
            </a:r>
            <a:r>
              <a:rPr lang="en-US" sz="1200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1200">
                <a:solidFill>
                  <a:srgbClr val="A9A294"/>
                </a:solidFill>
                <a:latin typeface="微软雅黑"/>
                <a:ea typeface="微软雅黑"/>
              </a:rPr>
              <a:t>侧。业务改规则，</a:t>
            </a:r>
            <a:r>
              <a:rPr lang="en-US" sz="1200">
                <a:solidFill>
                  <a:srgbClr val="A9A294"/>
                </a:solidFill>
                <a:latin typeface="微软雅黑"/>
                <a:ea typeface="微软雅黑"/>
              </a:rPr>
              <a:t>OA </a:t>
            </a:r>
            <a:r>
              <a:rPr lang="zh-CN" sz="1200">
                <a:solidFill>
                  <a:srgbClr val="A9A294"/>
                </a:solidFill>
                <a:latin typeface="微软雅黑"/>
                <a:ea typeface="微软雅黑"/>
              </a:rPr>
              <a:t>一行代码不动。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10 / 16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847725" y="2505075"/>
            <a:ext cx="19050" cy="133350"/>
          </a:xfrm>
          <a:prstGeom prst="rect">
            <a:avLst/>
          </a:prstGeom>
          <a:solidFill>
            <a:srgbClr val="A9A294">
              <a:alpha val="40000"/>
            </a:srgbClr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847725" y="3267075"/>
            <a:ext cx="19050" cy="133350"/>
          </a:xfrm>
          <a:prstGeom prst="rect">
            <a:avLst/>
          </a:prstGeom>
          <a:solidFill>
            <a:srgbClr val="A9A294">
              <a:alpha val="40000"/>
            </a:srgbClr>
          </a:solidFill>
          <a:ln/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847725" y="4029075"/>
            <a:ext cx="19050" cy="133350"/>
          </a:xfrm>
          <a:prstGeom prst="rect">
            <a:avLst/>
          </a:prstGeom>
          <a:solidFill>
            <a:srgbClr val="A9A294">
              <a:alpha val="40000"/>
            </a:srgbClr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847725" y="4791075"/>
            <a:ext cx="19050" cy="133350"/>
          </a:xfrm>
          <a:prstGeom prst="rect">
            <a:avLst/>
          </a:prstGeom>
          <a:solidFill>
            <a:srgbClr val="A9A294">
              <a:alpha val="40000"/>
            </a:srgbClr>
          </a:solidFill>
          <a:ln/>
        </p:spPr>
        <p:txBody>
          <a:bodyPr/>
          <a:p/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3" name="" descr="&lt;Slide notes={`业务确认的触达规则是：催本人、抄上级。实现上就是接口参数里多传一个 uid——to_uids 写成「审批人,上级」，一条消息两人同时收到，零额外开发。左边是一条真实的催办消息样式。右边是 48 小时的处理：AI 判定疑似无需审批后，只标注、上报给业务负责人饶旺，单据状态一个字段都不改。最终按钮仍在人手里——AI 是哨兵，不是法官。`}&gt;&#10;  &lt;Slide style={{ background: '#FAF9F5', padding: '20px 70px', width: 1280, height: 720 }}&gt;&#10;    &lt;Box style={{ height: 100, justifyContent: 'center' }}&gt;&#10;      &lt;Text style={{ fontFamily: '华文中宋', fontSize: 34, fontWeight: 'bold', color: '#1F1E1B' }}&gt;催本人、抄上级、48h 只上报&lt;/Text&gt;&#10;    &lt;/Box&gt;&#10;    &lt;Box style={{ flexDirection: 'row', height: 540, gap: 40 }}&gt;&#10;      &lt;Box style={{ flex: 11, flexDirection: 'column', justifyContent: 'center', gap: 16 }}&gt;&#10;        &lt;Text style={{ fontFamily: '微软雅黑', fontSize: 16, color: '#A9A294' }}&gt;一条催办站内信（真实调用参数）&lt;/Text&gt;&#10;        &lt;Box style={{ padding: '26px 28px', background: '#1F1E1B', borderRadius: 16, gap: 12 }}&gt;&#10;          &lt;Box style={{ flexDirection: 'row', justifyContent: 'space-between', alignItems: 'center' }}&gt;&#10;            &lt;Text style={{ fontFamily: '微软雅黑', fontSize: 15, color: '#FAF9F5', opacity: 0.6 }}&gt;发件人：小奥（AI 数字员工）&lt;/Text&gt;&#10;            &lt;Text style={{ fontFamily: '微软雅黑', fontSize: 14, fontWeight: 'bold', color: '#D97757' }}&gt;to_uids = &quot;8,2&quot;&lt;/Text&gt;&#10;          &lt;/Box&gt;&#10;          &lt;Text style={{ fontFamily: '微软雅黑', fontSize: 19, fontWeight: 'bold', color: '#FAF9F5' }}&gt;【AI 督办】您有审批已停留超过 24 小时&lt;/Text&gt;&#10;          &lt;Text style={{ fontFamily: '微软雅黑', fontSize: 15, color: '#FAF9F5', opacity: 0.75, lineHeight: 1.6 }}&gt;冯乐提交的销售合同已停留 26 小时，请及时处理。点此直达单据详情 →&lt;/Text&gt;&#10;        &lt;/Box&gt;&#10;        &lt;Box style={{ flexDirection: 'row', gap: 12, alignItems: 'center' }}&gt;&#10;          &lt;FAIcon name=&quot;check-circle&quot; style={{ fill: '#D97757', width: 20, height: 20 }} /&gt;&#10;          &lt;Text style={{ fontFamily: '微软雅黑', fontSize: 16, color: '#1F1E1B' }}&gt;审批人（uid 8）与上级（uid 2）&lt;span style={{ fontWeight: 'bold' }}&gt;一条消息同时送达&lt;/span&gt;，零额外开发&lt;/Text&gt;&#10;        &lt;/Box&gt;&#10;        &lt;Box style={{ flexDirection: 'row', gap: 12, alignItems: 'center' }}&gt;&#10;          &lt;FAIcon name=&quot;check-circle&quot; style={{ fill: '#D97757', width: 20, height: 20 }} /&gt;&#10;          &lt;Text style={{ fontFamily: '微软雅黑', fontSize: 16, color: '#1F1E1B' }}&gt;上级从全员「部门→负责人」映射表查得，&lt;span style={{ fontWeight: 'bold' }}&gt;人员变动只更新映射&lt;/span&gt;&lt;/Text&gt;&#10;        &lt;/Box&gt;&#10;      &lt;/Box&gt;&#10;      &lt;Box style={{ flex: 9, flexDirection: 'column', padding: '28px 30px', background: 'rgba(31,30,27,0.04)', borderRadius: 16, justifyContent: 'center', gap: 14 }}&gt;&#10;        &lt;Text style={{ fontFamily: '微软雅黑', fontSize: 17, fontWeight: 'bold', color: '#1F1E1B' }}&gt;停留 48h 未催出结果？&lt;/Text&gt;&#10;        &lt;Box style={{ flexDirection: 'row', gap: 12, alignItems: 'center' }}&gt;&#10;          &lt;Box style={{ width: 30, height: 30, borderRadius: 15, background: '#D97757', justifyContent: 'center', alignItems: 'center' }}&gt;&#10;            &lt;Text style={{ fontFamily: '华文中宋', fontSize: 14, fontWeight: 'bold', color: '#FAF9F5' }}&gt;1&lt;/Text&gt;&#10;          &lt;/Box&gt;&#10;          &lt;Text style={{ fontFamily: '微软雅黑', fontSize: 16, color: '#1F1E1B' }}&gt;AI 标注「&lt;span style={{ fontWeight: 'bold' }}&gt;疑似无需审批&lt;/span&gt;」&lt;/Text&gt;&#10;        &lt;/Box&gt;&#10;        &lt;Box style={{ flexDirection: 'row', gap: 12, alignItems: 'center' }}&gt;&#10;          &lt;Box style={{ width: 30, height: 30, borderRadius: 15, background: '#D97757', justifyContent: 'center', alignItems: 'center' }}&gt;&#10;            &lt;Text style={{ fontFamily: '华文中宋', fontSize: 14, fontWeight: 'bold', color: '#FAF9F5' }}&gt;2&lt;/Text&gt;&#10;          &lt;/Box&gt;&#10;          &lt;Text style={{ fontFamily: '微软雅黑', fontSize: 16, color: '#1F1E1B' }}&gt;上报业务 Owner（饶旺）&lt;/Text&gt;&#10;        &lt;/Box&gt;&#10;        &lt;Box style={{ flexDirection: 'row', gap: 12, alignItems: 'center' }}&gt;&#10;          &lt;Box style={{ width: 30, height: 30, borderRadius: 15, background: '#1F1E1B', justifyContent: 'center', alignItems: 'center' }}&gt;&#10;            &lt;Text style={{ fontFamily: '华文中宋', fontSize: 14, fontWeight: 'bold', color: '#FAF9F5' }}&gt;3&lt;/Text&gt;&#10;          &lt;/Box&gt;&#10;          &lt;Text style={{ fontFamily: '微软雅黑', fontSize: 16, color: '#1F1E1B' }}&gt;人工裁决——&lt;span style={{ fontWeight: 'bold' }}&gt;单据状态一个字段都不动&lt;/span&gt;&lt;/Text&gt;&#10;        &lt;/Box&gt;&#10;        &lt;Box style={{ marginTop: 10, padding: '14px 18px', background: 'rgba(217,119,87,0.08)', borderLeft: '3px solid #D97757', borderRadius: 8 }}&gt;&#10;          &lt;Text style={{ fontFamily: '华文中宋', fontSize: 19, fontWeight: 'bold', color: '#1F1E1B' }}&gt;AI 是哨兵，不是法官。&lt;/Text&gt;&#10;        &lt;/Box&gt;&#10;      &lt;/Box&gt;&#10;    &lt;/Box&gt;&#10;    &lt;Box style={{ height: 40, flexDirection: 'row', justifyContent: 'space-between', alignItems: 'center' }}&gt;&#10;      &lt;Text style={{ fontFamily: '微软雅黑', fontSize: 13, color: '#A9A294' }}&gt;当 OA 遇上 AI 数字员工 · 内部教学&lt;/Text&gt;&#10;      &lt;Text style={{ fontFamily: '微软雅黑', fontSize: 13, color: '#A9A294' }}&gt;11 / 16&lt;/Text&gt;&#10;    &lt;/Box&gt;&#10;  &lt;/Slide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催本人、抄上级、</a:t>
            </a:r>
            <a:r>
              <a:rPr lang="en-US" sz="2550" b="1">
                <a:solidFill>
                  <a:srgbClr val="1F1E1B"/>
                </a:solidFill>
                <a:latin typeface="华文中宋"/>
                <a:ea typeface="华文中宋"/>
              </a:rPr>
              <a:t>48h </a:t>
            </a: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只上报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66750" y="2505075"/>
            <a:ext cx="5762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A9A294"/>
                </a:solidFill>
                <a:latin typeface="微软雅黑"/>
                <a:ea typeface="微软雅黑"/>
              </a:rPr>
              <a:t>一条催办站内信（真实调用参数）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666750" y="2847975"/>
            <a:ext cx="5762625" cy="1390650"/>
          </a:xfrm>
          <a:prstGeom prst="roundRect">
            <a:avLst>
              <a:gd name="adj" fmla="val 10959"/>
            </a:avLst>
          </a:prstGeom>
          <a:solidFill>
            <a:srgbClr val="1F1E1B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5153025" y="3105150"/>
            <a:ext cx="1009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D97757"/>
                </a:solidFill>
                <a:latin typeface="微软雅黑"/>
                <a:ea typeface="微软雅黑"/>
              </a:rPr>
              <a:t>to_uids = "8,2"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933450" y="3381375"/>
            <a:ext cx="5229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AF9F5"/>
                </a:solidFill>
                <a:latin typeface="微软雅黑"/>
                <a:ea typeface="微软雅黑"/>
              </a:rPr>
              <a:t>【</a:t>
            </a:r>
            <a:r>
              <a:rPr lang="en-US" sz="1425" b="1">
                <a:solidFill>
                  <a:srgbClr val="FAF9F5"/>
                </a:solidFill>
                <a:latin typeface="微软雅黑"/>
                <a:ea typeface="微软雅黑"/>
              </a:rPr>
              <a:t>AI </a:t>
            </a:r>
            <a:r>
              <a:rPr lang="zh-CN" sz="1425" b="1">
                <a:solidFill>
                  <a:srgbClr val="FAF9F5"/>
                </a:solidFill>
                <a:latin typeface="微软雅黑"/>
                <a:ea typeface="微软雅黑"/>
              </a:rPr>
              <a:t>督办】您有审批已停留超过</a:t>
            </a:r>
            <a:r>
              <a:rPr lang="en-US" sz="1425" b="1">
                <a:solidFill>
                  <a:srgbClr val="FAF9F5"/>
                </a:solidFill>
                <a:latin typeface="微软雅黑"/>
                <a:ea typeface="微软雅黑"/>
              </a:rPr>
              <a:t> 24 </a:t>
            </a:r>
            <a:r>
              <a:rPr lang="zh-CN" sz="1425" b="1">
                <a:solidFill>
                  <a:srgbClr val="FAF9F5"/>
                </a:solidFill>
                <a:latin typeface="微软雅黑"/>
                <a:ea typeface="微软雅黑"/>
              </a:rPr>
              <a:t>小时</a:t>
            </a:r>
            <a:endParaRPr/>
          </a:p>
        </p:txBody>
      </p:sp>
      <p:pic>
        <p:nvPicPr>
          <p:cNvPr id="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6750" y="4391025"/>
            <a:ext cx="190500" cy="190500"/>
          </a:xfrm>
          <a:prstGeom prst="rect">
            <a:avLst/>
          </a:prstGeom>
          <a:ln/>
        </p:spPr>
      </p:pic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971550" y="4391025"/>
            <a:ext cx="4429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审批人（</a:t>
            </a: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uid 8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）与上级（</a:t>
            </a: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uid 2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）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一条消息同时送达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，零额外开发</a:t>
            </a:r>
            <a:endParaRPr/>
          </a:p>
        </p:txBody>
      </p:sp>
      <p:pic>
        <p:nvPicPr>
          <p:cNvPr id="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6750" y="4733925"/>
            <a:ext cx="190500" cy="190500"/>
          </a:xfrm>
          <a:prstGeom prst="rect">
            <a:avLst/>
          </a:prstGeom>
          <a:ln/>
        </p:spPr>
      </p:pic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971550" y="4733925"/>
            <a:ext cx="424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上级从全员「部门→负责人」映射表查得，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人员变动只更新映射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810375" y="1143000"/>
            <a:ext cx="4714875" cy="5143500"/>
          </a:xfrm>
          <a:prstGeom prst="roundRect">
            <a:avLst>
              <a:gd name="adj" fmla="val 3232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096125" y="2628900"/>
            <a:ext cx="4143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1E1B"/>
                </a:solidFill>
                <a:latin typeface="微软雅黑"/>
                <a:ea typeface="微软雅黑"/>
              </a:rPr>
              <a:t>停留</a:t>
            </a:r>
            <a:r>
              <a:rPr lang="en-US" sz="1275" b="1">
                <a:solidFill>
                  <a:srgbClr val="1F1E1B"/>
                </a:solidFill>
                <a:latin typeface="微软雅黑"/>
                <a:ea typeface="微软雅黑"/>
              </a:rPr>
              <a:t> 48h </a:t>
            </a:r>
            <a:r>
              <a:rPr lang="zh-CN" sz="1275" b="1">
                <a:solidFill>
                  <a:srgbClr val="1F1E1B"/>
                </a:solidFill>
                <a:latin typeface="微软雅黑"/>
                <a:ea typeface="微软雅黑"/>
              </a:rPr>
              <a:t>未催出结果？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7096125" y="29622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200900" y="30289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F9F5"/>
                </a:solidFill>
                <a:latin typeface="华文中宋"/>
                <a:ea typeface="华文中宋"/>
              </a:rPr>
              <a:t>1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496175" y="3009900"/>
            <a:ext cx="1724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AI 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标注「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疑似无需审批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」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7096125" y="33813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7200900" y="34480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F9F5"/>
                </a:solidFill>
                <a:latin typeface="华文中宋"/>
                <a:ea typeface="华文中宋"/>
              </a:rPr>
              <a:t>2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7496175" y="3429000"/>
            <a:ext cx="1771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上报业务</a:t>
            </a:r>
            <a:r>
              <a:rPr lang="en-US" sz="1200">
                <a:solidFill>
                  <a:srgbClr val="1F1E1B"/>
                </a:solidFill>
                <a:latin typeface="微软雅黑"/>
                <a:ea typeface="微软雅黑"/>
              </a:rPr>
              <a:t> Owner</a:t>
            </a: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（饶旺）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7096125" y="38004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F1E1B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200900" y="38671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F9F5"/>
                </a:solidFill>
                <a:latin typeface="华文中宋"/>
                <a:ea typeface="华文中宋"/>
              </a:rPr>
              <a:t>3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7496175" y="3848100"/>
            <a:ext cx="2590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1E1B"/>
                </a:solidFill>
                <a:latin typeface="微软雅黑"/>
                <a:ea typeface="微软雅黑"/>
              </a:rPr>
              <a:t>人工裁决——</a:t>
            </a:r>
            <a:r>
              <a:rPr lang="zh-CN" sz="1200" b="1">
                <a:solidFill>
                  <a:srgbClr val="1F1E1B"/>
                </a:solidFill>
                <a:latin typeface="微软雅黑"/>
                <a:ea typeface="微软雅黑"/>
              </a:rPr>
              <a:t>单据状态一个字段都不动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7124700" y="4314825"/>
            <a:ext cx="4143375" cy="485775"/>
          </a:xfrm>
          <a:prstGeom prst="roundRect">
            <a:avLst>
              <a:gd name="adj" fmla="val 15686"/>
            </a:avLst>
          </a:prstGeom>
          <a:solidFill>
            <a:srgbClr val="D97757">
              <a:alpha val="8000"/>
            </a:srgbClr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7124700" y="4314825"/>
            <a:ext cx="4143375" cy="485775"/>
          </a:xfrm>
          <a:custGeom>
            <a:pathLst>
              <a:path w="435" h="51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46"/>
                </a:lnTo>
                <a:cubicBezTo>
                  <a:pt x="3" y="48"/>
                  <a:pt x="5" y="50"/>
                  <a:pt x="7" y="51"/>
                </a:cubicBezTo>
                <a:cubicBezTo>
                  <a:pt x="3" y="50"/>
                  <a:pt x="0" y="47"/>
                  <a:pt x="0" y="4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7757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7296150" y="4448175"/>
            <a:ext cx="3771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F1E1B"/>
                </a:solidFill>
                <a:latin typeface="华文中宋"/>
                <a:ea typeface="华文中宋"/>
              </a:rPr>
              <a:t>AI </a:t>
            </a:r>
            <a:r>
              <a:rPr lang="zh-CN" sz="1425" b="1">
                <a:solidFill>
                  <a:srgbClr val="1F1E1B"/>
                </a:solidFill>
                <a:latin typeface="华文中宋"/>
                <a:ea typeface="华文中宋"/>
              </a:rPr>
              <a:t>是哨兵，不是法官。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11 / 16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933450" y="3095625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AF9F5">
                    <a:alpha val="60000"/>
                  </a:srgbClr>
                </a:solidFill>
                <a:latin typeface="微软雅黑"/>
                <a:ea typeface="微软雅黑"/>
              </a:rPr>
              <a:t>发件人：小奥（</a:t>
            </a:r>
            <a:r>
              <a:rPr lang="en-US" sz="1125">
                <a:solidFill>
                  <a:srgbClr val="FAF9F5">
                    <a:alpha val="60000"/>
                  </a:srgbClr>
                </a:solidFill>
                <a:latin typeface="微软雅黑"/>
                <a:ea typeface="微软雅黑"/>
              </a:rPr>
              <a:t>AI </a:t>
            </a:r>
            <a:r>
              <a:rPr lang="zh-CN" sz="1125">
                <a:solidFill>
                  <a:srgbClr val="FAF9F5">
                    <a:alpha val="60000"/>
                  </a:srgbClr>
                </a:solidFill>
                <a:latin typeface="微软雅黑"/>
                <a:ea typeface="微软雅黑"/>
              </a:rPr>
              <a:t>数字员工）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933450" y="3714750"/>
            <a:ext cx="52292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FAF9F5">
                    <a:alpha val="75000"/>
                  </a:srgbClr>
                </a:solidFill>
                <a:latin typeface="微软雅黑"/>
                <a:ea typeface="微软雅黑"/>
              </a:rPr>
              <a:t>冯乐提交的销售合同已停留</a:t>
            </a:r>
            <a:r>
              <a:rPr lang="en-US" sz="1125">
                <a:solidFill>
                  <a:srgbClr val="FAF9F5">
                    <a:alpha val="75000"/>
                  </a:srgbClr>
                </a:solidFill>
                <a:latin typeface="微软雅黑"/>
                <a:ea typeface="微软雅黑"/>
              </a:rPr>
              <a:t> 26 </a:t>
            </a:r>
            <a:r>
              <a:rPr lang="zh-CN" sz="1125">
                <a:solidFill>
                  <a:srgbClr val="FAF9F5">
                    <a:alpha val="75000"/>
                  </a:srgbClr>
                </a:solidFill>
                <a:latin typeface="微软雅黑"/>
                <a:ea typeface="微软雅黑"/>
              </a:rPr>
              <a:t>小时，请及时处理。点此直达单据详情</a:t>
            </a:r>
            <a:r>
              <a:rPr lang="en-US" sz="1125">
                <a:solidFill>
                  <a:srgbClr val="FAF9F5">
                    <a:alpha val="75000"/>
                  </a:srgbClr>
                </a:solidFill>
                <a:latin typeface="微软雅黑"/>
                <a:ea typeface="微软雅黑"/>
              </a:rPr>
              <a:t> →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72" name="" descr="&lt;Slide notes={`试点范围不是拍脑袋，是先用统计接口跑了真实数据。近 30 天：请假 25 单量最大；报销 5 单里在途 5 单——注意，全部滞留，没有一单批完，平均耗时都是空的；会议室预定 5 单在途 4 单。所以试点就选这三类。报销那组数据本身就是 AI 该上岗的证据：这种类型不监控，还监控什么？做 AI 项目，先让数据说话，再让数据选战场。跑顺之后去掉类型参数，19 类全部接入只是改一个参数的事。`}&gt;&#10;  &lt;Slide style={{ background: '#FAF9F5', padding: '20px 70px', width: 1280, height: 720 }}&gt;&#10;    &lt;Box style={{ height: 100, justifyContent: 'center' }}&gt;&#10;      &lt;Text style={{ fontFamily: '华文中宋', fontSize: 34, fontWeight: 'bold', color: '#1F1E1B' }}&gt;用数据选战场&lt;/Text&gt;&#10;    &lt;/Box&gt;&#10;    &lt;Box style={{ flexDirection: 'row', height: 540, gap: 44 }}&gt;&#10;      &lt;Box style={{ flex: 11, justifyContent: 'center' }}&gt;&#10;        &lt;Box style={{ flexDirection: 'row', padding: '12px 20px' }}&gt;&#10;          &lt;Text style={{ fontFamily: '微软雅黑', fontSize: 14, color: '#A9A294', flex: 1 }}&gt;审批类型&lt;/Text&gt;&#10;          &lt;Text style={{ fontFamily: '微软雅黑', fontSize: 14, color: '#A9A294', width: 110, textAlign: 'right' }}&gt;30 天单量&lt;/Text&gt;&#10;          &lt;Text style={{ fontFamily: '微软雅黑', fontSize: 14, color: '#A9A294', width: 90, textAlign: 'right' }}&gt;在途&lt;/Text&gt;&#10;          &lt;Text style={{ fontFamily: '微软雅黑', fontSize: 14, color: '#A9A294', width: 120, textAlign: 'right' }}&gt;平均耗时&lt;/Text&gt;&#10;        &lt;/Box&gt;&#10;        &lt;Box style={{ flexDirection: 'row', padding: '18px 20px', background: 'rgba(31,30,27,0.04)', borderRadius: 10, alignItems: 'center', marginBottom: 10 }}&gt;&#10;          &lt;Text style={{ fontFamily: '微软雅黑', fontSize: 20, fontWeight: 'bold', color: '#1F1E1B', flex: 1 }}&gt;请假&lt;/Text&gt;&#10;          &lt;Text style={{ fontFamily: '华文中宋', fontSize: 28, fontWeight: 'bold', color: '#1F1E1B', width: 110, textAlign: 'right' }}&gt;25&lt;/Text&gt;&#10;          &lt;Text style={{ fontFamily: '华文中宋', fontSize: 28, fontWeight: 'bold', color: '#1F1E1B', width: 90, textAlign: 'right' }}&gt;8&lt;/Text&gt;&#10;          &lt;Text style={{ fontFamily: '微软雅黑', fontSize: 17, color: '#A9A294', width: 120, textAlign: 'right' }}&gt;23.6h&lt;/Text&gt;&#10;        &lt;/Box&gt;&#10;        &lt;Box style={{ flexDirection: 'row', padding: '18px 20px', background: 'rgba(217,119,87,0.12)', borderLeft: '3px solid #D97757', borderRadius: 10, alignItems: 'center', marginBottom: 10 }}&gt;&#10;          &lt;Text style={{ fontFamily: '微软雅黑', fontSize: 20, fontWeight: 'bold', color: '#D97757', flex: 1 }}&gt;报销&lt;/Text&gt;&#10;          &lt;Text style={{ fontFamily: '华文中宋', fontSize: 28, fontWeight: 'bold', color: '#D97757', width: 110, textAlign: 'right' }}&gt;5&lt;/Text&gt;&#10;          &lt;Text style={{ fontFamily: '华文中宋', fontSize: 28, fontWeight: 'bold', color: '#D97757', width: 90, textAlign: 'right' }}&gt;5&lt;/Text&gt;&#10;          &lt;Text style={{ fontFamily: '微软雅黑', fontSize: 17, fontWeight: 'bold', color: '#D97757', width: 120, textAlign: 'right' }}&gt;全部滞留&lt;/Text&gt;&#10;        &lt;/Box&gt;&#10;        &lt;Box style={{ flexDirection: 'row', padding: '18px 20px', background: 'rgba(31,30,27,0.04)', borderRadius: 10, alignItems: 'center' }}&gt;&#10;          &lt;Text style={{ fontFamily: '微软雅黑', fontSize: 20, fontWeight: 'bold', color: '#1F1E1B', flex: 1 }}&gt;会议室预定&lt;/Text&gt;&#10;          &lt;Text style={{ fontFamily: '华文中宋', fontSize: 28, fontWeight: 'bold', color: '#1F1E1B', width: 110, textAlign: 'right' }}&gt;5&lt;/Text&gt;&#10;          &lt;Text style={{ fontFamily: '华文中宋', fontSize: 28, fontWeight: 'bold', color: '#1F1E1B', width: 90, textAlign: 'right' }}&gt;4&lt;/Text&gt;&#10;          &lt;Text style={{ fontFamily: '微软雅黑', fontSize: 17, color: '#A9A294', width: 120, textAlign: 'right' }}&gt;23.0h&lt;/Text&gt;&#10;        &lt;/Box&gt;&#10;        &lt;Text style={{ fontFamily: '微软雅黑', fontSize: 14, color: '#A9A294', marginTop: 18 }}&gt;数据口径：approve_stats?days=30 实测 · 2026-09-09&lt;/Text&gt;&#10;      &lt;/Box&gt;&#10;      &lt;Box style={{ flex: 9, flexDirection: 'column', justifyContent: 'center', gap: 16 }}&gt;&#10;        &lt;Text style={{ fontFamily: '华文中宋', fontSize: 120, fontWeight: 'bold', color: '#D97757', lineHeight: 1 }}&gt;5/5&lt;/Text&gt;&#10;        &lt;Text style={{ fontFamily: '微软雅黑', fontSize: 22, fontWeight: 'bold', color: '#1F1E1B' }}&gt;报销单全部滞留在途&lt;/Text&gt;&#10;        &lt;Text style={{ fontFamily: '微软雅黑', fontSize: 17, color: '#A9A294', lineHeight: 1.6 }}&gt;无一完结、无一驳回——&lt;span style={{ color: '#1F1E1B', fontWeight: 'bold' }}&gt;最需要监控的类型&lt;/span&gt;，这就是 AI 上岗的证据&lt;/Text&gt;&#10;        &lt;Box style={{ padding: '14px 18px', background: 'rgba(217,119,87,0.08)', borderLeft: '3px solid #D97757', borderRadius: 8 }}&gt;&#10;          &lt;Text style={{ fontFamily: '微软雅黑', fontSize: 15, color: '#1F1E1B', lineHeight: 1.5 }}&gt;试点参数 &lt;span style={{ fontWeight: 'bold' }}&gt;type=leaves,expense,meetings&lt;/span&gt;&lt;br /&gt;跑顺后去掉参数 → 19 类全量接入&lt;/Text&gt;&#10;        &lt;/Box&gt;&#10;      &lt;/Box&gt;&#10;    &lt;/Box&gt;&#10;    &lt;Box style={{ height: 40, flexDirection: 'row', justifyContent: 'space-between', alignItems: 'center' }}&gt;&#10;      &lt;Text style={{ fontFamily: '微软雅黑', fontSize: 13, color: '#A9A294' }}&gt;当 OA 遇上 AI 数字员工 · 内部教学&lt;/Text&gt;&#10;      &lt;Text style={{ fontFamily: '微软雅黑', fontSize: 13, color: '#A9A294' }}&gt;12 / 16&lt;/Text&gt;&#10;    &lt;/Box&gt;&#10;  &lt;/Slide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用数据选战场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57250" y="2371725"/>
            <a:ext cx="2314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审批类型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3171825" y="2371725"/>
            <a:ext cx="104775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30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天单量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219575" y="2371725"/>
            <a:ext cx="85725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在途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076825" y="2371725"/>
            <a:ext cx="114300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平均耗时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666750" y="2647950"/>
            <a:ext cx="5743575" cy="666750"/>
          </a:xfrm>
          <a:prstGeom prst="roundRect">
            <a:avLst>
              <a:gd name="adj" fmla="val 14286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57250" y="2867025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1E1B"/>
                </a:solidFill>
                <a:latin typeface="微软雅黑"/>
                <a:ea typeface="微软雅黑"/>
              </a:rPr>
              <a:t>请假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3171825" y="2819400"/>
            <a:ext cx="1047750" cy="3238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00" b="1">
                <a:solidFill>
                  <a:srgbClr val="1F1E1B"/>
                </a:solidFill>
                <a:latin typeface="华文中宋"/>
                <a:ea typeface="华文中宋"/>
              </a:rPr>
              <a:t>25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219575" y="2819400"/>
            <a:ext cx="857250" cy="3238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00" b="1">
                <a:solidFill>
                  <a:srgbClr val="1F1E1B"/>
                </a:solidFill>
                <a:latin typeface="华文中宋"/>
                <a:ea typeface="华文中宋"/>
              </a:rPr>
              <a:t>8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076825" y="2886075"/>
            <a:ext cx="11430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A9A294"/>
                </a:solidFill>
                <a:latin typeface="微软雅黑"/>
                <a:ea typeface="微软雅黑"/>
              </a:rPr>
              <a:t>23.6h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95325" y="3409950"/>
            <a:ext cx="5743575" cy="666750"/>
          </a:xfrm>
          <a:prstGeom prst="roundRect">
            <a:avLst>
              <a:gd name="adj" fmla="val 14286"/>
            </a:avLst>
          </a:prstGeom>
          <a:solidFill>
            <a:srgbClr val="D97757">
              <a:alpha val="12000"/>
            </a:srgbClr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695325" y="3409950"/>
            <a:ext cx="5743575" cy="666750"/>
          </a:xfrm>
          <a:custGeom>
            <a:pathLst>
              <a:path w="603" h="70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63"/>
                </a:lnTo>
                <a:cubicBezTo>
                  <a:pt x="3" y="66"/>
                  <a:pt x="5" y="69"/>
                  <a:pt x="8" y="70"/>
                </a:cubicBezTo>
                <a:cubicBezTo>
                  <a:pt x="3" y="69"/>
                  <a:pt x="0" y="65"/>
                  <a:pt x="0" y="6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7757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85825" y="3629025"/>
            <a:ext cx="2286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D97757"/>
                </a:solidFill>
                <a:latin typeface="微软雅黑"/>
                <a:ea typeface="微软雅黑"/>
              </a:rPr>
              <a:t>报销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3171825" y="3581400"/>
            <a:ext cx="1047750" cy="3238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00" b="1">
                <a:solidFill>
                  <a:srgbClr val="D97757"/>
                </a:solidFill>
                <a:latin typeface="华文中宋"/>
                <a:ea typeface="华文中宋"/>
              </a:rPr>
              <a:t>5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219575" y="3581400"/>
            <a:ext cx="857250" cy="3238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00" b="1">
                <a:solidFill>
                  <a:srgbClr val="D97757"/>
                </a:solidFill>
                <a:latin typeface="华文中宋"/>
                <a:ea typeface="华文中宋"/>
              </a:rPr>
              <a:t>5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076825" y="3648075"/>
            <a:ext cx="11430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275" b="1">
                <a:solidFill>
                  <a:srgbClr val="D97757"/>
                </a:solidFill>
                <a:latin typeface="微软雅黑"/>
                <a:ea typeface="微软雅黑"/>
              </a:rPr>
              <a:t>全部滞留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666750" y="4171950"/>
            <a:ext cx="5743575" cy="666750"/>
          </a:xfrm>
          <a:prstGeom prst="roundRect">
            <a:avLst>
              <a:gd name="adj" fmla="val 14286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57250" y="4391025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1E1B"/>
                </a:solidFill>
                <a:latin typeface="微软雅黑"/>
                <a:ea typeface="微软雅黑"/>
              </a:rPr>
              <a:t>会议室预定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3171825" y="4343400"/>
            <a:ext cx="1047750" cy="3238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00" b="1">
                <a:solidFill>
                  <a:srgbClr val="1F1E1B"/>
                </a:solidFill>
                <a:latin typeface="华文中宋"/>
                <a:ea typeface="华文中宋"/>
              </a:rPr>
              <a:t>5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219575" y="4343400"/>
            <a:ext cx="857250" cy="3238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00" b="1">
                <a:solidFill>
                  <a:srgbClr val="1F1E1B"/>
                </a:solidFill>
                <a:latin typeface="华文中宋"/>
                <a:ea typeface="华文中宋"/>
              </a:rPr>
              <a:t>4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5076825" y="4410075"/>
            <a:ext cx="11430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A9A294"/>
                </a:solidFill>
                <a:latin typeface="微软雅黑"/>
                <a:ea typeface="微软雅黑"/>
              </a:rPr>
              <a:t>23.0h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66750" y="5010150"/>
            <a:ext cx="5743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数据口径：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approve_stats?days=30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实测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 · 2026-09-09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829425" y="1971675"/>
            <a:ext cx="4695825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D97757"/>
                </a:solidFill>
                <a:latin typeface="华文中宋"/>
                <a:ea typeface="华文中宋"/>
              </a:rPr>
              <a:t>5/5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829425" y="3495675"/>
            <a:ext cx="4695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1E1B"/>
                </a:solidFill>
                <a:latin typeface="微软雅黑"/>
                <a:ea typeface="微软雅黑"/>
              </a:rPr>
              <a:t>报销单全部滞留在途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829425" y="3905250"/>
            <a:ext cx="46958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A9A294"/>
                </a:solidFill>
                <a:latin typeface="微软雅黑"/>
                <a:ea typeface="微软雅黑"/>
              </a:rPr>
              <a:t>无一完结、无一驳回——</a:t>
            </a:r>
            <a:r>
              <a:rPr lang="zh-CN" sz="1275" b="1">
                <a:solidFill>
                  <a:srgbClr val="1F1E1B"/>
                </a:solidFill>
                <a:latin typeface="微软雅黑"/>
                <a:ea typeface="微软雅黑"/>
              </a:rPr>
              <a:t>最需要监控的类型</a:t>
            </a:r>
            <a:r>
              <a:rPr lang="zh-CN" sz="1275">
                <a:solidFill>
                  <a:srgbClr val="A9A294"/>
                </a:solidFill>
                <a:latin typeface="微软雅黑"/>
                <a:ea typeface="微软雅黑"/>
              </a:rPr>
              <a:t>，这就是</a:t>
            </a:r>
            <a:r>
              <a:rPr lang="en-US" sz="12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1275">
                <a:solidFill>
                  <a:srgbClr val="A9A294"/>
                </a:solidFill>
                <a:latin typeface="微软雅黑"/>
                <a:ea typeface="微软雅黑"/>
              </a:rPr>
              <a:t>上岗的证据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6858000" y="4686300"/>
            <a:ext cx="4695825" cy="781050"/>
          </a:xfrm>
          <a:prstGeom prst="roundRect">
            <a:avLst>
              <a:gd name="adj" fmla="val 9756"/>
            </a:avLst>
          </a:prstGeom>
          <a:solidFill>
            <a:srgbClr val="D97757">
              <a:alpha val="8000"/>
            </a:srgbClr>
          </a:solidFill>
          <a:ln/>
        </p:spPr>
        <p:txBody>
          <a:bodyPr/>
          <a:p/>
        </p:txBody>
      </p:sp>
      <p:sp>
        <p:nvSpPr>
          <p:cNvPr id="100" name=""/>
          <p:cNvSpPr/>
          <p:nvPr/>
        </p:nvSpPr>
        <p:spPr>
          <a:xfrm rot="0" flipH="0" flipV="0">
            <a:off x="6858000" y="4686300"/>
            <a:ext cx="4695825" cy="781050"/>
          </a:xfrm>
          <a:custGeom>
            <a:pathLst>
              <a:path w="493" h="8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77"/>
                </a:lnTo>
                <a:cubicBezTo>
                  <a:pt x="3" y="79"/>
                  <a:pt x="5" y="81"/>
                  <a:pt x="7" y="82"/>
                </a:cubicBezTo>
                <a:cubicBezTo>
                  <a:pt x="3" y="81"/>
                  <a:pt x="0" y="78"/>
                  <a:pt x="0" y="7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7757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029450" y="4819650"/>
            <a:ext cx="43243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试点参数</a:t>
            </a:r>
            <a:r>
              <a:rPr lang="en-US" sz="1125">
                <a:solidFill>
                  <a:srgbClr val="1F1E1B"/>
                </a:solidFill>
                <a:latin typeface="微软雅黑"/>
                <a:ea typeface="微软雅黑"/>
              </a:rPr>
              <a:t> </a:t>
            </a:r>
            <a:r>
              <a:rPr lang="en-US" sz="1125" b="1">
                <a:solidFill>
                  <a:srgbClr val="1F1E1B"/>
                </a:solidFill>
                <a:latin typeface="微软雅黑"/>
                <a:ea typeface="微软雅黑"/>
              </a:rPr>
              <a:t>type=leaves,expense,meetings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跑顺后去掉参数</a:t>
            </a:r>
            <a:r>
              <a:rPr lang="en-US" sz="1125">
                <a:solidFill>
                  <a:srgbClr val="1F1E1B"/>
                </a:solidFill>
                <a:latin typeface="微软雅黑"/>
                <a:ea typeface="微软雅黑"/>
              </a:rPr>
              <a:t> → 19 </a:t>
            </a: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类全量接入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12 / 16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04" name="" descr="&lt;Slide notes={`这一页比前面所有页都值钱。四个坑对应 AI 对接真实系统的四大经典死法：鉴权——老代码的 Session 检查先于 JWT 执行，AI 被请先登录，教训是鉴权测试必须用无 cookie 的干净环境；参数——nginx 配置丢了一个变量，问七天的参数被悄悄吞掉，接口不报错只是假装正常，教训是能用不等于参数生效；网络——服务器本机怎么测都通，OpenClaw 全超时，靠分层排查法定位到出口策略；稳定性——穿透节点一天断连 41 次，加上三次重试后成功率从 83% 提到 99.5%。每一坑都是时间成本换来的，今天免费送给大家。`}&gt;&#10;  &lt;Slide style={{ background: '#FAF9F5', padding: '20px 70px', width: 1280, height: 720 }}&gt;&#10;    &lt;Box style={{ height: 100, justifyContent: 'center' }}&gt;&#10;      &lt;Text style={{ fontFamily: '华文中宋', fontSize: 34, fontWeight: 'bold', color: '#1F1E1B' }}&gt;彩蛋 · 我们踩过的四个坑&lt;span style={{ color: '#A9A294', fontSize: 18 }}&gt;（最有含金量的一页）&lt;/span&gt;&lt;/Text&gt;&#10;    &lt;/Box&gt;&#10;    &lt;Box style={{ flexDirection: 'row', height: 540, gap: 16 }}&gt;&#10;      &lt;Box style={{ flex: 1, flexDirection: 'column', gap: 16 }}&gt;&#10;        &lt;Box style={{ flex: 1, padding: '20px 24px', background: 'rgba(31,30,27,0.04)', borderRadius: 14 }}&gt;&#10;          &lt;Box style={{ flexDirection: 'row', alignItems: 'center', gap: 10 }}&gt;&#10;            &lt;Text style={{ fontFamily: '华文中宋', fontSize: 26, fontWeight: 'bold', color: '#D97757' }}&gt;01&lt;/Text&gt;&#10;            &lt;Text style={{ fontFamily: '微软雅黑', fontSize: 19, fontWeight: 'bold', color: '#1F1E1B' }}&gt;被拦在门外&lt;/Text&gt;&#10;          &lt;/Box&gt;&#10;          &lt;Text style={{ fontFamily: '微软雅黑', fontSize: 14, color: '#1F1E1B', marginTop: 10, lineHeight: 1.55 }}&gt;症状：AI 调接口被回「请先登录」&lt;br /&gt;根因：老代码 Session 检查先于 JWT 执行&lt;br /&gt;解法：新接口层跳过 Session 检查&lt;/Text&gt;&#10;          &lt;Text style={{ fontFamily: '微软雅黑', fontSize: 14, color: '#D97757', marginTop: 10, lineHeight: 1.5 }}&gt;教训：鉴权测试必须用无 cookie 的干净环境&lt;/Text&gt;&#10;        &lt;/Box&gt;&#10;        &lt;Box style={{ flex: 1, padding: '20px 24px', background: 'rgba(31,30,27,0.04)', borderRadius: 14 }}&gt;&#10;          &lt;Box style={{ flexDirection: 'row', alignItems: 'center', gap: 10 }}&gt;&#10;            &lt;Text style={{ fontFamily: '华文中宋', fontSize: 26, fontWeight: 'bold', color: '#D97757' }}&gt;02&lt;/Text&gt;&#10;            &lt;Text style={{ fontFamily: '微软雅黑', fontSize: 19, fontWeight: 'bold', color: '#1F1E1B' }}&gt;参数悄悄失效&lt;/Text&gt;&#10;          &lt;/Box&gt;&#10;          &lt;Text style={{ fontFamily: '微软雅黑', fontSize: 14, color: '#1F1E1B', marginTop: 10, lineHeight: 1.55 }}&gt;症状：「查近 7 天」返回的是全部 30 天&lt;br /&gt;根因：nginx 配置丢了 query 参数，接口不报错&lt;br /&gt;解法：补上参数透传并热重载&lt;/Text&gt;&#10;          &lt;Text style={{ fontFamily: '微软雅黑', fontSize: 14, color: '#D97757', marginTop: 10, lineHeight: 1.5 }}&gt;教训：「能用」≠「参数生效」，每个参数都实测&lt;/Text&gt;&#10;        &lt;/Box&gt;&#10;      &lt;/Box&gt;&#10;      &lt;Box style={{ flex: 1, flexDirection: 'column', gap: 16 }}&gt;&#10;        &lt;Box style={{ flex: 1, padding: '20px 24px', background: 'rgba(31,30,27,0.04)', borderRadius: 14 }}&gt;&#10;          &lt;Box style={{ flexDirection: 'row', alignItems: 'center', gap: 10 }}&gt;&#10;            &lt;Text style={{ fontFamily: '华文中宋', fontSize: 26, fontWeight: 'bold', color: '#D97757' }}&gt;03&lt;/Text&gt;&#10;            &lt;Text style={{ fontFamily: '微软雅黑', fontSize: 19, fontWeight: 'bold', color: '#1F1E1B' }}&gt;本机正常 ≠ 外网通&lt;/Text&gt;&#10;          &lt;/Box&gt;&#10;          &lt;Text style={{ fontFamily: '微软雅黑', fontSize: 14, color: '#1F1E1B', marginTop: 10, lineHeight: 1.55 }}&gt;症状：服务器怎么测都通，AI 平台全超时&lt;br /&gt;根因：出口代理策略分层拦截，与服务无关&lt;br /&gt;解法：代理→端口→域名→服务，逐层排查&lt;/Text&gt;&#10;          &lt;Text style={{ fontFamily: '微软雅黑', fontSize: 14, color: '#D97757', marginTop: 10, lineHeight: 1.5 }}&gt;教训：跨网络调用，每一层单独验证&lt;/Text&gt;&#10;        &lt;/Box&gt;&#10;        &lt;Box style={{ flex: 1, padding: '20px 24px', background: '#1F1E1B', borderRadius: 14 }}&gt;&#10;          &lt;Box style={{ flexDirection: 'row', alignItems: 'center', gap: 10 }}&gt;&#10;            &lt;Text style={{ fontFamily: '华文中宋', fontSize: 26, fontWeight: 'bold', color: '#D97757' }}&gt;04&lt;/Text&gt;&#10;            &lt;Text style={{ fontFamily: '微软雅黑', fontSize: 19, fontWeight: 'bold', color: '#FAF9F5' }}&gt;链路间歇抖动&lt;/Text&gt;&#10;          &lt;/Box&gt;&#10;          &lt;Text style={{ fontFamily: '微软雅黑', fontSize: 14, color: '#FAF9F5', opacity: 0.85, marginTop: 10, lineHeight: 1.55 }}&gt;症状：穿透链路一天断连 41 次，6 连测失败 1 次&lt;br /&gt;根因：内网穿透节点不稳定，与服务无关&lt;br /&gt;解法：AI 侧失败自动重试 3 次（间隔 3-5 秒）&lt;/Text&gt;&#10;          &lt;Text style={{ fontFamily: '微软雅黑', fontSize: 14, color: '#D97757', marginTop: 10, lineHeight: 1.5 }}&gt;教训：重试是 AI 调外部系统的必选项，83% → 99.5%&lt;/Text&gt;&#10;        &lt;/Box&gt;&#10;      &lt;/Box&gt;&#10;    &lt;/Box&gt;&#10;    &lt;Box style={{ height: 40, flexDirection: 'row', justifyContent: 'space-between', alignItems: 'center' }}&gt;&#10;      &lt;Text style={{ fontFamily: '微软雅黑', fontSize: 13, color: '#A9A294' }}&gt;当 OA 遇上 AI 数字员工 · 内部教学&lt;/Text&gt;&#10;      &lt;Text style={{ fontFamily: '微软雅黑', fontSize: 13, color: '#A9A294' }}&gt;13 / 16&lt;/Text&gt;&#10;    &lt;/Box&gt;&#10;  &lt;/Slide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彩蛋</a:t>
            </a:r>
            <a:r>
              <a:rPr lang="en-US" sz="2550" b="1">
                <a:solidFill>
                  <a:srgbClr val="1F1E1B"/>
                </a:solidFill>
                <a:latin typeface="华文中宋"/>
                <a:ea typeface="华文中宋"/>
              </a:rPr>
              <a:t> · </a:t>
            </a: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我们踩过的四个坑</a:t>
            </a:r>
            <a:r>
              <a:rPr lang="zh-CN" sz="1350" b="1">
                <a:solidFill>
                  <a:srgbClr val="A9A294"/>
                </a:solidFill>
                <a:latin typeface="华文中宋"/>
                <a:ea typeface="华文中宋"/>
              </a:rPr>
              <a:t>（最有含金量的一页）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666750" y="1143000"/>
            <a:ext cx="5353050" cy="2495550"/>
          </a:xfrm>
          <a:prstGeom prst="roundRect">
            <a:avLst>
              <a:gd name="adj" fmla="val 5344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95350" y="1333500"/>
            <a:ext cx="323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D97757"/>
                </a:solidFill>
                <a:latin typeface="华文中宋"/>
                <a:ea typeface="华文中宋"/>
              </a:rPr>
              <a:t>01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314450" y="1381125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E1B"/>
                </a:solidFill>
                <a:latin typeface="微软雅黑"/>
                <a:ea typeface="微软雅黑"/>
              </a:rPr>
              <a:t>被拦在门外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95350" y="1733550"/>
            <a:ext cx="4895850" cy="7524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症状：</a:t>
            </a: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调接口被回「请先登录」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根因：老代码</a:t>
            </a: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 Session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检查先于</a:t>
            </a: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 JWT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执行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解法：新接口层跳过</a:t>
            </a: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 Session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检查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95350" y="2581275"/>
            <a:ext cx="4895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D97757"/>
                </a:solidFill>
                <a:latin typeface="微软雅黑"/>
                <a:ea typeface="微软雅黑"/>
              </a:rPr>
              <a:t>教训：鉴权测试必须用无</a:t>
            </a:r>
            <a:r>
              <a:rPr lang="en-US" sz="1050">
                <a:solidFill>
                  <a:srgbClr val="D97757"/>
                </a:solidFill>
                <a:latin typeface="微软雅黑"/>
                <a:ea typeface="微软雅黑"/>
              </a:rPr>
              <a:t> cookie </a:t>
            </a:r>
            <a:r>
              <a:rPr lang="zh-CN" sz="1050">
                <a:solidFill>
                  <a:srgbClr val="D97757"/>
                </a:solidFill>
                <a:latin typeface="微软雅黑"/>
                <a:ea typeface="微软雅黑"/>
              </a:rPr>
              <a:t>的干净环境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666750" y="3790950"/>
            <a:ext cx="5353050" cy="2495550"/>
          </a:xfrm>
          <a:prstGeom prst="roundRect">
            <a:avLst>
              <a:gd name="adj" fmla="val 5344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95350" y="3981450"/>
            <a:ext cx="323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D97757"/>
                </a:solidFill>
                <a:latin typeface="华文中宋"/>
                <a:ea typeface="华文中宋"/>
              </a:rPr>
              <a:t>02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314450" y="4029075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E1B"/>
                </a:solidFill>
                <a:latin typeface="微软雅黑"/>
                <a:ea typeface="微软雅黑"/>
              </a:rPr>
              <a:t>参数悄悄失效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95350" y="4381500"/>
            <a:ext cx="4895850" cy="7524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症状：「查近</a:t>
            </a: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 7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天」返回的是全部</a:t>
            </a: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 30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天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根因：</a:t>
            </a: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nginx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配置丢了</a:t>
            </a: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 query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参数，接口不报错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解法：补上参数透传并热重载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95350" y="5229225"/>
            <a:ext cx="4895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D97757"/>
                </a:solidFill>
                <a:latin typeface="微软雅黑"/>
                <a:ea typeface="微软雅黑"/>
              </a:rPr>
              <a:t>教训：「能用」≠「参数生效」，每个参数都实测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6172200" y="1143000"/>
            <a:ext cx="5353050" cy="2495550"/>
          </a:xfrm>
          <a:prstGeom prst="roundRect">
            <a:avLst>
              <a:gd name="adj" fmla="val 5344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400800" y="1333500"/>
            <a:ext cx="323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D97757"/>
                </a:solidFill>
                <a:latin typeface="华文中宋"/>
                <a:ea typeface="华文中宋"/>
              </a:rPr>
              <a:t>03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819900" y="1381125"/>
            <a:ext cx="1533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E1B"/>
                </a:solidFill>
                <a:latin typeface="微软雅黑"/>
                <a:ea typeface="微软雅黑"/>
              </a:rPr>
              <a:t>本机正常</a:t>
            </a:r>
            <a:r>
              <a:rPr lang="en-US" sz="1425" b="1">
                <a:solidFill>
                  <a:srgbClr val="1F1E1B"/>
                </a:solidFill>
                <a:latin typeface="微软雅黑"/>
                <a:ea typeface="微软雅黑"/>
              </a:rPr>
              <a:t> ≠ </a:t>
            </a:r>
            <a:r>
              <a:rPr lang="zh-CN" sz="1425" b="1">
                <a:solidFill>
                  <a:srgbClr val="1F1E1B"/>
                </a:solidFill>
                <a:latin typeface="微软雅黑"/>
                <a:ea typeface="微软雅黑"/>
              </a:rPr>
              <a:t>外网通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400800" y="1733550"/>
            <a:ext cx="4895850" cy="7524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症状：服务器怎么测都通，</a:t>
            </a:r>
            <a:r>
              <a:rPr lang="en-US" sz="1050">
                <a:solidFill>
                  <a:srgbClr val="1F1E1B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平台全超时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根因：出口代理策略分层拦截，与服务无关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1F1E1B"/>
                </a:solidFill>
                <a:latin typeface="微软雅黑"/>
                <a:ea typeface="微软雅黑"/>
              </a:rPr>
              <a:t>解法：代理→端口→域名→服务，逐层排查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400800" y="2581275"/>
            <a:ext cx="4895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D97757"/>
                </a:solidFill>
                <a:latin typeface="微软雅黑"/>
                <a:ea typeface="微软雅黑"/>
              </a:rPr>
              <a:t>教训：跨网络调用，每一层单独验证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172200" y="3790950"/>
            <a:ext cx="5353050" cy="2495550"/>
          </a:xfrm>
          <a:prstGeom prst="roundRect">
            <a:avLst>
              <a:gd name="adj" fmla="val 5344"/>
            </a:avLst>
          </a:prstGeom>
          <a:solidFill>
            <a:srgbClr val="1F1E1B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400800" y="3981450"/>
            <a:ext cx="323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D97757"/>
                </a:solidFill>
                <a:latin typeface="华文中宋"/>
                <a:ea typeface="华文中宋"/>
              </a:rPr>
              <a:t>04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819900" y="4029075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AF9F5"/>
                </a:solidFill>
                <a:latin typeface="微软雅黑"/>
                <a:ea typeface="微软雅黑"/>
              </a:rPr>
              <a:t>链路间歇抖动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400800" y="5229225"/>
            <a:ext cx="4895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D97757"/>
                </a:solidFill>
                <a:latin typeface="微软雅黑"/>
                <a:ea typeface="微软雅黑"/>
              </a:rPr>
              <a:t>教训：重试是</a:t>
            </a:r>
            <a:r>
              <a:rPr lang="en-US" sz="1050">
                <a:solidFill>
                  <a:srgbClr val="D97757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D97757"/>
                </a:solidFill>
                <a:latin typeface="微软雅黑"/>
                <a:ea typeface="微软雅黑"/>
              </a:rPr>
              <a:t>调外部系统的必选项，</a:t>
            </a:r>
            <a:r>
              <a:rPr lang="en-US" sz="1050">
                <a:solidFill>
                  <a:srgbClr val="D97757"/>
                </a:solidFill>
                <a:latin typeface="微软雅黑"/>
                <a:ea typeface="微软雅黑"/>
              </a:rPr>
              <a:t>83% → 99.5%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13 / 16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400800" y="4381500"/>
            <a:ext cx="4895850" cy="7524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症状：穿透链路一天断连</a:t>
            </a:r>
            <a:r>
              <a:rPr lang="en-US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 41 </a:t>
            </a:r>
            <a:r>
              <a:rPr lang="zh-CN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次，</a:t>
            </a:r>
            <a:r>
              <a:rPr lang="en-US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6 </a:t>
            </a:r>
            <a:r>
              <a:rPr lang="zh-CN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连测失败</a:t>
            </a:r>
            <a:r>
              <a:rPr lang="en-US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次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根因：内网穿透节点不稳定，与服务无关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解法：</a:t>
            </a:r>
            <a:r>
              <a:rPr lang="en-US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侧失败自动重试</a:t>
            </a:r>
            <a:r>
              <a:rPr lang="en-US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 3 </a:t>
            </a:r>
            <a:r>
              <a:rPr lang="zh-CN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次（间隔</a:t>
            </a:r>
            <a:r>
              <a:rPr lang="en-US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 3-5 </a:t>
            </a:r>
            <a:r>
              <a:rPr lang="zh-CN" sz="1050">
                <a:solidFill>
                  <a:srgbClr val="FAF9F5">
                    <a:alpha val="85000"/>
                  </a:srgbClr>
                </a:solidFill>
                <a:latin typeface="微软雅黑"/>
                <a:ea typeface="微软雅黑"/>
              </a:rPr>
              <a:t>秒）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29" name="" descr="&lt;Slide notes={`下面不念 PPT 了，直接看真系统跑。三个动作：第一查，跟 OpenClaw 说一句话，拉出全公司在途审批，六张高危单一目了然；第二催，让 AI 催一张真实的滞留单，然后切到 OA 页面看站内信实时到达；第三报，让 AI 出一份本周审批健康度报告，公告栏马上出现。如果现场网络抖——前面讲过我们的链路有概率抽风——我就切本地链路演示，效果完全一样。`}&gt;&#10;  &lt;Slide style={{ background: '#FAF9F5', padding: '20px 70px', width: 1280, height: 720 }}&gt;&#10;    &lt;Box style={{ height: 100, justifyContent: 'center' }}&gt;&#10;      &lt;Text style={{ fontFamily: '华文中宋', fontSize: 34, fontWeight: 'bold', color: '#1F1E1B' }}&gt;现场演示：查 · 催 · 报&lt;/Text&gt;&#10;    &lt;/Box&gt;&#10;    &lt;Box style={{ flexDirection: 'row', height: 540, gap: 44 }}&gt;&#10;      &lt;Box style={{ flex: 1, flexDirection: 'column', justifyContent: 'center', gap: 26 }}&gt;&#10;        &lt;Box style={{ flexDirection: 'row', gap: 18, alignItems: 'flex-start' }}&gt;&#10;          &lt;Box style={{ width: 52, height: 52, borderRadius: 14, background: 'rgba(217,119,87,0.1)', justifyContent: 'center', alignItems: 'center' }}&gt;&#10;            &lt;FAIcon name=&quot;search&quot; style={{ fill: '#D97757', width: 26, height: 26 }} /&gt;&#10;          &lt;/Box&gt;&#10;          &lt;Box style={{ flex: 1 }}&gt;&#10;            &lt;Text style={{ fontFamily: '微软雅黑', fontSize: 21, fontWeight: 'bold', color: '#1F1E1B' }}&gt;查&lt;/Text&gt;&#10;            &lt;Text style={{ fontFamily: '微软雅黑', fontSize: 15, color: '#A9A294', marginTop: 4, lineHeight: 1.5 }}&gt;对 OpenClaw 说一句话，拉出全公司在途审批，6 张高危单高亮&lt;/Text&gt;&#10;          &lt;/Box&gt;&#10;        &lt;/Box&gt;&#10;        &lt;Box style={{ flexDirection: 'row', gap: 18, alignItems: 'flex-start' }}&gt;&#10;          &lt;Box style={{ width: 52, height: 52, borderRadius: 14, background: 'rgba(217,119,87,0.1)', justifyContent: 'center', alignItems: 'center' }}&gt;&#10;            &lt;FAIcon name=&quot;bullhorn&quot; style={{ fill: '#D97757', width: 26, height: 26 }} /&gt;&#10;          &lt;/Box&gt;&#10;          &lt;Box style={{ flex: 1 }}&gt;&#10;            &lt;Text style={{ fontFamily: '微软雅黑', fontSize: 21, fontWeight: 'bold', color: '#1F1E1B' }}&gt;催&lt;/Text&gt;&#10;            &lt;Text style={{ fontFamily: '微软雅黑', fontSize: 15, color: '#A9A294', marginTop: 4, lineHeight: 1.5 }}&gt;让 AI 催一张真实滞留单 → 切 OA 页面看站内信实时到达&lt;/Text&gt;&#10;          &lt;/Box&gt;&#10;        &lt;/Box&gt;&#10;        &lt;Box style={{ flexDirection: 'row', gap: 18, alignItems: 'flex-start' }}&gt;&#10;          &lt;Box style={{ width: 52, height: 52, borderRadius: 14, background: 'rgba(217,119,87,0.1)', justifyContent: 'center', alignItems: 'center' }}&gt;&#10;            &lt;FAIcon name=&quot;file-text&quot; style={{ fill: '#D97757', width: 26, height: 26 }} /&gt;&#10;          &lt;/Box&gt;&#10;          &lt;Box style={{ flex: 1 }}&gt;&#10;            &lt;Text style={{ fontFamily: '微软雅黑', fontSize: 21, fontWeight: 'bold', color: '#1F1E1B' }}&gt;报&lt;/Text&gt;&#10;            &lt;Text style={{ fontFamily: '微软雅黑', fontSize: 15, color: '#A9A294', marginTop: 4, lineHeight: 1.5 }}&gt;AI 生成本周健康度报告 → 公告栏实时发布&lt;/Text&gt;&#10;          &lt;/Box&gt;&#10;        &lt;/Box&gt;&#10;        &lt;Box style={{ flexDirection: 'row', gap: 10, alignItems: 'center', padding: '14px 18px', background: 'rgba(31,30,27,0.04)', borderRadius: 10 }}&gt;&#10;          &lt;FAIcon name=&quot;shield&quot; style={{ fill: '#A9A294', width: 20, height: 20 }} /&gt;&#10;          &lt;Text style={{ fontFamily: '微软雅黑', fontSize: 14, color: '#A9A294', lineHeight: 1.5 }}&gt;兜底预案：若现场链路抖动，切换本地 127.0.0.1:8010，效果一致&lt;/Text&gt;&#10;        &lt;/Box&gt;&#10;      &lt;/Box&gt;&#10;      &lt;Image src=&quot;assets/demo_scene.png&quot; style={{ width: 545, height: 540, objectFit: 'cover', borderRadius: 16 }} /&gt;&#10;    &lt;/Box&gt;&#10;    &lt;Box style={{ height: 40, flexDirection: 'row', justifyContent: 'space-between', alignItems: 'center' }}&gt;&#10;      &lt;Text style={{ fontFamily: '微软雅黑', fontSize: 13, color: '#A9A294' }}&gt;当 OA 遇上 AI 数字员工 · 内部教学&lt;/Text&gt;&#10;      &lt;Text style={{ fontFamily: '微软雅黑', fontSize: 13, color: '#A9A294' }}&gt;14 / 16&lt;/Text&gt;&#10;    &lt;/Box&gt;&#10;  &lt;/Slide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现场演示：查</a:t>
            </a:r>
            <a:r>
              <a:rPr lang="en-US" sz="2550" b="1">
                <a:solidFill>
                  <a:srgbClr val="1F1E1B"/>
                </a:solidFill>
                <a:latin typeface="华文中宋"/>
                <a:ea typeface="华文中宋"/>
              </a:rPr>
              <a:t> · </a:t>
            </a: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催</a:t>
            </a:r>
            <a:r>
              <a:rPr lang="en-US" sz="2550" b="1">
                <a:solidFill>
                  <a:srgbClr val="1F1E1B"/>
                </a:solidFill>
                <a:latin typeface="华文中宋"/>
                <a:ea typeface="华文中宋"/>
              </a:rPr>
              <a:t> · </a:t>
            </a: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报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66750" y="22764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D97757">
              <a:alpha val="10000"/>
            </a:srgbClr>
          </a:solidFill>
          <a:ln/>
        </p:spPr>
        <p:txBody>
          <a:bodyPr/>
          <a:p/>
        </p:txBody>
      </p:sp>
      <p:pic>
        <p:nvPicPr>
          <p:cNvPr id="1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90575" y="2400300"/>
            <a:ext cx="247650" cy="247650"/>
          </a:xfrm>
          <a:prstGeom prst="rect">
            <a:avLst/>
          </a:prstGeom>
          <a:ln/>
        </p:spPr>
      </p:pic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333500" y="2276475"/>
            <a:ext cx="45815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1E1B"/>
                </a:solidFill>
                <a:latin typeface="微软雅黑"/>
                <a:ea typeface="微软雅黑"/>
              </a:rPr>
              <a:t>查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333500" y="2562225"/>
            <a:ext cx="45815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对</a:t>
            </a:r>
            <a:r>
              <a:rPr lang="en-US" sz="1125">
                <a:solidFill>
                  <a:srgbClr val="A9A294"/>
                </a:solidFill>
                <a:latin typeface="微软雅黑"/>
                <a:ea typeface="微软雅黑"/>
              </a:rPr>
              <a:t> OpenClaw </a:t>
            </a: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说一句话，拉出全公司在途审批，</a:t>
            </a:r>
            <a:r>
              <a:rPr lang="en-US" sz="1125">
                <a:solidFill>
                  <a:srgbClr val="A9A294"/>
                </a:solidFill>
                <a:latin typeface="微软雅黑"/>
                <a:ea typeface="微软雅黑"/>
              </a:rPr>
              <a:t>6 </a:t>
            </a: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张高危单高亮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66750" y="306705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D97757">
              <a:alpha val="10000"/>
            </a:srgbClr>
          </a:solidFill>
          <a:ln/>
        </p:spPr>
        <p:txBody>
          <a:bodyPr/>
          <a:p/>
        </p:txBody>
      </p:sp>
      <p:pic>
        <p:nvPicPr>
          <p:cNvPr id="1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90575" y="3190875"/>
            <a:ext cx="247650" cy="247650"/>
          </a:xfrm>
          <a:prstGeom prst="rect">
            <a:avLst/>
          </a:prstGeom>
          <a:ln/>
        </p:spPr>
      </p:pic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333500" y="3067050"/>
            <a:ext cx="45815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1E1B"/>
                </a:solidFill>
                <a:latin typeface="微软雅黑"/>
                <a:ea typeface="微软雅黑"/>
              </a:rPr>
              <a:t>催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333500" y="3352800"/>
            <a:ext cx="45815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让</a:t>
            </a:r>
            <a:r>
              <a:rPr lang="en-US" sz="112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催一张真实滞留单</a:t>
            </a:r>
            <a:r>
              <a:rPr lang="en-US" sz="1125">
                <a:solidFill>
                  <a:srgbClr val="A9A294"/>
                </a:solidFill>
                <a:latin typeface="微软雅黑"/>
                <a:ea typeface="微软雅黑"/>
              </a:rPr>
              <a:t> → </a:t>
            </a: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切</a:t>
            </a:r>
            <a:r>
              <a:rPr lang="en-US" sz="112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页面看站内信实时到达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666750" y="38576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D97757">
              <a:alpha val="10000"/>
            </a:srgbClr>
          </a:solidFill>
          <a:ln/>
        </p:spPr>
        <p:txBody>
          <a:bodyPr/>
          <a:p/>
        </p:txBody>
      </p:sp>
      <p:pic>
        <p:nvPicPr>
          <p:cNvPr id="1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90575" y="3981450"/>
            <a:ext cx="247650" cy="247650"/>
          </a:xfrm>
          <a:prstGeom prst="rect">
            <a:avLst/>
          </a:prstGeom>
          <a:ln/>
        </p:spPr>
      </p:pic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333500" y="3857625"/>
            <a:ext cx="45815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1E1B"/>
                </a:solidFill>
                <a:latin typeface="微软雅黑"/>
                <a:ea typeface="微软雅黑"/>
              </a:rPr>
              <a:t>报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333500" y="4143375"/>
            <a:ext cx="45815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A9A294"/>
                </a:solidFill>
                <a:latin typeface="微软雅黑"/>
                <a:ea typeface="微软雅黑"/>
              </a:rPr>
              <a:t>AI </a:t>
            </a: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生成本周健康度报告</a:t>
            </a:r>
            <a:r>
              <a:rPr lang="en-US" sz="1125">
                <a:solidFill>
                  <a:srgbClr val="A9A294"/>
                </a:solidFill>
                <a:latin typeface="微软雅黑"/>
                <a:ea typeface="微软雅黑"/>
              </a:rPr>
              <a:t> → </a:t>
            </a: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公告栏实时发布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666750" y="4648200"/>
            <a:ext cx="5248275" cy="514350"/>
          </a:xfrm>
          <a:prstGeom prst="roundRect">
            <a:avLst>
              <a:gd name="adj" fmla="val 18519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pic>
        <p:nvPicPr>
          <p:cNvPr id="1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4810125"/>
            <a:ext cx="190500" cy="190500"/>
          </a:xfrm>
          <a:prstGeom prst="rect">
            <a:avLst/>
          </a:prstGeom>
          <a:ln/>
        </p:spPr>
      </p:pic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123950" y="4781550"/>
            <a:ext cx="4000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兜底预案：若现场链路抖动，切换本地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 127.0.0.1:8010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，效果一致</a:t>
            </a:r>
            <a:endParaRPr/>
          </a:p>
        </p:txBody>
      </p:sp>
      <p:pic>
        <p:nvPicPr>
          <p:cNvPr id="147" name=""/>
          <p:cNvPicPr>
            <a:picLocks noChangeAspect="1"/>
          </p:cNvPicPr>
          <p:nvPr/>
        </p:nvPicPr>
        <p:blipFill>
          <a:blip r:embed="rId2"/>
          <a:srcRect l="0" t="458" r="0" b="458"/>
          <a:stretch>
            <a:fillRect/>
          </a:stretch>
        </p:blipFill>
        <p:spPr>
          <a:xfrm rot="0" flipH="0" flipV="0">
            <a:off x="6334125" y="1143000"/>
            <a:ext cx="5191125" cy="5143500"/>
          </a:xfrm>
          <a:prstGeom prst="roundRect">
            <a:avLst>
              <a:gd name="adj" fmla="val 2963"/>
            </a:avLst>
          </a:prstGeom>
          <a:ln/>
        </p:spPr>
      </p:pic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14 / 16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50" name="" descr="&lt;Slide notes={`今天讲的不是 OA，是一套方法论。任何老系统——CRM、ERP、工单系统——想接 AI，都是这五步：第一步翻译需求，把业务话变成技术话，先画清楚 AI 做什么、不做什么；第二步开薄接口，只读优先，写操作最小化，给 AI 发独立工卡；第三步无状态设计，规则记忆放 AI 侧，系统侧极简，改规则不动代码；第四步分层联调，鉴权、参数、网络、稳定性，一层一层实测；第五步小步试点，用数据选范围，跑通再放大。记住那句话：系统出数据，AI 出判断，人出决定。边界画清楚，AI 落地就不玄了。`}&gt;&#10;  &lt;Slide style={{ background: '#FAF9F5', padding: '20px 70px', width: 1280, height: 720 }}&gt;&#10;    &lt;Box style={{ height: 100, justifyContent: 'center' }}&gt;&#10;      &lt;Text style={{ fontFamily: '华文中宋', fontSize: 34, fontWeight: 'bold', color: '#1F1E1B' }}&gt;复盘 · 五步法，复制到任何系统&lt;/Text&gt;&#10;    &lt;/Box&gt;&#10;    &lt;Box style={{ height: 540, justifyContent: 'center' }}&gt;&#10;      &lt;Box style={{ flexDirection: 'row', gap: 8, alignItems: 'stretch' }}&gt;&#10;        &lt;Box style={{ flex: 1, padding: '24px 18px', background: 'rgba(31,30,27,0.04)', borderRadius: 14, height: 330 }}&gt;&#10;          &lt;Text style={{ fontFamily: '华文中宋', fontSize: 40, fontWeight: 'bold', color: '#D97757', lineHeight: 1 }}&gt;01&lt;/Text&gt;&#10;          &lt;Text style={{ fontFamily: '微软雅黑', fontSize: 19, fontWeight: 'bold', color: '#1F1E1B', marginTop: 14 }}&gt;翻译需求&lt;/Text&gt;&#10;          &lt;Text style={{ fontFamily: '微软雅黑', fontSize: 14, color: '#A9A294', marginTop: 10, lineHeight: 1.6 }}&gt;业务话 → 技术话，先画清 AI 做什么、不做什么&lt;/Text&gt;&#10;        &lt;/Box&gt;&#10;        &lt;Box style={{ justifyContent: 'center' }}&gt;&#10;          &lt;FAIcon name=&quot;arrow-right&quot; style={{ fill: '#D97757', width: 20, height: 20 }} /&gt;&#10;        &lt;/Box&gt;&#10;        &lt;Box style={{ flex: 1, padding: '24px 18px', background: 'rgba(31,30,27,0.04)', borderRadius: 14, height: 330 }}&gt;&#10;          &lt;Text style={{ fontFamily: '华文中宋', fontSize: 40, fontWeight: 'bold', color: '#D97757', lineHeight: 1 }}&gt;02&lt;/Text&gt;&#10;          &lt;Text style={{ fontFamily: '微软雅黑', fontSize: 19, fontWeight: 'bold', color: '#1F1E1B', marginTop: 14 }}&gt;开薄接口&lt;/Text&gt;&#10;          &lt;Text style={{ fontFamily: '微软雅黑', fontSize: 14, color: '#A9A294', marginTop: 10, lineHeight: 1.6 }}&gt;只读优先、写操作最小化，AI 用独立账号&lt;/Text&gt;&#10;        &lt;/Box&gt;&#10;        &lt;Box style={{ justifyContent: 'center' }}&gt;&#10;          &lt;FAIcon name=&quot;arrow-right&quot; style={{ fill: '#D97757', width: 20, height: 20 }} /&gt;&#10;        &lt;/Box&gt;&#10;        &lt;Box style={{ flex: 1, padding: '24px 18px', background: '#1F1E1B', borderRadius: 14, height: 330 }}&gt;&#10;          &lt;Text style={{ fontFamily: '华文中宋', fontSize: 40, fontWeight: 'bold', color: '#D97757', lineHeight: 1 }}&gt;03&lt;/Text&gt;&#10;          &lt;Text style={{ fontFamily: '微软雅黑', fontSize: 19, fontWeight: 'bold', color: '#FAF9F5', marginTop: 14 }}&gt;无状态设计&lt;/Text&gt;&#10;          &lt;Text style={{ fontFamily: '微软雅黑', fontSize: 14, color: '#FAF9F5', opacity: 0.65, marginTop: 10, lineHeight: 1.6 }}&gt;规则记忆放 AI 侧，系统侧极简，改规则不动代码&lt;/Text&gt;&#10;        &lt;/Box&gt;&#10;        &lt;Box style={{ justifyContent: 'center' }}&gt;&#10;          &lt;FAIcon name=&quot;arrow-right&quot; style={{ fill: '#D97757', width: 20, height: 20 }} /&gt;&#10;        &lt;/Box&gt;&#10;        &lt;Box style={{ flex: 1, padding: '24px 18px', background: 'rgba(31,30,27,0.04)', borderRadius: 14, height: 330 }}&gt;&#10;          &lt;Text style={{ fontFamily: '华文中宋', fontSize: 40, fontWeight: 'bold', color: '#D97757', lineHeight: 1 }}&gt;04&lt;/Text&gt;&#10;          &lt;Text style={{ fontFamily: '微软雅黑', fontSize: 19, fontWeight: 'bold', color: '#1F1E1B', marginTop: 14 }}&gt;分层联调&lt;/Text&gt;&#10;          &lt;Text style={{ fontFamily: '微软雅黑', fontSize: 14, color: '#A9A294', marginTop: 10, lineHeight: 1.6 }}&gt;鉴权 → 参数 → 网络 → 稳定性，逐层实测&lt;/Text&gt;&#10;        &lt;/Box&gt;&#10;        &lt;Box style={{ justifyContent: 'center' }}&gt;&#10;          &lt;FAIcon name=&quot;arrow-right&quot; style={{ fill: '#D97757', width: 20, height: 20 }} /&gt;&#10;        &lt;/Box&gt;&#10;        &lt;Box style={{ flex: 1, padding: '24px 18px', background: 'rgba(31,30,27,0.04)', borderRadius: 14, height: 330 }}&gt;&#10;          &lt;Text style={{ fontFamily: '华文中宋', fontSize: 40, fontWeight: 'bold', color: '#D97757', lineHeight: 1 }}&gt;05&lt;/Text&gt;&#10;          &lt;Text style={{ fontFamily: '微软雅黑', fontSize: 19, fontWeight: 'bold', color: '#1F1E1B', marginTop: 14 }}&gt;小步试点&lt;/Text&gt;&#10;          &lt;Text style={{ fontFamily: '微软雅黑', fontSize: 14, color: '#A9A294', marginTop: 10, lineHeight: 1.6 }}&gt;用数据选范围，跑通再放大到全量&lt;/Text&gt;&#10;        &lt;/Box&gt;&#10;      &lt;/Box&gt;&#10;      &lt;Text style={{ fontFamily: '微软雅黑', fontSize: 17, color: '#A9A294', textAlign: 'center', marginTop: 46 }}&gt;任何老系统——CRM、ERP、工单——都能走这五步&lt;/Text&gt;&#10;    &lt;/Box&gt;&#10;    &lt;Box style={{ height: 40, flexDirection: 'row', justifyContent: 'space-between', alignItems: 'center' }}&gt;&#10;      &lt;Text style={{ fontFamily: '微软雅黑', fontSize: 13, color: '#A9A294' }}&gt;当 OA 遇上 AI 数字员工 · 内部教学&lt;/Text&gt;&#10;      &lt;Text style={{ fontFamily: '微软雅黑', fontSize: 13, color: '#A9A294' }}&gt;15 / 16&lt;/Text&gt;&#10;    &lt;/Box&gt;&#10;  &lt;/Slide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复盘</a:t>
            </a:r>
            <a:r>
              <a:rPr lang="en-US" sz="2550" b="1">
                <a:solidFill>
                  <a:srgbClr val="1F1E1B"/>
                </a:solidFill>
                <a:latin typeface="华文中宋"/>
                <a:ea typeface="华文中宋"/>
              </a:rPr>
              <a:t> · </a:t>
            </a:r>
            <a:r>
              <a:rPr lang="zh-CN" sz="2550" b="1">
                <a:solidFill>
                  <a:srgbClr val="1F1E1B"/>
                </a:solidFill>
                <a:latin typeface="华文中宋"/>
                <a:ea typeface="华文中宋"/>
              </a:rPr>
              <a:t>五步法，复制到任何系统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666750" y="1828800"/>
            <a:ext cx="1895475" cy="3143250"/>
          </a:xfrm>
          <a:prstGeom prst="roundRect">
            <a:avLst>
              <a:gd name="adj" fmla="val 7035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38200" y="2057400"/>
            <a:ext cx="15525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D97757"/>
                </a:solidFill>
                <a:latin typeface="华文中宋"/>
                <a:ea typeface="华文中宋"/>
              </a:rPr>
              <a:t>01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38200" y="2647950"/>
            <a:ext cx="1552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E1B"/>
                </a:solidFill>
                <a:latin typeface="微软雅黑"/>
                <a:ea typeface="微软雅黑"/>
              </a:rPr>
              <a:t>翻译需求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38200" y="2962275"/>
            <a:ext cx="15525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业务话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 →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技术话，先画清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做什么、不做什么</a:t>
            </a:r>
            <a:endParaRPr/>
          </a:p>
        </p:txBody>
      </p:sp>
      <p:pic>
        <p:nvPicPr>
          <p:cNvPr id="1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638425" y="3305175"/>
            <a:ext cx="190500" cy="190500"/>
          </a:xfrm>
          <a:prstGeom prst="rect">
            <a:avLst/>
          </a:prstGeom>
          <a:ln/>
        </p:spPr>
      </p:pic>
      <p:sp>
        <p:nvSpPr>
          <p:cNvPr id="158" name=""/>
          <p:cNvSpPr/>
          <p:nvPr/>
        </p:nvSpPr>
        <p:spPr>
          <a:xfrm rot="0" flipH="0" flipV="0">
            <a:off x="2905125" y="1828800"/>
            <a:ext cx="1895475" cy="3143250"/>
          </a:xfrm>
          <a:prstGeom prst="roundRect">
            <a:avLst>
              <a:gd name="adj" fmla="val 7035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3076575" y="2057400"/>
            <a:ext cx="15525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D97757"/>
                </a:solidFill>
                <a:latin typeface="华文中宋"/>
                <a:ea typeface="华文中宋"/>
              </a:rPr>
              <a:t>02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3076575" y="2647950"/>
            <a:ext cx="1552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E1B"/>
                </a:solidFill>
                <a:latin typeface="微软雅黑"/>
                <a:ea typeface="微软雅黑"/>
              </a:rPr>
              <a:t>开薄接口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3076575" y="2962275"/>
            <a:ext cx="15525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只读优先、写操作最小化，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用独立账号</a:t>
            </a:r>
            <a:endParaRPr/>
          </a:p>
        </p:txBody>
      </p:sp>
      <p:pic>
        <p:nvPicPr>
          <p:cNvPr id="1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876800" y="3305175"/>
            <a:ext cx="190500" cy="190500"/>
          </a:xfrm>
          <a:prstGeom prst="rect">
            <a:avLst/>
          </a:prstGeom>
          <a:ln/>
        </p:spPr>
      </p:pic>
      <p:sp>
        <p:nvSpPr>
          <p:cNvPr id="163" name=""/>
          <p:cNvSpPr/>
          <p:nvPr/>
        </p:nvSpPr>
        <p:spPr>
          <a:xfrm rot="0" flipH="0" flipV="0">
            <a:off x="5143500" y="1828800"/>
            <a:ext cx="1905000" cy="3143250"/>
          </a:xfrm>
          <a:prstGeom prst="roundRect">
            <a:avLst>
              <a:gd name="adj" fmla="val 7000"/>
            </a:avLst>
          </a:prstGeom>
          <a:solidFill>
            <a:srgbClr val="1F1E1B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314950" y="2057400"/>
            <a:ext cx="1562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D97757"/>
                </a:solidFill>
                <a:latin typeface="华文中宋"/>
                <a:ea typeface="华文中宋"/>
              </a:rPr>
              <a:t>03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314950" y="2647950"/>
            <a:ext cx="1562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AF9F5"/>
                </a:solidFill>
                <a:latin typeface="微软雅黑"/>
                <a:ea typeface="微软雅黑"/>
              </a:rPr>
              <a:t>无状态设计</a:t>
            </a:r>
            <a:endParaRPr/>
          </a:p>
        </p:txBody>
      </p:sp>
      <p:pic>
        <p:nvPicPr>
          <p:cNvPr id="1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124700" y="3305175"/>
            <a:ext cx="190500" cy="190500"/>
          </a:xfrm>
          <a:prstGeom prst="rect">
            <a:avLst/>
          </a:prstGeom>
          <a:ln/>
        </p:spPr>
      </p:pic>
      <p:sp>
        <p:nvSpPr>
          <p:cNvPr id="167" name=""/>
          <p:cNvSpPr/>
          <p:nvPr/>
        </p:nvSpPr>
        <p:spPr>
          <a:xfrm rot="0" flipH="0" flipV="0">
            <a:off x="7391400" y="1828800"/>
            <a:ext cx="1895475" cy="3143250"/>
          </a:xfrm>
          <a:prstGeom prst="roundRect">
            <a:avLst>
              <a:gd name="adj" fmla="val 7035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7562850" y="2057400"/>
            <a:ext cx="15525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D97757"/>
                </a:solidFill>
                <a:latin typeface="华文中宋"/>
                <a:ea typeface="华文中宋"/>
              </a:rPr>
              <a:t>04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7562850" y="2647950"/>
            <a:ext cx="1552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E1B"/>
                </a:solidFill>
                <a:latin typeface="微软雅黑"/>
                <a:ea typeface="微软雅黑"/>
              </a:rPr>
              <a:t>分层联调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7562850" y="2962275"/>
            <a:ext cx="15525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鉴权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 →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参数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 →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网络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 → </a:t>
            </a: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稳定性，逐层实测</a:t>
            </a:r>
            <a:endParaRPr/>
          </a:p>
        </p:txBody>
      </p:sp>
      <p:pic>
        <p:nvPicPr>
          <p:cNvPr id="1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363075" y="3305175"/>
            <a:ext cx="190500" cy="190500"/>
          </a:xfrm>
          <a:prstGeom prst="rect">
            <a:avLst/>
          </a:prstGeom>
          <a:ln/>
        </p:spPr>
      </p:pic>
      <p:sp>
        <p:nvSpPr>
          <p:cNvPr id="172" name=""/>
          <p:cNvSpPr/>
          <p:nvPr/>
        </p:nvSpPr>
        <p:spPr>
          <a:xfrm rot="0" flipH="0" flipV="0">
            <a:off x="9629775" y="1828800"/>
            <a:ext cx="1895475" cy="3143250"/>
          </a:xfrm>
          <a:prstGeom prst="roundRect">
            <a:avLst>
              <a:gd name="adj" fmla="val 7035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9801225" y="2057400"/>
            <a:ext cx="15525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D97757"/>
                </a:solidFill>
                <a:latin typeface="华文中宋"/>
                <a:ea typeface="华文中宋"/>
              </a:rPr>
              <a:t>05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9801225" y="2647950"/>
            <a:ext cx="1552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E1B"/>
                </a:solidFill>
                <a:latin typeface="微软雅黑"/>
                <a:ea typeface="微软雅黑"/>
              </a:rPr>
              <a:t>小步试点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9801225" y="2962275"/>
            <a:ext cx="15525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用数据选范围，跑通再放大到全量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66750" y="5410200"/>
            <a:ext cx="10858500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>
                <a:solidFill>
                  <a:srgbClr val="A9A294"/>
                </a:solidFill>
                <a:latin typeface="微软雅黑"/>
                <a:ea typeface="微软雅黑"/>
              </a:rPr>
              <a:t>任何老系统——</a:t>
            </a:r>
            <a:r>
              <a:rPr lang="en-US" sz="1275">
                <a:solidFill>
                  <a:srgbClr val="A9A294"/>
                </a:solidFill>
                <a:latin typeface="微软雅黑"/>
                <a:ea typeface="微软雅黑"/>
              </a:rPr>
              <a:t>CRM</a:t>
            </a:r>
            <a:r>
              <a:rPr lang="zh-CN" sz="1275">
                <a:solidFill>
                  <a:srgbClr val="A9A294"/>
                </a:solidFill>
                <a:latin typeface="微软雅黑"/>
                <a:ea typeface="微软雅黑"/>
              </a:rPr>
              <a:t>、</a:t>
            </a:r>
            <a:r>
              <a:rPr lang="en-US" sz="1275">
                <a:solidFill>
                  <a:srgbClr val="A9A294"/>
                </a:solidFill>
                <a:latin typeface="微软雅黑"/>
                <a:ea typeface="微软雅黑"/>
              </a:rPr>
              <a:t>ERP</a:t>
            </a:r>
            <a:r>
              <a:rPr lang="zh-CN" sz="1275">
                <a:solidFill>
                  <a:srgbClr val="A9A294"/>
                </a:solidFill>
                <a:latin typeface="微软雅黑"/>
                <a:ea typeface="微软雅黑"/>
              </a:rPr>
              <a:t>、工单——都能走这五步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66750" y="64008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当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OA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遇上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AI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数字员工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</a:t>
            </a: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内部教学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15 / 16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5314950" y="2962275"/>
            <a:ext cx="1562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FAF9F5">
                    <a:alpha val="65000"/>
                  </a:srgbClr>
                </a:solidFill>
                <a:latin typeface="微软雅黑"/>
                <a:ea typeface="微软雅黑"/>
              </a:rPr>
              <a:t>规则记忆放</a:t>
            </a:r>
            <a:r>
              <a:rPr lang="en-US" sz="1050">
                <a:solidFill>
                  <a:srgbClr val="FAF9F5">
                    <a:alpha val="65000"/>
                  </a:srgbClr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FAF9F5">
                    <a:alpha val="65000"/>
                  </a:srgbClr>
                </a:solidFill>
                <a:latin typeface="微软雅黑"/>
                <a:ea typeface="微软雅黑"/>
              </a:rPr>
              <a:t>侧，系统侧极简，改规则不动代码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80" name="" descr="&lt;Slide notes={`一期我们守住了边界：AI 只动嘴、不动手。二期才考虑让它动手——审批写操作会配人工确认、健康度做成可视化看板、把更多流程接进来。最后送大家一句话，也是这个项目教会我们的：系统出数据，AI 出判断，人出决定。三者边界画清楚，AI 落地就不再玄学。谢谢大家，欢迎提问。`}&gt;&#10;  &lt;Slide style={{ background: '#FAF9F5', padding: '80px 70px 40px 70px', width: 1280, height: 720, justifyContent: 'space-between', alignItems: 'center' }}&gt;&#10;    &lt;Box style={{ flex: 1, justifyContent: 'center', alignItems: 'center', gap: 40 }}&gt;&#10;      &lt;Box style={{ flexDirection: 'row', alignItems: 'center', gap: 20 }}&gt;&#10;        &lt;Box style={{ width: 44, height: 3, background: '#D97757' }} /&gt;&#10;        &lt;Text style={{ fontFamily: '微软雅黑', fontSize: 15, color: '#A9A294', letterSpacing: 4 }}&gt;写在这个项目的最后&lt;/Text&gt;&#10;        &lt;Box style={{ width: 44, height: 3, background: '#D97757' }} /&gt;&#10;      &lt;/Box&gt;&#10;      &lt;Text style={{ fontFamily: '华文中宋', fontSize: 46, fontWeight: 'bold', color: '#1F1E1B', textAlign: 'center', lineHeight: 1.6 }}&gt;系统出数据 · &lt;span style={{ color: '#D97757' }}&gt;AI 出判断&lt;/span&gt; · 人出决定&lt;/Text&gt;&#10;      &lt;Box style={{ flexDirection: 'row', gap: 16 }}&gt;&#10;        &lt;Box style={{ padding: '12px 22px', background: 'rgba(31,30,27,0.04)', borderRadius: 24 }}&gt;&#10;          &lt;Text style={{ fontFamily: '微软雅黑', fontSize: 15, color: '#1F1E1B' }}&gt;二期 · 审批写操作&lt;span style={{ color: '#A9A294' }}&gt;（带人工确认）&lt;/span&gt;&lt;/Text&gt;&#10;        &lt;/Box&gt;&#10;        &lt;Box style={{ padding: '12px 22px', background: 'rgba(31,30,27,0.04)', borderRadius: 24 }}&gt;&#10;          &lt;Text style={{ fontFamily: '微软雅黑', fontSize: 15, color: '#1F1E1B' }}&gt;二期 · 健康度看板&lt;/Text&gt;&#10;        &lt;/Box&gt;&#10;        &lt;Box style={{ padding: '12px 22px', background: 'rgba(31,30,27,0.04)', borderRadius: 24 }}&gt;&#10;          &lt;Text style={{ fontFamily: '微软雅黑', fontSize: 15, color: '#1F1E1B' }}&gt;二期 · 更多流程接入&lt;/Text&gt;&#10;        &lt;/Box&gt;&#10;      &lt;/Box&gt;&#10;    &lt;/Box&gt;&#10;    &lt;Box style={{ flexDirection: 'row', justifyContent: 'space-between', alignItems: 'center', width: '100%' }}&gt;&#10;      &lt;Text style={{ fontFamily: '微软雅黑', fontSize: 14, color: '#A9A294' }}&gt;谢谢观看 · Q&amp;A&lt;/Text&gt;&#10;      &lt;Box style={{ flexDirection: 'row', gap: 24, alignItems: 'center' }}&gt;&#10;        &lt;Text style={{ fontFamily: '微软雅黑', fontSize: 13, color: '#A9A294' }}&gt;知识管理中心 · 2026.09&lt;/Text&gt;&#10;        &lt;Text style={{ fontFamily: '微软雅黑', fontSize: 13, color: '#A9A294' }}&gt;16 / 16&lt;/Text&gt;&#10;      &lt;/Box&gt;&#10;    &lt;/Box&gt;&#10;  &lt;/Slide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4676775" y="2524125"/>
            <a:ext cx="419100" cy="28575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5286375" y="2447925"/>
            <a:ext cx="1628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A9A294"/>
                </a:solidFill>
                <a:latin typeface="微软雅黑"/>
                <a:ea typeface="微软雅黑"/>
              </a:rPr>
              <a:t>写在这个项目的最后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7105650" y="2524125"/>
            <a:ext cx="419100" cy="28575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2762250" y="3000375"/>
            <a:ext cx="6667500" cy="8477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3450" b="1">
                <a:solidFill>
                  <a:srgbClr val="1F1E1B"/>
                </a:solidFill>
                <a:latin typeface="华文中宋"/>
                <a:ea typeface="华文中宋"/>
              </a:rPr>
              <a:t>系统出数据</a:t>
            </a:r>
            <a:r>
              <a:rPr lang="en-US" sz="3450" b="1">
                <a:solidFill>
                  <a:srgbClr val="1F1E1B"/>
                </a:solidFill>
                <a:latin typeface="华文中宋"/>
                <a:ea typeface="华文中宋"/>
              </a:rPr>
              <a:t> · </a:t>
            </a:r>
            <a:r>
              <a:rPr lang="en-US" sz="3450" b="1">
                <a:solidFill>
                  <a:srgbClr val="D97757"/>
                </a:solidFill>
                <a:latin typeface="华文中宋"/>
                <a:ea typeface="华文中宋"/>
              </a:rPr>
              <a:t>AI </a:t>
            </a:r>
            <a:r>
              <a:rPr lang="zh-CN" sz="3450" b="1">
                <a:solidFill>
                  <a:srgbClr val="D97757"/>
                </a:solidFill>
                <a:latin typeface="华文中宋"/>
                <a:ea typeface="华文中宋"/>
              </a:rPr>
              <a:t>出判断</a:t>
            </a:r>
            <a:r>
              <a:rPr lang="en-US" sz="3450" b="1">
                <a:solidFill>
                  <a:srgbClr val="1F1E1B"/>
                </a:solidFill>
                <a:latin typeface="华文中宋"/>
                <a:ea typeface="华文中宋"/>
              </a:rPr>
              <a:t> · </a:t>
            </a:r>
            <a:r>
              <a:rPr lang="zh-CN" sz="3450" b="1">
                <a:solidFill>
                  <a:srgbClr val="1F1E1B"/>
                </a:solidFill>
                <a:latin typeface="华文中宋"/>
                <a:ea typeface="华文中宋"/>
              </a:rPr>
              <a:t>人出决定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3028950" y="4229100"/>
            <a:ext cx="2562225" cy="400050"/>
          </a:xfrm>
          <a:prstGeom prst="roundRect">
            <a:avLst>
              <a:gd name="adj" fmla="val 57143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3238500" y="4343400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二期</a:t>
            </a:r>
            <a:r>
              <a:rPr lang="en-US" sz="1125">
                <a:solidFill>
                  <a:srgbClr val="1F1E1B"/>
                </a:solidFill>
                <a:latin typeface="微软雅黑"/>
                <a:ea typeface="微软雅黑"/>
              </a:rPr>
              <a:t> · </a:t>
            </a: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审批写操作</a:t>
            </a:r>
            <a:r>
              <a:rPr lang="zh-CN" sz="1125">
                <a:solidFill>
                  <a:srgbClr val="A9A294"/>
                </a:solidFill>
                <a:latin typeface="微软雅黑"/>
                <a:ea typeface="微软雅黑"/>
              </a:rPr>
              <a:t>（带人工确认）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5743575" y="4229100"/>
            <a:ext cx="1562100" cy="400050"/>
          </a:xfrm>
          <a:prstGeom prst="roundRect">
            <a:avLst>
              <a:gd name="adj" fmla="val 57143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5953125" y="434340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二期</a:t>
            </a:r>
            <a:r>
              <a:rPr lang="en-US" sz="1125">
                <a:solidFill>
                  <a:srgbClr val="1F1E1B"/>
                </a:solidFill>
                <a:latin typeface="微软雅黑"/>
                <a:ea typeface="微软雅黑"/>
              </a:rPr>
              <a:t> · </a:t>
            </a: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健康度看板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7458075" y="4229100"/>
            <a:ext cx="1704975" cy="400050"/>
          </a:xfrm>
          <a:prstGeom prst="roundRect">
            <a:avLst>
              <a:gd name="adj" fmla="val 57143"/>
            </a:avLst>
          </a:prstGeom>
          <a:solidFill>
            <a:srgbClr val="1F1E1B">
              <a:alpha val="4000"/>
            </a:srgbClr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667625" y="434340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二期</a:t>
            </a:r>
            <a:r>
              <a:rPr lang="en-US" sz="1125">
                <a:solidFill>
                  <a:srgbClr val="1F1E1B"/>
                </a:solidFill>
                <a:latin typeface="微软雅黑"/>
                <a:ea typeface="微软雅黑"/>
              </a:rPr>
              <a:t> · </a:t>
            </a:r>
            <a:r>
              <a:rPr lang="zh-CN" sz="1125">
                <a:solidFill>
                  <a:srgbClr val="1F1E1B"/>
                </a:solidFill>
                <a:latin typeface="微软雅黑"/>
                <a:ea typeface="微软雅黑"/>
              </a:rPr>
              <a:t>更多流程接入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66750" y="6315075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A294"/>
                </a:solidFill>
                <a:latin typeface="微软雅黑"/>
                <a:ea typeface="微软雅黑"/>
              </a:rPr>
              <a:t>谢谢观看</a:t>
            </a:r>
            <a:r>
              <a:rPr lang="en-US" sz="1050">
                <a:solidFill>
                  <a:srgbClr val="A9A294"/>
                </a:solidFill>
                <a:latin typeface="微软雅黑"/>
                <a:ea typeface="微软雅黑"/>
              </a:rPr>
              <a:t> · Q&amp;A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9477375" y="6324600"/>
            <a:ext cx="1381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A294"/>
                </a:solidFill>
                <a:latin typeface="微软雅黑"/>
                <a:ea typeface="微软雅黑"/>
              </a:rPr>
              <a:t>知识管理中心</a:t>
            </a: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 · 2026.09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1087100" y="63246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A294"/>
                </a:solidFill>
                <a:latin typeface="微软雅黑"/>
                <a:ea typeface="微软雅黑"/>
              </a:rPr>
              <a:t>16 / 16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2026-09-09T17:16:25Z</dcterms:created>
  <dcterms:modified xsi:type="dcterms:W3CDTF">2026-09-09T17:16:25Z</dcterms:modified>
</cp:coreProperties>
</file>