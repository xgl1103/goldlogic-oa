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21" Type="http://schemas.openxmlformats.org/officeDocument/2006/relationships/slide" Target="slides/slide21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5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.svg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notes={`今天这堂课分上下两篇。上篇讲方法论：数字员工搭建器怎么把一句话需求，沿着 10 个阶段、3 个人工审批断点，做成可交付的数字员工——这是工具。下篇讲实战：我们怎么用这套方法论，在自己的 OA 系统里落地一个 7×24 小时巡检审批的数字员工「小奥」——今天出现的每一个数字、每一行代码，都是真实的，听完可以照着复制。`}&gt;&#10;  &lt;Box style={{ flexDirection: 'row', width: '100%', height: 720, background: '#FAF9F5' }}&gt;&#10;    &lt;Box style={{ width: 612, height: 720, padding: '90px 40px 60px 70px', justifyContent: 'space-between' }}&gt;&#10;      &lt;Box style={{ flexDirection: 'column', gap: 28 }}&gt;&#10;        &lt;Text style={{ fontFamily: '微软雅黑', fontSize: 15, color: '#A9A294', letterSpacing: 4 }}&gt;知识管理中心 · 内部教学&lt;/Text&gt;&#10;        &lt;Text style={{ fontFamily: '华文中宋', fontSize: 60, fontWeight: 'bold', color: '#1F1E1B', lineHeight: 1.3 }}&gt;当一个 OA 系统&lt;br /&gt;遇上 &lt;span style={{ color: '#D97757' }}&gt;AI 数字员工&lt;/span&gt;&lt;/Text&gt;&#10;        &lt;Text style={{ fontFamily: '微软雅黑', fontSize: 19, color: '#A9A294', lineHeight: 1.6 }}&gt;上篇：数字员工搭建器方法论&lt;br /&gt;下篇：OA 落地实战全记录&lt;/Text&gt;&#10;      &lt;/Box&gt;&#10;      &lt;Box style={{ flexDirection: 'column', gap: 18 }}&gt;&#10;        &lt;Box style={{ flexDirection: 'row', gap: 24, alignItems: 'center' }}&gt;&#10;          &lt;Box style={{ flexDirection: 'row', alignItems: 'center', gap: 8 }}&gt;&#10;            &lt;Box style={{ width: 8, height: 8, borderRadius: 4, background: '#D97757' }} /&gt;&#10;            &lt;Text style={{ fontFamily: '微软雅黑', fontSize: 15, color: '#1F1E1B' }}&gt;真实项目&lt;/Text&gt;&#10;          &lt;/Box&gt;&#10;          &lt;Box style={{ flexDirection: 'row', alignItems: 'center', gap: 8 }}&gt;&#10;            &lt;Box style={{ width: 8, height: 8, borderRadius: 4, background: '#D97757' }} /&gt;&#10;            &lt;Text style={{ fontFamily: '微软雅黑', fontSize: 15, color: '#1F1E1B' }}&gt;真实代码&lt;/Text&gt;&#10;          &lt;/Box&gt;&#10;          &lt;Box style={{ flexDirection: 'row', alignItems: 'center', gap: 8 }}&gt;&#10;            &lt;Box style={{ width: 8, height: 8, borderRadius: 4, background: '#D97757' }} /&gt;&#10;            &lt;Text style={{ fontFamily: '微软雅黑', fontSize: 15, color: '#1F1E1B' }}&gt;真实数据&lt;/Text&gt;&#10;          &lt;/Box&gt;&#10;        &lt;/Box&gt;&#10;        &lt;Box style={{ flexDirection: 'row', justifyContent: 'space-between', alignItems: 'center' }}&gt;&#10;          &lt;Text style={{ fontFamily: '微软雅黑', fontSize: 13, color: '#A9A294' }}&gt;2026 年 9 月&lt;/Text&gt;&#10;          &lt;Text style={{ fontFamily: '微软雅黑', fontSize: 13, color: '#A9A294' }}&gt;01 / 22&lt;/Text&gt;&#10;        &lt;/Box&gt;&#10;      &lt;/Box&gt;&#10;    &lt;/Box&gt;&#10;    &lt;Image src=&quot;assets/cover_hero.png&quot; style={{ width: 668, height: 720, objectFit: 'cover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66750" y="85725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知识管理中心</a:t>
            </a:r>
            <a:r>
              <a:rPr lang="en-US" sz="1125" spc="300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66750" y="1295400"/>
            <a:ext cx="4781550" cy="17907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500" b="1">
                <a:solidFill>
                  <a:srgbClr val="1F1E1B"/>
                </a:solidFill>
                <a:latin typeface="华文中宋"/>
                <a:ea typeface="华文中宋"/>
              </a:rPr>
              <a:t>当一个</a:t>
            </a:r>
            <a:r>
              <a:rPr lang="en-US" sz="4500" b="1">
                <a:solidFill>
                  <a:srgbClr val="1F1E1B"/>
                </a:solidFill>
                <a:latin typeface="华文中宋"/>
                <a:ea typeface="华文中宋"/>
              </a:rPr>
              <a:t> OA </a:t>
            </a:r>
            <a:r>
              <a:rPr lang="zh-CN" sz="4500" b="1">
                <a:solidFill>
                  <a:srgbClr val="1F1E1B"/>
                </a:solidFill>
                <a:latin typeface="华文中宋"/>
                <a:ea typeface="华文中宋"/>
              </a:rPr>
              <a:t>系统</a:t>
            </a:r>
            <a:endParaRPr/>
          </a:p>
          <a:p>
            <a:pPr>
              <a:lnSpc>
                <a:spcPct val="130000"/>
              </a:lnSpc>
            </a:pPr>
            <a:r>
              <a:rPr lang="zh-CN" sz="4500" b="1">
                <a:solidFill>
                  <a:srgbClr val="1F1E1B"/>
                </a:solidFill>
                <a:latin typeface="华文中宋"/>
                <a:ea typeface="华文中宋"/>
              </a:rPr>
              <a:t>遇上</a:t>
            </a:r>
            <a:r>
              <a:rPr lang="en-US" sz="4500" b="1">
                <a:solidFill>
                  <a:srgbClr val="1F1E1B"/>
                </a:solidFill>
                <a:latin typeface="华文中宋"/>
                <a:ea typeface="华文中宋"/>
              </a:rPr>
              <a:t> </a:t>
            </a:r>
            <a:r>
              <a:rPr lang="en-US" sz="4500" b="1">
                <a:solidFill>
                  <a:srgbClr val="D97757"/>
                </a:solidFill>
                <a:latin typeface="华文中宋"/>
                <a:ea typeface="华文中宋"/>
              </a:rPr>
              <a:t>AI </a:t>
            </a:r>
            <a:r>
              <a:rPr lang="zh-CN" sz="4500" b="1">
                <a:solidFill>
                  <a:srgbClr val="D97757"/>
                </a:solidFill>
                <a:latin typeface="华文中宋"/>
                <a:ea typeface="华文中宋"/>
              </a:rPr>
              <a:t>数字员工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3352800"/>
            <a:ext cx="478155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上篇：数字员工搭建器方法论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下篇：</a:t>
            </a:r>
            <a:r>
              <a:rPr lang="en-US" sz="1425">
                <a:solidFill>
                  <a:srgbClr val="A9A294"/>
                </a:solidFill>
                <a:latin typeface="微软雅黑"/>
                <a:ea typeface="微软雅黑"/>
              </a:rPr>
              <a:t>OA </a:t>
            </a: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落地实战全记录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66750" y="5838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19150" y="57912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真实项目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619250" y="5838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771650" y="57912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真实代码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571750" y="5838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724150" y="57912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真实数据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66750" y="6134100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2026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年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9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010150" y="6134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01 / 22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1"/>
          <a:srcRect l="19074" t="0" r="19074" b="0"/>
          <a:stretch>
            <a:fillRect/>
          </a:stretch>
        </p:blipFill>
        <p:spPr>
          <a:xfrm rot="0" flipH="0" flipV="0">
            <a:off x="5829300" y="0"/>
            <a:ext cx="6362700" cy="6858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20" name="" descr="&lt;Slide notes={`整堂课两篇。上篇是方法论：数字员工搭建器的强制生命周期——一句话需求进来，10 个阶段走到底，中间 G1、G2、G3 三个断点必须人来拍板；还有动手之前的五步法和五条安全红线。下篇是实战：我们用这套方法论在自己的 OA 系统里跑了一个完整案例，按「为什么、靠什么、怎么连」三幕展开，最后附踩坑实录和现场演示。两篇的关系很简单：上篇教你怎么想清楚，下篇带你看怎么做出来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今天讲什么&lt;/Text&gt;&#10;    &lt;/Box&gt;&#10;    &lt;Box style={{ flexDirection: 'row', height: 540, gap: 44 }}&gt;&#10;      &lt;Box style={{ flex: 1, flexDirection: 'column', justifyContent: 'center', gap: 20 }}&gt;&#10;        &lt;Box style={{ flexDirection: 'row', alignItems: 'center', gap: 14 }}&gt;&#10;          &lt;Text style={{ fontFamily: '华文中宋', fontSize: 40, fontWeight: 'bold', color: '#D97757', lineHeight: 1 }}&gt;上篇&lt;/Text&gt;&#10;          &lt;Text style={{ fontFamily: '微软雅黑', fontSize: 21, fontWeight: 'bold', color: '#1F1E1B' }}&gt;方法论 · 数字员工搭建器&lt;/Text&gt;&#10;        &lt;/Box&gt;&#10;        &lt;Text style={{ fontFamily: '微软雅黑', fontSize: 15, color: '#A9A294', lineHeight: 1.5 }}&gt;把一句话需求，做成可交付的数字员工&lt;/Text&gt;&#10;        &lt;Box style={{ flexDirection: 'column', gap: 14, marginTop: 8 }}&gt;&#10;          &lt;Box style={{ flexDirection: 'row', gap: 12, alignItems: 'center' }}&gt;&#10;            &lt;Text style={{ fontFamily: '华文中宋', fontSize: 18, fontWeight: 'bold', color: '#D97757' }}&gt;01&lt;/Text&gt;&#10;            &lt;Text style={{ fontFamily: '微软雅黑', fontSize: 16, color: '#1F1E1B' }}&gt;强制生命周期 —— 10 阶段 · 3 断点流水线&lt;/Text&gt;&#10;          &lt;/Box&gt;&#10;          &lt;Box style={{ flexDirection: 'row', gap: 12, alignItems: 'center' }}&gt;&#10;            &lt;Text style={{ fontFamily: '华文中宋', fontSize: 18, fontWeight: 'bold', color: '#D97757' }}&gt;02&lt;/Text&gt;&#10;            &lt;Text style={{ fontFamily: '微软雅黑', fontSize: 16, color: '#1F1E1B' }}&gt;三个断点 —— 人来回答的三道题&lt;/Text&gt;&#10;          &lt;/Box&gt;&#10;          &lt;Box style={{ flexDirection: 'row', gap: 12, alignItems: 'center' }}&gt;&#10;            &lt;Text style={{ fontFamily: '华文中宋', fontSize: 18, fontWeight: 'bold', color: '#D97757' }}&gt;03&lt;/Text&gt;&#10;            &lt;Text style={{ fontFamily: '微软雅黑', fontSize: 16, color: '#1F1E1B' }}&gt;动手之前 —— 需求五步法与交付类型拆解&lt;/Text&gt;&#10;          &lt;/Box&gt;&#10;          &lt;Box style={{ flexDirection: 'row', gap: 12, alignItems: 'center' }}&gt;&#10;            &lt;Text style={{ fontFamily: '华文中宋', fontSize: 18, fontWeight: 'bold', color: '#D97757' }}&gt;04&lt;/Text&gt;&#10;            &lt;Text style={{ fontFamily: '微软雅黑', fontSize: 16, color: '#1F1E1B' }}&gt;安全底线 —— 五条红线，三步上手&lt;/Text&gt;&#10;          &lt;/Box&gt;&#10;        &lt;/Box&gt;&#10;      &lt;/Box&gt;&#10;      &lt;Box style={{ width: 1, height: 480, background: '#A9A294', opacity: 0.3, alignSelf: 'center' }} /&gt;&#10;      &lt;Box style={{ flex: 1, flexDirection: 'column', justifyContent: 'center', gap: 20 }}&gt;&#10;        &lt;Box style={{ flexDirection: 'row', alignItems: 'center', gap: 14 }}&gt;&#10;          &lt;Text style={{ fontFamily: '华文中宋', fontSize: 40, fontWeight: 'bold', color: '#D97757', lineHeight: 1 }}&gt;下篇&lt;/Text&gt;&#10;          &lt;Text style={{ fontFamily: '微软雅黑', fontSize: 21, fontWeight: 'bold', color: '#1F1E1B' }}&gt;实战 · 当 OA 遇上 AI 数字员工&lt;/Text&gt;&#10;        &lt;/Box&gt;&#10;        &lt;Text style={{ fontFamily: '微软雅黑', fontSize: 15, color: '#A9A294', lineHeight: 1.5 }}&gt;用上篇的方法论，把真实系统跑通&lt;/Text&gt;&#10;        &lt;Box style={{ flexDirection: 'column', gap: 14, marginTop: 8 }}&gt;&#10;          &lt;Box style={{ flexDirection: 'row', gap: 12, alignItems: 'center' }}&gt;&#10;            &lt;Text style={{ fontFamily: '华文中宋', fontSize: 18, fontWeight: 'bold', color: '#D97757' }}&gt;01&lt;/Text&gt;&#10;            &lt;Box&gt;&#10;              &lt;Text style={{ fontFamily: '微软雅黑', fontSize: 16, fontWeight: 'bold', color: '#1F1E1B' }}&gt;为什么&lt;/Text&gt;&#10;              &lt;Text style={{ fontFamily: '微软雅黑', fontSize: 14, color: '#A9A294' }}&gt;  审批流会「卡死」，AI 能不能发现它、并且去催？&lt;/Text&gt;&#10;            &lt;/Box&gt;&#10;          &lt;/Box&gt;&#10;          &lt;Box style={{ flexDirection: 'row', gap: 12, alignItems: 'center' }}&gt;&#10;            &lt;Text style={{ fontFamily: '华文中宋', fontSize: 18, fontWeight: 'bold', color: '#D97757' }}&gt;02&lt;/Text&gt;&#10;            &lt;Box&gt;&#10;              &lt;Text style={{ fontFamily: '微软雅黑', fontSize: 16, fontWeight: 'bold', color: '#1F1E1B' }}&gt;靠什么&lt;/Text&gt;&#10;              &lt;Text style={{ fontFamily: '微软雅黑', fontSize: 14, color: '#A9A294' }}&gt;  OA 是个老系统，怎么给 AI 开一扇门？&lt;/Text&gt;&#10;            &lt;/Box&gt;&#10;          &lt;/Box&gt;&#10;          &lt;Box style={{ flexDirection: 'row', gap: 12, alignItems: 'center' }}&gt;&#10;            &lt;Text style={{ fontFamily: '华文中宋', fontSize: 18, fontWeight: 'bold', color: '#D97757' }}&gt;03&lt;/Text&gt;&#10;            &lt;Box&gt;&#10;              &lt;Text style={{ fontFamily: '微软雅黑', fontSize: 16, fontWeight: 'bold', color: '#1F1E1B' }}&gt;怎么连&lt;/Text&gt;&#10;              &lt;Text style={{ fontFamily: '微软雅黑', fontSize: 14, color: '#A9A294' }}&gt;  OpenClaw 是平台，怎么让它干活形成闭环？&lt;/Text&gt;&#10;            &lt;/Box&gt;&#10;          &lt;/Box&gt;&#10;        &lt;/Box&gt;&#10;        &lt;Box style={{ flexDirection: 'row', gap: 12, alignItems: 'center' }}&gt;&#10;          &lt;FAIcon name=&quot;gift&quot; style={{ fill: '#D97757', width: 18, height: 18 }} /&gt;&#10;          &lt;Text style={{ fontFamily: '微软雅黑', fontSize: 15, color: '#1F1E1B' }}&gt;附赠：&lt;span style={{ fontWeight: 'bold' }}&gt;踩坑实录&lt;/span&gt; + &lt;span style={{ fontWeight: 'bold' }}&gt;现场演示&lt;/span&gt;&lt;/Text&gt;&#10;        &lt;/Box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2 / 22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今天讲什么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66750" y="2514600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D97757"/>
                </a:solidFill>
                <a:latin typeface="华文中宋"/>
                <a:ea typeface="华文中宋"/>
              </a:rPr>
              <a:t>上篇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562100" y="2619375"/>
            <a:ext cx="2200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方法论</a:t>
            </a:r>
            <a:r>
              <a:rPr lang="en-US" sz="1575" b="1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数字员工搭建器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66750" y="316230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把一句话需求，做成可交付的数字员工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66750" y="36861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000125" y="3695700"/>
            <a:ext cx="292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强制生命周期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—— 10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阶段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· 3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断点流水线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66750" y="40290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00125" y="4038600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三个断点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人来回答的三道题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66750" y="43719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000125" y="43815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动手之前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需求五步法与交付类型拆解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66750" y="47148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57"/>
                </a:solidFill>
                <a:latin typeface="华文中宋"/>
                <a:ea typeface="华文中宋"/>
              </a:rPr>
              <a:t>04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00125" y="4724400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安全底线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五条红线，三步上手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524625" y="2286000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D97757"/>
                </a:solidFill>
                <a:latin typeface="华文中宋"/>
                <a:ea typeface="华文中宋"/>
              </a:rPr>
              <a:t>下篇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419975" y="2390775"/>
            <a:ext cx="2733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实战</a:t>
            </a:r>
            <a:r>
              <a:rPr lang="en-US" sz="1575" b="1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当</a:t>
            </a:r>
            <a:r>
              <a:rPr lang="en-US" sz="1575" b="1">
                <a:solidFill>
                  <a:srgbClr val="1F1E1B"/>
                </a:solidFill>
                <a:latin typeface="微软雅黑"/>
                <a:ea typeface="微软雅黑"/>
              </a:rPr>
              <a:t> OA </a:t>
            </a: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遇上</a:t>
            </a:r>
            <a:r>
              <a:rPr lang="en-US" sz="1575" b="1">
                <a:solidFill>
                  <a:srgbClr val="1F1E1B"/>
                </a:solidFill>
                <a:latin typeface="微软雅黑"/>
                <a:ea typeface="微软雅黑"/>
              </a:rPr>
              <a:t> AI </a:t>
            </a: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数字员工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524625" y="2933700"/>
            <a:ext cx="5000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用上篇的方法论，把真实系统跑通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524625" y="35337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858000" y="3457575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为什么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858000" y="36480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审批流会「卡死」，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能不能发现它、并且去催？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524625" y="40195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858000" y="3943350"/>
            <a:ext cx="2409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靠什么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858000" y="41338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 OA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是个老系统，怎么给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开一扇门？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524625" y="45053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858000" y="4429125"/>
            <a:ext cx="2809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怎么连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858000" y="4619625"/>
            <a:ext cx="2809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 OpenClaw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是平台，怎么让它干活形成闭环？</a:t>
            </a:r>
            <a:endParaRPr/>
          </a:p>
        </p:txBody>
      </p:sp>
      <p:pic>
        <p:nvPicPr>
          <p:cNvPr id="3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524625" y="4972050"/>
            <a:ext cx="171450" cy="171450"/>
          </a:xfrm>
          <a:prstGeom prst="rect">
            <a:avLst/>
          </a:prstGeom>
          <a:ln/>
        </p:spPr>
      </p:pic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810375" y="4972050"/>
            <a:ext cx="179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附赠：</a:t>
            </a:r>
            <a:r>
              <a:rPr lang="zh-CN" sz="1125" b="1">
                <a:solidFill>
                  <a:srgbClr val="1F1E1B"/>
                </a:solidFill>
                <a:latin typeface="微软雅黑"/>
                <a:ea typeface="微软雅黑"/>
              </a:rPr>
              <a:t>踩坑实录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+ </a:t>
            </a:r>
            <a:r>
              <a:rPr lang="zh-CN" sz="1125" b="1">
                <a:solidFill>
                  <a:srgbClr val="1F1E1B"/>
                </a:solidFill>
                <a:latin typeface="微软雅黑"/>
                <a:ea typeface="微软雅黑"/>
              </a:rPr>
              <a:t>现场演示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02 / 22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0" y="1428750"/>
            <a:ext cx="9525" cy="4572000"/>
          </a:xfrm>
          <a:prstGeom prst="rect">
            <a:avLst/>
          </a:prstGeom>
          <a:solidFill>
            <a:srgbClr val="A9A294">
              <a:alpha val="30000"/>
            </a:srgbClr>
          </a:solidFill>
          <a:ln/>
        </p:spPr>
        <p:txBody>
          <a:bodyPr/>
          <a:p/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17" name="" descr="&lt;Slide notes={`上篇我们先讲工具。数字员工搭建器是 OpenClaw 上的一个 skill，它的核心主张就一句话：把一句话需求，做成可交付的数字员工。它最强的设计是「强制生命周期」——从需求接入到上线运营一共 10 个阶段，中间卡着 G1、G2、G3 三个断点，全部要人工审批，没有人拍板，流程就不许往前走。这堂课不需要任何 AI 基础，业务同事听完就能上手。`}&gt;&#10;  &lt;Box style={{ flexDirection: 'row', width: '100%', height: 720, background: '#FAF9F5' }}&gt;&#10;    &lt;Box style={{ width: 640, height: 720, padding: '90px 40px 60px 70px', justifyContent: 'space-between' }}&gt;&#10;      &lt;Box style={{ flexDirection: 'column', gap: 26 }}&gt;&#10;        &lt;Text style={{ fontFamily: '微软雅黑', fontSize: 15, color: '#A9A294', letterSpacing: 4 }}&gt;上篇 · 方法论&lt;/Text&gt;&#10;        &lt;Text style={{ fontFamily: '华文中宋', fontSize: 52, fontWeight: 'bold', color: '#1F1E1B', lineHeight: 1.3 }}&gt;数字员工&lt;br /&gt;&lt;span style={{ color: '#D97757' }}&gt;搭建器&lt;/span&gt;&lt;/Text&gt;&#10;        &lt;Text style={{ fontFamily: '微软雅黑', fontSize: 19, color: '#A9A294', lineHeight: 1.6 }}&gt;把一句话需求，做成可交付的数字员工&lt;br /&gt;从需求接入到上线运营的强制生命周期&lt;/Text&gt;&#10;        &lt;Box style={{ flexDirection: 'row', gap: 12, marginTop: 6 }}&gt;&#10;          &lt;Box style={{ padding: '8px 16px', background: '#D97757', borderRadius: 8 }}&gt;&#10;            &lt;Text style={{ fontFamily: '微软雅黑', fontSize: 14, fontWeight: 'bold', color: '#FAF9F5' }}&gt;G1 · 需求审核&lt;/Text&gt;&#10;          &lt;/Box&gt;&#10;          &lt;Box style={{ padding: '8px 16px', background: '#D97757', borderRadius: 8 }}&gt;&#10;            &lt;Text style={{ fontFamily: '微软雅黑', fontSize: 14, fontWeight: 'bold', color: '#FAF9F5' }}&gt;G2 · 方案审批&lt;/Text&gt;&#10;          &lt;/Box&gt;&#10;          &lt;Box style={{ padding: '8px 16px', background: '#D97757', borderRadius: 8 }}&gt;&#10;            &lt;Text style={{ fontFamily: '微软雅黑', fontSize: 14, fontWeight: 'bold', color: '#FAF9F5' }}&gt;G3 · 任务确认&lt;/Text&gt;&#10;          &lt;/Box&gt;&#10;        &lt;/Box&gt;&#10;        &lt;Text style={{ fontFamily: '微软雅黑', fontSize: 16, color: '#1F1E1B', lineHeight: 1.6 }}&gt;&lt;span style={{ fontWeight: 'bold' }}&gt;3 个人工审批断点&lt;/span&gt;：没有人拍板，流程不许前进&lt;/Text&gt;&#10;      &lt;/Box&gt;&#10;      &lt;Box style={{ flexDirection: 'row', justifyContent: 'space-between', alignItems: 'center' }}&gt;&#10;        &lt;Text style={{ fontFamily: '微软雅黑', fontSize: 13, color: '#A9A294' }}&gt;教学对象：业务同事（无需 AI 基础）· 平台 OpenClaw&lt;/Text&gt;&#10;        &lt;Text style={{ fontFamily: '微软雅黑', fontSize: 13, color: '#A9A294' }}&gt;03 / 22&lt;/Text&gt;&#10;      &lt;/Box&gt;&#10;    &lt;/Box&gt;&#10;    &lt;Image src=&quot;assets/sentry.png&quot; style={{ width: 640, height: 720, objectFit: 'cover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66750" y="857250"/>
            <a:ext cx="504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上篇</a:t>
            </a:r>
            <a:r>
              <a:rPr lang="en-US" sz="1125" spc="300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方法论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66750" y="1276350"/>
            <a:ext cx="5048250" cy="1552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1F1E1B"/>
                </a:solidFill>
                <a:latin typeface="华文中宋"/>
                <a:ea typeface="华文中宋"/>
              </a:rPr>
              <a:t>数字员工</a:t>
            </a:r>
            <a:endParaRPr/>
          </a:p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D97757"/>
                </a:solidFill>
                <a:latin typeface="华文中宋"/>
                <a:ea typeface="华文中宋"/>
              </a:rPr>
              <a:t>搭建器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66750" y="3076575"/>
            <a:ext cx="504825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把一句话需求，做成可交付的数字员工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从需求接入到上线运营的强制生命周期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66750" y="4076700"/>
            <a:ext cx="1162050" cy="314325"/>
          </a:xfrm>
          <a:prstGeom prst="roundRect">
            <a:avLst>
              <a:gd name="adj" fmla="val 24242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19150" y="4152900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微软雅黑"/>
                <a:ea typeface="微软雅黑"/>
              </a:rPr>
              <a:t>G1 · </a:t>
            </a:r>
            <a:r>
              <a:rPr lang="zh-CN" sz="1050" b="1">
                <a:solidFill>
                  <a:srgbClr val="FAF9F5"/>
                </a:solidFill>
                <a:latin typeface="微软雅黑"/>
                <a:ea typeface="微软雅黑"/>
              </a:rPr>
              <a:t>需求审核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1943100" y="4076700"/>
            <a:ext cx="1162050" cy="314325"/>
          </a:xfrm>
          <a:prstGeom prst="roundRect">
            <a:avLst>
              <a:gd name="adj" fmla="val 24242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2095500" y="4152900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微软雅黑"/>
                <a:ea typeface="微软雅黑"/>
              </a:rPr>
              <a:t>G2 · </a:t>
            </a:r>
            <a:r>
              <a:rPr lang="zh-CN" sz="1050" b="1">
                <a:solidFill>
                  <a:srgbClr val="FAF9F5"/>
                </a:solidFill>
                <a:latin typeface="微软雅黑"/>
                <a:ea typeface="微软雅黑"/>
              </a:rPr>
              <a:t>方案审批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3219450" y="4076700"/>
            <a:ext cx="1162050" cy="314325"/>
          </a:xfrm>
          <a:prstGeom prst="roundRect">
            <a:avLst>
              <a:gd name="adj" fmla="val 24242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3371850" y="4152900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微软雅黑"/>
                <a:ea typeface="微软雅黑"/>
              </a:rPr>
              <a:t>G3 · </a:t>
            </a:r>
            <a:r>
              <a:rPr lang="zh-CN" sz="1050" b="1">
                <a:solidFill>
                  <a:srgbClr val="FAF9F5"/>
                </a:solidFill>
                <a:latin typeface="微软雅黑"/>
                <a:ea typeface="微软雅黑"/>
              </a:rPr>
              <a:t>任务确认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66750" y="4638675"/>
            <a:ext cx="5048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3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个人工审批断点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：没有人拍板，流程不许前进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66750" y="6134100"/>
            <a:ext cx="3057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教学对象：业务同事（无需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基础）·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平台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OpenClaw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276850" y="6134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03 / 22</a:t>
            </a:r>
            <a:endParaRPr/>
          </a:p>
        </p:txBody>
      </p:sp>
      <p:pic>
        <p:nvPicPr>
          <p:cNvPr id="431" name=""/>
          <p:cNvPicPr>
            <a:picLocks noChangeAspect="1"/>
          </p:cNvPicPr>
          <p:nvPr/>
        </p:nvPicPr>
        <p:blipFill>
          <a:blip r:embed="rId1"/>
          <a:srcRect l="5555" t="0" r="5555" b="0"/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32" name="" descr="&lt;Slide notes={`这就是那条强制流水线：一句话需求进来，01 需求接入、02 需求分析走五步法，然后卡在 G1——需求完整性审核，人来批；过了 G1 再做 03 交付类型拆解、04 方案设计，卡在 G2——方案审批；再往下 05 开发计划，卡在 G3——任务确认；过了 G3 才允许 06 授权执行，最后 07 验证、08 验收、09 试点、10 运营。三个赤陶色节点就是断点，AI 不能代替决定。整个流程有个唯一事实源 project-state.md，所有阶段产物和审批记录都沉淀在里面，中断了从当前状态恢复就能继续。`}&gt;&#10;  &lt;Slide style={{ background: '#FAF9F5', padding: '20px 70px', width: 1280, height: 720 }}&gt;&#10;    &lt;Box style={{ height: 88, justifyContent: 'center' }}&gt;&#10;      &lt;Text style={{ fontFamily: '华文中宋', fontSize: 32, fontWeight: 'bold', color: '#1F1E1B' }}&gt;强制生命周期：10 阶段 · 3 断点&lt;/Text&gt;&#10;      &lt;Text style={{ fontFamily: '微软雅黑', fontSize: 13, color: '#A9A294', letterSpacing: 2, marginTop: 4 }}&gt;LIFECYCLE · 10 STAGES + 3 GATES&lt;/Text&gt;&#10;    &lt;/Box&gt;&#10;    &lt;Box style={{ flexDirection: 'row', gap: 12, height: 56, alignItems: 'center' }}&gt;&#10;      &lt;Box style={{ flex: 1, flexDirection: 'row', alignItems: 'center', gap: 10, padding: '10px 14px', background: 'rgba(31,30,27,0.04)', borderRadius: 10 }}&gt;&#10;        &lt;FAIcon name=&quot;robot&quot; style={{ fill: '#D97757', width: 18, height: 18 }} /&gt;&#10;        &lt;Text style={{ fontFamily: '微软雅黑', fontSize: 14, color: '#1F1E1B' }}&gt;&lt;span style={{ fontWeight: 'bold' }}&gt;AI 负责干活&lt;/span&gt;——收集事实、生成方案、执行任务&lt;/Text&gt;&#10;      &lt;/Box&gt;&#10;      &lt;Box style={{ flex: 1, flexDirection: 'row', alignItems: 'center', gap: 10, padding: '10px 14px', background: 'rgba(31,30,27,0.04)', borderRadius: 10 }}&gt;&#10;        &lt;FAIcon name=&quot;user&quot; style={{ fill: '#D97757', width: 18, height: 18 }} /&gt;&#10;        &lt;Text style={{ fontFamily: '微软雅黑', fontSize: 14, color: '#1F1E1B' }}&gt;&lt;span style={{ fontWeight: 'bold' }}&gt;人负责拍板&lt;/span&gt;——确认事实、审核需求、审批方案&lt;/Text&gt;&#10;      &lt;/Box&gt;&#10;      &lt;Box style={{ flex: 1, flexDirection: 'row', alignItems: 'center', gap: 10, padding: '10px 14px', background: 'rgba(31,30,27,0.04)', borderRadius: 10 }}&gt;&#10;        &lt;FAIcon name=&quot;file-text&quot; style={{ fill: '#D97757', width: 18, height: 18 }} /&gt;&#10;        &lt;Text style={{ fontFamily: '微软雅黑', fontSize: 14, color: '#1F1E1B' }}&gt;&lt;span style={{ fontWeight: 'bold' }}&gt;事实有存档&lt;/span&gt;——审批记录写入 project-state.md&lt;/Text&gt;&#10;      &lt;/Box&gt;&#10;    &lt;/Box&gt;&#10;    &lt;Box style={{ flexDirection: 'column', gap: 10, height: 436, justifyContent: 'center' }}&gt;&#10;      &lt;Box style={{ flexDirection: 'row', gap: 8, alignItems: 'stretch' }}&gt;&#10;        &lt;Box style={{ flex: 1, padding: '12px 16px', background: 'rgba(31,30,27,0.04)', borderRadius: 12 }}&gt;&#10;          &lt;Text style={{ fontFamily: '华文中宋', fontSize: 17, fontWeight: 'bold', color: '#D97757' }}&gt;01 需求接入&lt;/Text&gt;&#10;          &lt;Text style={{ fontFamily: '微软雅黑', fontSize: 12, color: '#A9A294', marginTop: 3 }}&gt;一句话业务想法&lt;/Text&gt;&#10;        &lt;/Box&gt;&#10;        &lt;Box style={{ justifyContent: 'center' }}&gt;&lt;FAIcon name=&quot;arrow-right&quot; style={{ fill: '#A9A294', width: 15, height: 15 }} /&gt;&lt;/Box&gt;&#10;        &lt;Box style={{ flex: 1, padding: '12px 16px', background: 'rgba(31,30,27,0.04)', borderRadius: 12 }}&gt;&#10;          &lt;Text style={{ fontFamily: '华文中宋', fontSize: 17, fontWeight: 'bold', color: '#1F1E1B' }}&gt;02 需求分析&lt;/Text&gt;&#10;          &lt;Text style={{ fontFamily: '微软雅黑', fontSize: 12, color: '#A9A294', marginTop: 3 }}&gt;五步法（见第 6 页）&lt;/Text&gt;&#10;        &lt;/Box&gt;&#10;        &lt;Box style={{ justifyContent: 'center' }}&gt;&lt;FAIcon name=&quot;arrow-right&quot; style={{ fill: '#A9A294', width: 15, height: 15 }} /&gt;&lt;/Box&gt;&#10;        &lt;Box style={{ flex: 1.3, padding: '12px 16px', background: '#D97757', borderRadius: 12 }}&gt;&#10;          &lt;Text style={{ fontFamily: '华文中宋', fontSize: 17, fontWeight: 'bold', color: '#FAF9F5' }}&gt;G1 需求完整性审核&lt;/Text&gt;&#10;          &lt;Text style={{ fontFamily: '微软雅黑', fontSize: 12, color: '#FAF9F5', opacity: 0.85, marginTop: 3 }}&gt;人工审批断点 · 不可跳过&lt;/Text&gt;&#10;        &lt;/Box&gt;&#10;      &lt;/Box&gt;&#10;      &lt;Box style={{ flexDirection: 'row', gap: 8, alignItems: 'stretch' }}&gt;&#10;        &lt;Box style={{ flex: 1, padding: '12px 16px', background: 'rgba(31,30,27,0.04)', borderRadius: 12 }}&gt;&#10;          &lt;Text style={{ fontFamily: '华文中宋', fontSize: 17, fontWeight: 'bold', color: '#1F1E1B' }}&gt;03 交付类型拆解&lt;/Text&gt;&#10;          &lt;Text style={{ fontFamily: '微软雅黑', fontSize: 12, color: '#A9A294', marginTop: 3 }}&gt;做出来是什么形态？&lt;/Text&gt;&#10;        &lt;/Box&gt;&#10;        &lt;Box style={{ justifyContent: 'center' }}&gt;&lt;FAIcon name=&quot;arrow-right&quot; style={{ fill: '#A9A294', width: 15, height: 15 }} /&gt;&lt;/Box&gt;&#10;        &lt;Box style={{ flex: 1, padding: '12px 16px', background: 'rgba(31,30,27,0.04)', borderRadius: 12 }}&gt;&#10;          &lt;Text style={{ fontFamily: '华文中宋', fontSize: 17, fontWeight: 'bold', color: '#1F1E1B' }}&gt;04 方案设计&lt;/Text&gt;&#10;          &lt;Text style={{ fontFamily: '微软雅黑', fontSize: 12, color: '#A9A294', marginTop: 3 }}&gt;解决方案与架构图&lt;/Text&gt;&#10;        &lt;/Box&gt;&#10;        &lt;Box style={{ justifyContent: 'center' }}&gt;&lt;FAIcon name=&quot;arrow-right&quot; style={{ fill: '#A9A294', width: 15, height: 15 }} /&gt;&lt;/Box&gt;&#10;        &lt;Box style={{ flex: 1.3, padding: '12px 16px', background: '#D97757', borderRadius: 12 }}&gt;&#10;          &lt;Text style={{ fontFamily: '华文中宋', fontSize: 17, fontWeight: 'bold', color: '#FAF9F5' }}&gt;G2 解决方案审批&lt;/Text&gt;&#10;          &lt;Text style={{ fontFamily: '微软雅黑', fontSize: 12, color: '#FAF9F5', opacity: 0.85, marginTop: 3 }}&gt;人工审批断点 · 不可跳过&lt;/Text&gt;&#10;        &lt;/Box&gt;&#10;      &lt;/Box&gt;&#10;      &lt;Box style={{ flexDirection: 'row', gap: 8, alignItems: 'stretch' }}&gt;&#10;        &lt;Box style={{ flex: 1, padding: '12px 16px', background: 'rgba(31,30,27,0.04)', borderRadius: 12 }}&gt;&#10;          &lt;Text style={{ fontFamily: '华文中宋', fontSize: 17, fontWeight: 'bold', color: '#1F1E1B' }}&gt;05 开发计划&lt;/Text&gt;&#10;          &lt;Text style={{ fontFamily: '微软雅黑', fontSize: 12, color: '#A9A294', marginTop: 3 }}&gt;拆成可确认的任务清单&lt;/Text&gt;&#10;        &lt;/Box&gt;&#10;        &lt;Box style={{ justifyContent: 'center' }}&gt;&lt;FAIcon name=&quot;arrow-right&quot; style={{ fill: '#A9A294', width: 15, height: 15 }} /&gt;&lt;/Box&gt;&#10;        &lt;Box style={{ flex: 1.3, padding: '12px 16px', background: '#D97757', borderRadius: 12 }}&gt;&#10;          &lt;Text style={{ fontFamily: '华文中宋', fontSize: 17, fontWeight: 'bold', color: '#FAF9F5' }}&gt;G3 开发任务确认&lt;/Text&gt;&#10;          &lt;Text style={{ fontFamily: '微软雅黑', fontSize: 12, color: '#FAF9F5', opacity: 0.85, marginTop: 3 }}&gt;人工审批断点 · 不可跳过&lt;/Text&gt;&#10;        &lt;/Box&gt;&#10;        &lt;Box style={{ justifyContent: 'center' }}&gt;&lt;FAIcon name=&quot;arrow-right&quot; style={{ fill: '#A9A294', width: 15, height: 15 }} /&gt;&lt;/Box&gt;&#10;        &lt;Box style={{ flex: 1, padding: '12px 16px', background: '#1F1E1B', borderRadius: 12 }}&gt;&#10;          &lt;Text style={{ fontFamily: '华文中宋', fontSize: 17, fontWeight: 'bold', color: '#FAF9F5' }}&gt;06 授权执行&lt;/Text&gt;&#10;          &lt;Text style={{ fontFamily: '微软雅黑', fontSize: 12, color: '#FAF9F5', opacity: 0.65, marginTop: 3 }}&gt;AI 按批准的范围干活&lt;/Text&gt;&#10;        &lt;/Box&gt;&#10;      &lt;/Box&gt;&#10;      &lt;Box style={{ flexDirection: 'row', gap: 8, alignItems: 'stretch' }}&gt;&#10;        &lt;Box style={{ flex: 1, padding: '12px 16px', background: 'rgba(31,30,27,0.04)', borderRadius: 12 }}&gt;&#10;          &lt;Text style={{ fontFamily: '华文中宋', fontSize: 17, fontWeight: 'bold', color: '#1F1E1B' }}&gt;07 验证&lt;/Text&gt;&#10;          &lt;Text style={{ fontFamily: '微软雅黑', fontSize: 12, color: '#A9A294', marginTop: 3 }}&gt;逐条核对需求&lt;/Text&gt;&#10;        &lt;/Box&gt;&#10;        &lt;Box style={{ justifyContent: 'center' }}&gt;&lt;FAIcon name=&quot;arrow-right&quot; style={{ fill: '#A9A294', width: 15, height: 15 }} /&gt;&lt;/Box&gt;&#10;        &lt;Box style={{ flex: 1, padding: '12px 16px', background: 'rgba(31,30,27,0.04)', borderRadius: 12 }}&gt;&#10;          &lt;Text style={{ fontFamily: '华文中宋', fontSize: 17, fontWeight: 'bold', color: '#1F1E1B' }}&gt;08 验收&lt;/Text&gt;&#10;          &lt;Text style={{ fontFamily: '微软雅黑', fontSize: 12, color: '#A9A294', marginTop: 3 }}&gt;非设计员工验收&lt;/Text&gt;&#10;        &lt;/Box&gt;&#10;        &lt;Box style={{ justifyContent: 'center' }}&gt;&lt;FAIcon name=&quot;arrow-right&quot; style={{ fill: '#A9A294', width: 15, height: 15 }} /&gt;&lt;/Box&gt;&#10;        &lt;Box style={{ flex: 1, padding: '12px 16px', background: 'rgba(31,30,27,0.04)', borderRadius: 12 }}&gt;&#10;          &lt;Text style={{ fontFamily: '华文中宋', fontSize: 17, fontWeight: 'bold', color: '#1F1E1B' }}&gt;09 试点&lt;/Text&gt;&#10;          &lt;Text style={{ fontFamily: '微软雅黑', fontSize: 12, color: '#A9A294', marginTop: 3 }}&gt;小范围真实运行&lt;/Text&gt;&#10;        &lt;/Box&gt;&#10;        &lt;Box style={{ justifyContent: 'center' }}&gt;&lt;FAIcon name=&quot;arrow-right&quot; style={{ fill: '#A9A294', width: 15, height: 15 }} /&gt;&lt;/Box&gt;&#10;        &lt;Box style={{ flex: 1, padding: '12px 16px', background: 'rgba(31,30,27,0.04)', borderRadius: 12 }}&gt;&#10;          &lt;Text style={{ fontFamily: '华文中宋', fontSize: 17, fontWeight: 'bold', color: '#1F1E1B' }}&gt;10 运营&lt;/Text&gt;&#10;          &lt;Text style={{ fontFamily: '微软雅黑', fontSize: 12, color: '#A9A294', marginTop: 3 }}&gt;监控与变更复审&lt;/Text&gt;&#10;        &lt;/Box&gt;&#10;      &lt;/Box&gt;&#10;    &lt;/Box&gt;&#10;    &lt;Box style={{ height: 60, flexDirection: 'row', justifyContent: 'space-between', alignItems: 'center' }}&gt;&#10;      &lt;Text style={{ fontFamily: '微软雅黑', fontSize: 14, color: '#A9A294' }}&gt;唯一事实源 &lt;span style={{ fontWeight: 'bold', color: '#1F1E1B' }}&gt;project-state.md&lt;/span&gt;：所有阶段产物与审批记录沉淀于此，中断后从当前状态恢复即可继续&lt;/Text&gt;&#10;      &lt;Text style={{ fontFamily: '微软雅黑', fontSize: 13, color: '#A9A294' }}&gt;04 / 22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66750" y="333375"/>
            <a:ext cx="10858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1E1B"/>
                </a:solidFill>
                <a:latin typeface="华文中宋"/>
                <a:ea typeface="华文中宋"/>
              </a:rPr>
              <a:t>强制生命周期：</a:t>
            </a:r>
            <a:r>
              <a:rPr lang="en-US" sz="2400" b="1">
                <a:solidFill>
                  <a:srgbClr val="1F1E1B"/>
                </a:solidFill>
                <a:latin typeface="华文中宋"/>
                <a:ea typeface="华文中宋"/>
              </a:rPr>
              <a:t>10 </a:t>
            </a:r>
            <a:r>
              <a:rPr lang="zh-CN" sz="2400" b="1">
                <a:solidFill>
                  <a:srgbClr val="1F1E1B"/>
                </a:solidFill>
                <a:latin typeface="华文中宋"/>
                <a:ea typeface="华文中宋"/>
              </a:rPr>
              <a:t>阶段</a:t>
            </a:r>
            <a:r>
              <a:rPr lang="en-US" sz="2400" b="1">
                <a:solidFill>
                  <a:srgbClr val="1F1E1B"/>
                </a:solidFill>
                <a:latin typeface="华文中宋"/>
                <a:ea typeface="华文中宋"/>
              </a:rPr>
              <a:t> · 3 </a:t>
            </a:r>
            <a:r>
              <a:rPr lang="zh-CN" sz="2400" b="1">
                <a:solidFill>
                  <a:srgbClr val="1F1E1B"/>
                </a:solidFill>
                <a:latin typeface="华文中宋"/>
                <a:ea typeface="华文中宋"/>
              </a:rPr>
              <a:t>断点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66750" y="7429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A9A294"/>
                </a:solidFill>
                <a:latin typeface="微软雅黑"/>
                <a:ea typeface="微软雅黑"/>
              </a:rPr>
              <a:t>LIFECYCLE · 10 STAGES + 3 GATES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66750" y="1114425"/>
            <a:ext cx="3543300" cy="361950"/>
          </a:xfrm>
          <a:prstGeom prst="roundRect">
            <a:avLst>
              <a:gd name="adj" fmla="val 2631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4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209675"/>
            <a:ext cx="171450" cy="171450"/>
          </a:xfrm>
          <a:prstGeom prst="rect">
            <a:avLst/>
          </a:prstGeom>
          <a:ln/>
        </p:spPr>
      </p:pic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66800" y="12192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050" b="1">
                <a:solidFill>
                  <a:srgbClr val="1F1E1B"/>
                </a:solidFill>
                <a:latin typeface="微软雅黑"/>
                <a:ea typeface="微软雅黑"/>
              </a:rPr>
              <a:t>负责干活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——收集事实、生成方案、执行任务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4324350" y="1114425"/>
            <a:ext cx="3543300" cy="361950"/>
          </a:xfrm>
          <a:prstGeom prst="roundRect">
            <a:avLst>
              <a:gd name="adj" fmla="val 2631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4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57700" y="1209675"/>
            <a:ext cx="171450" cy="171450"/>
          </a:xfrm>
          <a:prstGeom prst="rect">
            <a:avLst/>
          </a:prstGeom>
          <a:ln/>
        </p:spPr>
      </p:pic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724400" y="1219200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1E1B"/>
                </a:solidFill>
                <a:latin typeface="微软雅黑"/>
                <a:ea typeface="微软雅黑"/>
              </a:rPr>
              <a:t>人负责拍板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——确认事实、审核需求、审批方案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7981950" y="1114425"/>
            <a:ext cx="3543300" cy="361950"/>
          </a:xfrm>
          <a:prstGeom prst="roundRect">
            <a:avLst>
              <a:gd name="adj" fmla="val 2631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4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15300" y="1209675"/>
            <a:ext cx="171450" cy="171450"/>
          </a:xfrm>
          <a:prstGeom prst="rect">
            <a:avLst/>
          </a:prstGeom>
          <a:ln/>
        </p:spPr>
      </p:pic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382000" y="12192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1E1B"/>
                </a:solidFill>
                <a:latin typeface="微软雅黑"/>
                <a:ea typeface="微软雅黑"/>
              </a:rPr>
              <a:t>事实有存档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——审批记录写入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project-state.md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66750" y="2295525"/>
            <a:ext cx="3114675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19150" y="2409825"/>
            <a:ext cx="2809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7757"/>
                </a:solidFill>
                <a:latin typeface="华文中宋"/>
                <a:ea typeface="华文中宋"/>
              </a:rPr>
              <a:t>01 </a:t>
            </a:r>
            <a:r>
              <a:rPr lang="zh-CN" sz="1275" b="1">
                <a:solidFill>
                  <a:srgbClr val="D97757"/>
                </a:solidFill>
                <a:latin typeface="华文中宋"/>
                <a:ea typeface="华文中宋"/>
              </a:rPr>
              <a:t>需求接入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19150" y="2638425"/>
            <a:ext cx="2809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一句话业务想法</a:t>
            </a:r>
            <a:endParaRPr/>
          </a:p>
        </p:txBody>
      </p:sp>
      <p:pic>
        <p:nvPicPr>
          <p:cNvPr id="4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57625" y="2524125"/>
            <a:ext cx="142875" cy="142875"/>
          </a:xfrm>
          <a:prstGeom prst="rect">
            <a:avLst/>
          </a:prstGeom>
          <a:ln/>
        </p:spPr>
      </p:pic>
      <p:sp>
        <p:nvSpPr>
          <p:cNvPr id="449" name=""/>
          <p:cNvSpPr/>
          <p:nvPr/>
        </p:nvSpPr>
        <p:spPr>
          <a:xfrm rot="0" flipH="0" flipV="0">
            <a:off x="4076700" y="2295525"/>
            <a:ext cx="3105150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229100" y="2409825"/>
            <a:ext cx="2800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1E1B"/>
                </a:solidFill>
                <a:latin typeface="华文中宋"/>
                <a:ea typeface="华文中宋"/>
              </a:rPr>
              <a:t>02 </a:t>
            </a:r>
            <a:r>
              <a:rPr lang="zh-CN" sz="1275" b="1">
                <a:solidFill>
                  <a:srgbClr val="1F1E1B"/>
                </a:solidFill>
                <a:latin typeface="华文中宋"/>
                <a:ea typeface="华文中宋"/>
              </a:rPr>
              <a:t>需求分析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229100" y="2638425"/>
            <a:ext cx="2800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五步法（见第</a:t>
            </a: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 6 </a:t>
            </a: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页）</a:t>
            </a:r>
            <a:endParaRPr/>
          </a:p>
        </p:txBody>
      </p:sp>
      <p:pic>
        <p:nvPicPr>
          <p:cNvPr id="4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58050" y="2524125"/>
            <a:ext cx="142875" cy="142875"/>
          </a:xfrm>
          <a:prstGeom prst="rect">
            <a:avLst/>
          </a:prstGeom>
          <a:ln/>
        </p:spPr>
      </p:pic>
      <p:sp>
        <p:nvSpPr>
          <p:cNvPr id="453" name=""/>
          <p:cNvSpPr/>
          <p:nvPr/>
        </p:nvSpPr>
        <p:spPr>
          <a:xfrm rot="0" flipH="0" flipV="0">
            <a:off x="7477125" y="2295525"/>
            <a:ext cx="4048125" cy="600075"/>
          </a:xfrm>
          <a:prstGeom prst="roundRect">
            <a:avLst>
              <a:gd name="adj" fmla="val 19048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629525" y="2409825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F9F5"/>
                </a:solidFill>
                <a:latin typeface="华文中宋"/>
                <a:ea typeface="华文中宋"/>
              </a:rPr>
              <a:t>G1 </a:t>
            </a:r>
            <a:r>
              <a:rPr lang="zh-CN" sz="1275" b="1">
                <a:solidFill>
                  <a:srgbClr val="FAF9F5"/>
                </a:solidFill>
                <a:latin typeface="华文中宋"/>
                <a:ea typeface="华文中宋"/>
              </a:rPr>
              <a:t>需求完整性审核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66750" y="2990850"/>
            <a:ext cx="3114675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19150" y="3105150"/>
            <a:ext cx="2809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1E1B"/>
                </a:solidFill>
                <a:latin typeface="华文中宋"/>
                <a:ea typeface="华文中宋"/>
              </a:rPr>
              <a:t>03 </a:t>
            </a:r>
            <a:r>
              <a:rPr lang="zh-CN" sz="1275" b="1">
                <a:solidFill>
                  <a:srgbClr val="1F1E1B"/>
                </a:solidFill>
                <a:latin typeface="华文中宋"/>
                <a:ea typeface="华文中宋"/>
              </a:rPr>
              <a:t>交付类型拆解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19150" y="3333750"/>
            <a:ext cx="2809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做出来是什么形态？</a:t>
            </a:r>
            <a:endParaRPr/>
          </a:p>
        </p:txBody>
      </p:sp>
      <p:pic>
        <p:nvPicPr>
          <p:cNvPr id="4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57625" y="3219450"/>
            <a:ext cx="142875" cy="142875"/>
          </a:xfrm>
          <a:prstGeom prst="rect">
            <a:avLst/>
          </a:prstGeom>
          <a:ln/>
        </p:spPr>
      </p:pic>
      <p:sp>
        <p:nvSpPr>
          <p:cNvPr id="459" name=""/>
          <p:cNvSpPr/>
          <p:nvPr/>
        </p:nvSpPr>
        <p:spPr>
          <a:xfrm rot="0" flipH="0" flipV="0">
            <a:off x="4076700" y="2990850"/>
            <a:ext cx="3105150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229100" y="3105150"/>
            <a:ext cx="2800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1E1B"/>
                </a:solidFill>
                <a:latin typeface="华文中宋"/>
                <a:ea typeface="华文中宋"/>
              </a:rPr>
              <a:t>04 </a:t>
            </a:r>
            <a:r>
              <a:rPr lang="zh-CN" sz="1275" b="1">
                <a:solidFill>
                  <a:srgbClr val="1F1E1B"/>
                </a:solidFill>
                <a:latin typeface="华文中宋"/>
                <a:ea typeface="华文中宋"/>
              </a:rPr>
              <a:t>方案设计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229100" y="3333750"/>
            <a:ext cx="2800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解决方案与架构图</a:t>
            </a:r>
            <a:endParaRPr/>
          </a:p>
        </p:txBody>
      </p:sp>
      <p:pic>
        <p:nvPicPr>
          <p:cNvPr id="4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58050" y="3219450"/>
            <a:ext cx="142875" cy="142875"/>
          </a:xfrm>
          <a:prstGeom prst="rect">
            <a:avLst/>
          </a:prstGeom>
          <a:ln/>
        </p:spPr>
      </p:pic>
      <p:sp>
        <p:nvSpPr>
          <p:cNvPr id="463" name=""/>
          <p:cNvSpPr/>
          <p:nvPr/>
        </p:nvSpPr>
        <p:spPr>
          <a:xfrm rot="0" flipH="0" flipV="0">
            <a:off x="7477125" y="2990850"/>
            <a:ext cx="4048125" cy="600075"/>
          </a:xfrm>
          <a:prstGeom prst="roundRect">
            <a:avLst>
              <a:gd name="adj" fmla="val 19048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629525" y="3105150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F9F5"/>
                </a:solidFill>
                <a:latin typeface="华文中宋"/>
                <a:ea typeface="华文中宋"/>
              </a:rPr>
              <a:t>G2 </a:t>
            </a:r>
            <a:r>
              <a:rPr lang="zh-CN" sz="1275" b="1">
                <a:solidFill>
                  <a:srgbClr val="FAF9F5"/>
                </a:solidFill>
                <a:latin typeface="华文中宋"/>
                <a:ea typeface="华文中宋"/>
              </a:rPr>
              <a:t>解决方案审批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66750" y="3686175"/>
            <a:ext cx="3114675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19150" y="3800475"/>
            <a:ext cx="2809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1E1B"/>
                </a:solidFill>
                <a:latin typeface="华文中宋"/>
                <a:ea typeface="华文中宋"/>
              </a:rPr>
              <a:t>05 </a:t>
            </a:r>
            <a:r>
              <a:rPr lang="zh-CN" sz="1275" b="1">
                <a:solidFill>
                  <a:srgbClr val="1F1E1B"/>
                </a:solidFill>
                <a:latin typeface="华文中宋"/>
                <a:ea typeface="华文中宋"/>
              </a:rPr>
              <a:t>开发计划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19150" y="4029075"/>
            <a:ext cx="2809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拆成可确认的任务清单</a:t>
            </a:r>
            <a:endParaRPr/>
          </a:p>
        </p:txBody>
      </p:sp>
      <p:pic>
        <p:nvPicPr>
          <p:cNvPr id="4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57625" y="3914775"/>
            <a:ext cx="142875" cy="142875"/>
          </a:xfrm>
          <a:prstGeom prst="rect">
            <a:avLst/>
          </a:prstGeom>
          <a:ln/>
        </p:spPr>
      </p:pic>
      <p:sp>
        <p:nvSpPr>
          <p:cNvPr id="469" name=""/>
          <p:cNvSpPr/>
          <p:nvPr/>
        </p:nvSpPr>
        <p:spPr>
          <a:xfrm rot="0" flipH="0" flipV="0">
            <a:off x="4076700" y="3686175"/>
            <a:ext cx="4038600" cy="600075"/>
          </a:xfrm>
          <a:prstGeom prst="roundRect">
            <a:avLst>
              <a:gd name="adj" fmla="val 19048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229100" y="380047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F9F5"/>
                </a:solidFill>
                <a:latin typeface="华文中宋"/>
                <a:ea typeface="华文中宋"/>
              </a:rPr>
              <a:t>G3 </a:t>
            </a:r>
            <a:r>
              <a:rPr lang="zh-CN" sz="1275" b="1">
                <a:solidFill>
                  <a:srgbClr val="FAF9F5"/>
                </a:solidFill>
                <a:latin typeface="华文中宋"/>
                <a:ea typeface="华文中宋"/>
              </a:rPr>
              <a:t>开发任务确认</a:t>
            </a:r>
            <a:endParaRPr/>
          </a:p>
        </p:txBody>
      </p:sp>
      <p:pic>
        <p:nvPicPr>
          <p:cNvPr id="4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0" y="3914775"/>
            <a:ext cx="142875" cy="142875"/>
          </a:xfrm>
          <a:prstGeom prst="rect">
            <a:avLst/>
          </a:prstGeom>
          <a:ln/>
        </p:spPr>
      </p:pic>
      <p:sp>
        <p:nvSpPr>
          <p:cNvPr id="472" name=""/>
          <p:cNvSpPr/>
          <p:nvPr/>
        </p:nvSpPr>
        <p:spPr>
          <a:xfrm rot="0" flipH="0" flipV="0">
            <a:off x="8410575" y="3686175"/>
            <a:ext cx="3114675" cy="600075"/>
          </a:xfrm>
          <a:prstGeom prst="roundRect">
            <a:avLst>
              <a:gd name="adj" fmla="val 19048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8562975" y="3800475"/>
            <a:ext cx="2809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F9F5"/>
                </a:solidFill>
                <a:latin typeface="华文中宋"/>
                <a:ea typeface="华文中宋"/>
              </a:rPr>
              <a:t>06 </a:t>
            </a:r>
            <a:r>
              <a:rPr lang="zh-CN" sz="1275" b="1">
                <a:solidFill>
                  <a:srgbClr val="FAF9F5"/>
                </a:solidFill>
                <a:latin typeface="华文中宋"/>
                <a:ea typeface="华文中宋"/>
              </a:rPr>
              <a:t>授权执行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66750" y="4381500"/>
            <a:ext cx="2495550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19150" y="4495800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1E1B"/>
                </a:solidFill>
                <a:latin typeface="华文中宋"/>
                <a:ea typeface="华文中宋"/>
              </a:rPr>
              <a:t>07 </a:t>
            </a:r>
            <a:r>
              <a:rPr lang="zh-CN" sz="1275" b="1">
                <a:solidFill>
                  <a:srgbClr val="1F1E1B"/>
                </a:solidFill>
                <a:latin typeface="华文中宋"/>
                <a:ea typeface="华文中宋"/>
              </a:rPr>
              <a:t>验证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19150" y="4724400"/>
            <a:ext cx="2190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逐条核对需求</a:t>
            </a:r>
            <a:endParaRPr/>
          </a:p>
        </p:txBody>
      </p:sp>
      <p:pic>
        <p:nvPicPr>
          <p:cNvPr id="4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238500" y="4610100"/>
            <a:ext cx="142875" cy="142875"/>
          </a:xfrm>
          <a:prstGeom prst="rect">
            <a:avLst/>
          </a:prstGeom>
          <a:ln/>
        </p:spPr>
      </p:pic>
      <p:sp>
        <p:nvSpPr>
          <p:cNvPr id="478" name=""/>
          <p:cNvSpPr/>
          <p:nvPr/>
        </p:nvSpPr>
        <p:spPr>
          <a:xfrm rot="0" flipH="0" flipV="0">
            <a:off x="3457575" y="4381500"/>
            <a:ext cx="2495550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3609975" y="4495800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1E1B"/>
                </a:solidFill>
                <a:latin typeface="华文中宋"/>
                <a:ea typeface="华文中宋"/>
              </a:rPr>
              <a:t>08 </a:t>
            </a:r>
            <a:r>
              <a:rPr lang="zh-CN" sz="1275" b="1">
                <a:solidFill>
                  <a:srgbClr val="1F1E1B"/>
                </a:solidFill>
                <a:latin typeface="华文中宋"/>
                <a:ea typeface="华文中宋"/>
              </a:rPr>
              <a:t>验收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3609975" y="4724400"/>
            <a:ext cx="2190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非设计员工验收</a:t>
            </a:r>
            <a:endParaRPr/>
          </a:p>
        </p:txBody>
      </p:sp>
      <p:pic>
        <p:nvPicPr>
          <p:cNvPr id="4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29325" y="4610100"/>
            <a:ext cx="142875" cy="142875"/>
          </a:xfrm>
          <a:prstGeom prst="rect">
            <a:avLst/>
          </a:prstGeom>
          <a:ln/>
        </p:spPr>
      </p:pic>
      <p:sp>
        <p:nvSpPr>
          <p:cNvPr id="482" name=""/>
          <p:cNvSpPr/>
          <p:nvPr/>
        </p:nvSpPr>
        <p:spPr>
          <a:xfrm rot="0" flipH="0" flipV="0">
            <a:off x="6248400" y="4381500"/>
            <a:ext cx="2486025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400800" y="4495800"/>
            <a:ext cx="2181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1E1B"/>
                </a:solidFill>
                <a:latin typeface="华文中宋"/>
                <a:ea typeface="华文中宋"/>
              </a:rPr>
              <a:t>09 </a:t>
            </a:r>
            <a:r>
              <a:rPr lang="zh-CN" sz="1275" b="1">
                <a:solidFill>
                  <a:srgbClr val="1F1E1B"/>
                </a:solidFill>
                <a:latin typeface="华文中宋"/>
                <a:ea typeface="华文中宋"/>
              </a:rPr>
              <a:t>试点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400800" y="4724400"/>
            <a:ext cx="2181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小范围真实运行</a:t>
            </a:r>
            <a:endParaRPr/>
          </a:p>
        </p:txBody>
      </p:sp>
      <p:pic>
        <p:nvPicPr>
          <p:cNvPr id="4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810625" y="4610100"/>
            <a:ext cx="142875" cy="142875"/>
          </a:xfrm>
          <a:prstGeom prst="rect">
            <a:avLst/>
          </a:prstGeom>
          <a:ln/>
        </p:spPr>
      </p:pic>
      <p:sp>
        <p:nvSpPr>
          <p:cNvPr id="486" name=""/>
          <p:cNvSpPr/>
          <p:nvPr/>
        </p:nvSpPr>
        <p:spPr>
          <a:xfrm rot="0" flipH="0" flipV="0">
            <a:off x="9029700" y="4381500"/>
            <a:ext cx="2495550" cy="600075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182100" y="4495800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1E1B"/>
                </a:solidFill>
                <a:latin typeface="华文中宋"/>
                <a:ea typeface="华文中宋"/>
              </a:rPr>
              <a:t>10 </a:t>
            </a:r>
            <a:r>
              <a:rPr lang="zh-CN" sz="1275" b="1">
                <a:solidFill>
                  <a:srgbClr val="1F1E1B"/>
                </a:solidFill>
                <a:latin typeface="华文中宋"/>
                <a:ea typeface="华文中宋"/>
              </a:rPr>
              <a:t>运营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9182100" y="4724400"/>
            <a:ext cx="2190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监控与变更复审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66750" y="5924550"/>
            <a:ext cx="595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唯一事实源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</a:t>
            </a:r>
            <a:r>
              <a:rPr lang="en-US" sz="1050" b="1">
                <a:solidFill>
                  <a:srgbClr val="1F1E1B"/>
                </a:solidFill>
                <a:latin typeface="微软雅黑"/>
                <a:ea typeface="微软雅黑"/>
              </a:rPr>
              <a:t>project-state.md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：所有阶段产物与审批记录沉淀于此，中断后从当前状态恢复即可继续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1087100" y="592455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04 / 22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7629525" y="263842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人工审批断点</a:t>
            </a:r>
            <a:r>
              <a:rPr lang="en-US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不可跳过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7629525" y="3333750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人工审批断点</a:t>
            </a:r>
            <a:r>
              <a:rPr lang="en-US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不可跳过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4229100" y="4029075"/>
            <a:ext cx="3733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人工审批断点</a:t>
            </a:r>
            <a:r>
              <a:rPr lang="en-US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不可跳过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562975" y="4029075"/>
            <a:ext cx="2809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900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按批准的范围干活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95" name="" descr="&lt;Slide notes={`三个断点，本质是人来回答的三道题。G1 问「需求真的问清楚了吗」——业务 owner 和提需求的员工一起批，结论无非四种：需求完整、需要补充、超出范围、或者暂不适合自动化；通过后产出需求分析文档和 As-Is / To-Be 流程图。G2 问「方案真的能落地吗」——业务 owner 加上技术、数据、合规按需加入，可以批准、要求修改、拒绝、或者接受残余风险；通过后才允许生成开发计划。G3 问「任务范围批哪些」——项目负责人和受影响系统的 owner 来定：全部批准、部分批准、要求修改或者拒绝。记住一句话：AI 不能代替业务、数据、平台、技术或合规责任人的决定。`}&gt;&#10;  &lt;Slide style={{ background: '#FAF9F5', padding: '20px 70px', width: 1280, height: 720 }}&gt;&#10;    &lt;Box style={{ height: 88, justifyContent: 'center' }}&gt;&#10;      &lt;Text style={{ fontFamily: '华文中宋', fontSize: 32, fontWeight: 'bold', color: '#1F1E1B' }}&gt;三个断点：人来回答的三道题&lt;/Text&gt;&#10;      &lt;Text style={{ fontFamily: '微软雅黑', fontSize: 14, color: '#A9A294', marginTop: 4 }}&gt;AI 不能代替业务、数据、平台、技术或合规责任人的决定——这三个位置，永远留给人&lt;/Text&gt;&#10;    &lt;/Box&gt;&#10;    &lt;Box style={{ flexDirection: 'row', gap: 20, height: 500, marginTop: 10 }}&gt;&#10;      &lt;Box style={{ flex: 1, flexDirection: 'column', padding: '26px 24px', background: 'rgba(31,30,27,0.04)', borderRadius: 16, gap: 14 }}&gt;&#10;        &lt;Box style={{ flexDirection: 'row', alignItems: 'center', gap: 12 }}&gt;&#10;          &lt;Box style={{ width: 52, height: 52, borderRadius: 26, background: '#D97757', justifyContent: 'center', alignItems: 'center' }}&gt;&#10;            &lt;Text style={{ fontFamily: '华文中宋', fontSize: 22, fontWeight: 'bold', color: '#FAF9F5' }}&gt;G1&lt;/Text&gt;&#10;          &lt;/Box&gt;&#10;          &lt;Text style={{ fontFamily: '微软雅黑', fontSize: 19, fontWeight: 'bold', color: '#1F1E1B' }}&gt;需求完整性审核&lt;/Text&gt;&#10;        &lt;/Box&gt;&#10;        &lt;Text style={{ fontFamily: '华文中宋', fontSize: 16, color: '#D97757' }}&gt;「需求真的问清楚了吗？」&lt;/Text&gt;&#10;        &lt;Box style={{ height: 1, background: '#A9A294', opacity: 0.3 }} /&gt;&#10;        &lt;Text style={{ fontFamily: '微软雅黑', fontSize: 13, color: '#A9A294', letterSpacing: 1 }}&gt;谁来批 WHO&lt;/Text&gt;&#10;        &lt;Text style={{ fontFamily: '微软雅黑', fontSize: 15, color: '#1F1E1B', lineHeight: 1.5 }}&gt;业务 owner 与提需求的员工&lt;/Text&gt;&#10;        &lt;Text style={{ fontFamily: '微软雅黑', fontSize: 13, color: '#A9A294', letterSpacing: 1 }}&gt;人工决定项 DECISIONS&lt;/Text&gt;&#10;        &lt;Box style={{ flexDirection: 'column', gap: 6 }}&gt;&#10;          &lt;Text style={{ fontFamily: '微软雅黑', fontSize: 14, color: '#1F1E1B' }}&gt;✓ 需求完整&lt;/Text&gt;&#10;          &lt;Text style={{ fontFamily: '微软雅黑', fontSize: 14, color: '#1F1E1B' }}&gt;· 需要补充&lt;/Text&gt;&#10;          &lt;Text style={{ fontFamily: '微软雅黑', fontSize: 14, color: '#1F1E1B' }}&gt;· 超出范围&lt;/Text&gt;&#10;          &lt;Text style={{ fontFamily: '微软雅黑', fontSize: 14, color: '#1F1E1B' }}&gt;· 暂不适合自动化&lt;/Text&gt;&#10;        &lt;/Box&gt;&#10;        &lt;Text style={{ fontFamily: '微软雅黑', fontSize: 13, color: '#A9A294', letterSpacing: 1 }}&gt;通过后产出 OUTPUT&lt;/Text&gt;&#10;        &lt;Text style={{ fontFamily: '微软雅黑', fontSize: 14, color: '#1F1E1B', lineHeight: 1.5 }}&gt;需求分析文档 + As-Is / To-Be 流程图，进入交付类型拆解&lt;/Text&gt;&#10;      &lt;/Box&gt;&#10;      &lt;Box style={{ flex: 1, flexDirection: 'column', padding: '26px 24px', background: 'rgba(31,30,27,0.04)', borderRadius: 16, gap: 14 }}&gt;&#10;        &lt;Box style={{ flexDirection: 'row', alignItems: 'center', gap: 12 }}&gt;&#10;          &lt;Box style={{ width: 52, height: 52, borderRadius: 26, background: '#D97757', justifyContent: 'center', alignItems: 'center' }}&gt;&#10;            &lt;Text style={{ fontFamily: '华文中宋', fontSize: 22, fontWeight: 'bold', color: '#FAF9F5' }}&gt;G2&lt;/Text&gt;&#10;          &lt;/Box&gt;&#10;          &lt;Text style={{ fontFamily: '微软雅黑', fontSize: 19, fontWeight: 'bold', color: '#1F1E1B' }}&gt;解决方案审批&lt;/Text&gt;&#10;        &lt;/Box&gt;&#10;        &lt;Text style={{ fontFamily: '华文中宋', fontSize: 16, color: '#D97757' }}&gt;「方案真的能落地吗？」&lt;/Text&gt;&#10;        &lt;Box style={{ height: 1, background: '#A9A294', opacity: 0.3 }} /&gt;&#10;        &lt;Text style={{ fontFamily: '微软雅黑', fontSize: 13, color: '#A9A294', letterSpacing: 1 }}&gt;谁来批 WHO&lt;/Text&gt;&#10;        &lt;Text style={{ fontFamily: '微软雅黑', fontSize: 15, color: '#1F1E1B', lineHeight: 1.5 }}&gt;业务 owner，技术 / 数据 / 合规按需加入&lt;/Text&gt;&#10;        &lt;Text style={{ fontFamily: '微软雅黑', fontSize: 13, color: '#A9A294', letterSpacing: 1 }}&gt;人工决定项 DECISIONS&lt;/Text&gt;&#10;        &lt;Box style={{ flexDirection: 'column', gap: 6 }}&gt;&#10;          &lt;Text style={{ fontFamily: '微软雅黑', fontSize: 14, color: '#1F1E1B' }}&gt;✓ 方案批准&lt;/Text&gt;&#10;          &lt;Text style={{ fontFamily: '微软雅黑', fontSize: 14, color: '#1F1E1B' }}&gt;· 需要修改 / 拒绝&lt;/Text&gt;&#10;          &lt;Text style={{ fontFamily: '微软雅黑', fontSize: 14, color: '#1F1E1B' }}&gt;· 接受残余风险&lt;/Text&gt;&#10;        &lt;/Box&gt;&#10;        &lt;Text style={{ fontFamily: '微软雅黑', fontSize: 13, color: '#A9A294', letterSpacing: 1 }}&gt;通过后产出 OUTPUT&lt;/Text&gt;&#10;        &lt;Text style={{ fontFamily: '微软雅黑', fontSize: 14, color: '#1F1E1B', lineHeight: 1.5 }}&gt;解决方案与架构图（Mermaid / BPMN），才允许生成开发计划&lt;/Text&gt;&#10;      &lt;/Box&gt;&#10;      &lt;Box style={{ flex: 1, flexDirection: 'column', padding: '26px 24px', background: 'rgba(31,30,27,0.04)', borderRadius: 16, gap: 14 }}&gt;&#10;        &lt;Box style={{ flexDirection: 'row', alignItems: 'center', gap: 12 }}&gt;&#10;          &lt;Box style={{ width: 52, height: 52, borderRadius: 26, background: '#D97757', justifyContent: 'center', alignItems: 'center' }}&gt;&#10;            &lt;Text style={{ fontFamily: '华文中宋', fontSize: 22, fontWeight: 'bold', color: '#FAF9F5' }}&gt;G3&lt;/Text&gt;&#10;          &lt;/Box&gt;&#10;          &lt;Text style={{ fontFamily: '微软雅黑', fontSize: 19, fontWeight: 'bold', color: '#1F1E1B' }}&gt;开发任务确认&lt;/Text&gt;&#10;        &lt;/Box&gt;&#10;        &lt;Text style={{ fontFamily: '华文中宋', fontSize: 16, color: '#D97757' }}&gt;「任务范围批哪些？」&lt;/Text&gt;&#10;        &lt;Box style={{ height: 1, background: '#A9A294', opacity: 0.3 }} /&gt;&#10;        &lt;Text style={{ fontFamily: '微软雅黑', fontSize: 13, color: '#A9A294', letterSpacing: 1 }}&gt;谁来批 WHO&lt;/Text&gt;&#10;        &lt;Text style={{ fontFamily: '微软雅黑', fontSize: 15, color: '#1F1E1B', lineHeight: 1.5 }}&gt;项目负责人与受影响系统的 owner&lt;/Text&gt;&#10;        &lt;Text style={{ fontFamily: '微软雅黑', fontSize: 13, color: '#A9A294', letterSpacing: 1 }}&gt;人工决定项 DECISIONS&lt;/Text&gt;&#10;        &lt;Box style={{ flexDirection: 'column', gap: 6 }}&gt;&#10;          &lt;Text style={{ fontFamily: '微软雅黑', fontSize: 14, color: '#1F1E1B' }}&gt;✓ 全部批准&lt;/Text&gt;&#10;          &lt;Text style={{ fontFamily: '微软雅黑', fontSize: 14, color: '#1F1E1B' }}&gt;· 部分批准&lt;/Text&gt;&#10;          &lt;Text style={{ fontFamily: '微软雅黑', fontSize: 14, color: '#1F1E1B' }}&gt;· 要求修改 / 拒绝&lt;/Text&gt;&#10;        &lt;/Box&gt;&#10;        &lt;Text style={{ fontFamily: '微软雅黑', fontSize: 13, color: '#A9A294', letterSpacing: 1 }}&gt;通过后产出 OUTPUT&lt;/Text&gt;&#10;        &lt;Text style={{ fontFamily: '微软雅黑', fontSize: 14, color: '#1F1E1B', lineHeight: 1.5 }}&gt;被批准的开发任务清单，AI 只在批准范围内执行&lt;/Text&gt;&#10;      &lt;/Box&gt;&#10;    &lt;/Box&gt;&#10;    &lt;Box style={{ height: 44, flexDirection: 'row', justifyContent: 'space-between', alignItems: 'center' }}&gt;&#10;      &lt;Text style={{ fontFamily: '微软雅黑', fontSize: 13, color: '#A9A294' }}&gt;digital-worker-builder · OpenClaw 教学&lt;/Text&gt;&#10;      &lt;Text style={{ fontFamily: '微软雅黑', fontSize: 13, color: '#A9A294' }}&gt;05 / 22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66750" y="323850"/>
            <a:ext cx="10858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1E1B"/>
                </a:solidFill>
                <a:latin typeface="华文中宋"/>
                <a:ea typeface="华文中宋"/>
              </a:rPr>
              <a:t>三个断点：人来回答的三道题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66750" y="733425"/>
            <a:ext cx="1085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不能代替业务、数据、平台、技术或合规责任人的决定——这三个位置，永远留给人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66750" y="1123950"/>
            <a:ext cx="3495675" cy="4762500"/>
          </a:xfrm>
          <a:prstGeom prst="roundRect">
            <a:avLst>
              <a:gd name="adj" fmla="val 4360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895350" y="13716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990600" y="1495425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F9F5"/>
                </a:solidFill>
                <a:latin typeface="华文中宋"/>
                <a:ea typeface="华文中宋"/>
              </a:rPr>
              <a:t>G1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504950" y="1514475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需求完整性审核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95350" y="2000250"/>
            <a:ext cx="3038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97757"/>
                </a:solidFill>
                <a:latin typeface="华文中宋"/>
                <a:ea typeface="华文中宋"/>
              </a:rPr>
              <a:t>「需求真的问清楚了吗？」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95350" y="2466975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谁来批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WHO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95350" y="2752725"/>
            <a:ext cx="30384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业务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owner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与提需求的员工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95350" y="3143250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人工决定项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DECISIONS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95350" y="342900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✓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需求完整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95350" y="364807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需要补充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95350" y="386715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超出范围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95350" y="408622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暂不适合自动化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95350" y="4381500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通过后产出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OUTPUT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95350" y="4667250"/>
            <a:ext cx="30384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需求分析文档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+ As-Is / To-Be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流程图，进入交付类型拆解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4352925" y="1123950"/>
            <a:ext cx="3486150" cy="4762500"/>
          </a:xfrm>
          <a:prstGeom prst="roundRect">
            <a:avLst>
              <a:gd name="adj" fmla="val 4372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4581525" y="13716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4676775" y="1495425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F9F5"/>
                </a:solidFill>
                <a:latin typeface="华文中宋"/>
                <a:ea typeface="华文中宋"/>
              </a:rPr>
              <a:t>G2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191125" y="15144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解决方案审批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4581525" y="2000250"/>
            <a:ext cx="3028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97757"/>
                </a:solidFill>
                <a:latin typeface="华文中宋"/>
                <a:ea typeface="华文中宋"/>
              </a:rPr>
              <a:t>「方案真的能落地吗？」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4581525" y="2466975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谁来批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WHO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4581525" y="2752725"/>
            <a:ext cx="3028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业务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owner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，技术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/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数据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/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合规按需加入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581525" y="3143250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人工决定项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DECISIONS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4581525" y="3429000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✓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方案批准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4581525" y="3648075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需要修改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/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拒绝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581525" y="3867150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接受残余风险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581525" y="4162425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通过后产出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OUTPUT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581525" y="4448175"/>
            <a:ext cx="3028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解决方案与架构图（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Mermaid / BPMN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），才允许生成开发计划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8029575" y="1123950"/>
            <a:ext cx="3495675" cy="4762500"/>
          </a:xfrm>
          <a:prstGeom prst="roundRect">
            <a:avLst>
              <a:gd name="adj" fmla="val 4360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8258175" y="13716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353425" y="1495425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F9F5"/>
                </a:solidFill>
                <a:latin typeface="华文中宋"/>
                <a:ea typeface="华文中宋"/>
              </a:rPr>
              <a:t>G3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867775" y="15144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开发任务确认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258175" y="2000250"/>
            <a:ext cx="3038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97757"/>
                </a:solidFill>
                <a:latin typeface="华文中宋"/>
                <a:ea typeface="华文中宋"/>
              </a:rPr>
              <a:t>「任务范围批哪些？」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258175" y="2466975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谁来批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WHO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258175" y="2752725"/>
            <a:ext cx="30384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项目负责人与受影响系统的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owner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258175" y="3143250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人工决定项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DECISIONS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258175" y="342900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✓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全部批准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258175" y="364807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部分批准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258175" y="386715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要求修改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/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拒绝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258175" y="4162425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9A294"/>
                </a:solidFill>
                <a:latin typeface="微软雅黑"/>
                <a:ea typeface="微软雅黑"/>
              </a:rPr>
              <a:t>通过后产出</a:t>
            </a:r>
            <a:r>
              <a:rPr lang="en-US" sz="975" spc="75">
                <a:solidFill>
                  <a:srgbClr val="A9A294"/>
                </a:solidFill>
                <a:latin typeface="微软雅黑"/>
                <a:ea typeface="微软雅黑"/>
              </a:rPr>
              <a:t> OUTPUT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258175" y="4448175"/>
            <a:ext cx="30384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被批准的开发任务清单，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只在批准范围内执行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66750" y="60198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digital-worker-builder · OpenClaw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教学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087100" y="6019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05 / 22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895350" y="2324100"/>
            <a:ext cx="3038475" cy="9525"/>
          </a:xfrm>
          <a:prstGeom prst="rect">
            <a:avLst/>
          </a:prstGeom>
          <a:solidFill>
            <a:srgbClr val="A9A294">
              <a:alpha val="30000"/>
            </a:srgbClr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4581525" y="2324100"/>
            <a:ext cx="3028950" cy="9525"/>
          </a:xfrm>
          <a:prstGeom prst="rect">
            <a:avLst/>
          </a:prstGeom>
          <a:solidFill>
            <a:srgbClr val="A9A294">
              <a:alpha val="30000"/>
            </a:srgbClr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8258175" y="2324100"/>
            <a:ext cx="3038475" cy="9525"/>
          </a:xfrm>
          <a:prstGeom prst="rect">
            <a:avLst/>
          </a:prstGeom>
          <a:solidFill>
            <a:srgbClr val="A9A294">
              <a:alpha val="30000"/>
            </a:srgbClr>
          </a:solidFill>
          <a:ln/>
        </p:spPr>
        <p:txBody>
          <a:bodyPr/>
          <a:p/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44" name="" descr="&lt;Slide notes={`动手之前还有两件事。左边是 G1 之前要完成的需求分析五步法：定范围、还原流程、问清需求、写成文档、评估落地——每轮最多追问 3 个问题，问完即止；评估落地看四个标准：输入稳定吗、规则明确吗、异常可控吗、结果可检查吗。右边是 G1 通过后的交付类型拆解——做出来是什么形态？从最轻的单个 Skill，到主 Workflow 加子 Skills，再到按角色编排的数字员工，最重是整套软件系统方案，还有人工优化加 AI 的混合方案。复杂度分三档：LITE 只压缩材料不取消任何 Gate，STANDARD 是默认档，FULL 在命中软件系统、合规、高风险这类硬触发时必须走。`}&gt;&#10;  &lt;Slide style={{ background: '#FAF9F5', padding: '20px 70px', width: 1280, height: 720 }}&gt;&#10;    &lt;Box style={{ height: 88, justifyContent: 'center' }}&gt;&#10;      &lt;Text style={{ fontFamily: '华文中宋', fontSize: 32, fontWeight: 'bold', color: '#1F1E1B' }}&gt;动手之前：五步法与交付拆解&lt;/Text&gt;&#10;      &lt;Text style={{ fontFamily: '微软雅黑', fontSize: 13, color: '#A9A294', letterSpacing: 2, marginTop: 4 }}&gt;BEFORE G1 · FIVE-STEP ANALYSIS&lt;/Text&gt;&#10;    &lt;/Box&gt;&#10;    &lt;Box style={{ flexDirection: 'row', gap: 36, height: 500, marginTop: 8 }}&gt;&#10;      &lt;Box style={{ flex: 1.15, flexDirection: 'column', gap: 12 }}&gt;&#10;        &lt;Box style={{ flexDirection: 'row', alignItems: 'center', gap: 10 }}&gt;&#10;          &lt;Text style={{ fontFamily: '华文中宋', fontSize: 22, fontWeight: 'bold', color: '#D97757' }}&gt;5&lt;/Text&gt;&#10;          &lt;Text style={{ fontFamily: '微软雅黑', fontSize: 19, fontWeight: 'bold', color: '#1F1E1B' }}&gt;需求分析五步法&lt;/Text&gt;&#10;        &lt;/Box&gt;&#10;        &lt;Text style={{ fontFamily: '微软雅黑', fontSize: 13, color: '#A9A294' }}&gt;G1 之前完成 · 每轮最多追问 3 个问题，问完即止&lt;/Text&gt;&#10;        &lt;Box style={{ flexDirection: 'column', gap: 10, marginTop: 4 }}&gt;&#10;          &lt;Box style={{ flexDirection: 'row', gap: 14, alignItems: 'flex-start', padding: '10px 14px', background: 'rgba(31,30,27,0.04)', borderRadius: 10 }}&gt;&#10;            &lt;Text style={{ fontFamily: '华文中宋', fontSize: 16, fontWeight: 'bold', color: '#D97757' }}&gt;01&lt;/Text&gt;&#10;            &lt;Box style={{ flex: 1 }}&gt;&#10;              &lt;Text style={{ fontFamily: '微软雅黑', fontSize: 15, fontWeight: 'bold', color: '#1F1E1B' }}&gt;定范围&lt;/Text&gt;&#10;              &lt;Text style={{ fontFamily: '微软雅黑', fontSize: 12.5, color: '#A9A294', marginTop: 2 }}&gt;开始与结束、输入输出、使用者、成功标准与非目标&lt;/Text&gt;&#10;            &lt;/Box&gt;&#10;          &lt;/Box&gt;&#10;          &lt;Box style={{ flexDirection: 'row', gap: 14, alignItems: 'flex-start', padding: '10px 14px', background: 'rgba(31,30,27,0.04)', borderRadius: 10 }}&gt;&#10;            &lt;Text style={{ fontFamily: '华文中宋', fontSize: 16, fontWeight: 'bold', color: '#D97757' }}&gt;02&lt;/Text&gt;&#10;            &lt;Box style={{ flex: 1 }}&gt;&#10;              &lt;Text style={{ fontFamily: '微软雅黑', fontSize: 15, fontWeight: 'bold', color: '#1F1E1B' }}&gt;还原流程&lt;/Text&gt;&#10;              &lt;Text style={{ fontFamily: '微软雅黑', fontSize: 12.5, color: '#A9A294', marginTop: 2 }}&gt;先还原 As-Is 再定义 To-Be，记录角色、系统、异常与人工接管&lt;/Text&gt;&#10;            &lt;/Box&gt;&#10;          &lt;/Box&gt;&#10;          &lt;Box style={{ flexDirection: 'row', gap: 14, alignItems: 'flex-start', padding: '10px 14px', background: 'rgba(31,30,27,0.04)', borderRadius: 10 }}&gt;&#10;            &lt;Text style={{ fontFamily: '华文中宋', fontSize: 16, fontWeight: 'bold', color: '#D97757' }}&gt;03&lt;/Text&gt;&#10;            &lt;Box style={{ flex: 1 }}&gt;&#10;              &lt;Text style={{ fontFamily: '微软雅黑', fontSize: 15, fontWeight: 'bold', color: '#1F1E1B' }}&gt;问清需求&lt;/Text&gt;&#10;              &lt;Text style={{ fontFamily: '微软雅黑', fontSize: 12.5, color: '#A9A294', marginTop: 2 }}&gt;问题、目标、功能需求、价值与优先级，统一编号 FR / BR / AC&lt;/Text&gt;&#10;            &lt;/Box&gt;&#10;          &lt;/Box&gt;&#10;          &lt;Box style={{ flexDirection: 'row', gap: 14, alignItems: 'flex-start', padding: '10px 14px', background: 'rgba(31,30,27,0.04)', borderRadius: 10 }}&gt;&#10;            &lt;Text style={{ fontFamily: '华文中宋', fontSize: 16, fontWeight: 'bold', color: '#D97757' }}&gt;04&lt;/Text&gt;&#10;            &lt;Box style={{ flex: 1 }}&gt;&#10;              &lt;Text style={{ fontFamily: '微软雅黑', fontSize: 15, fontWeight: 'bold', color: '#1F1E1B' }}&gt;写成文档&lt;/Text&gt;&#10;              &lt;Text style={{ fontFamily: '微软雅黑', fontSize: 12.5, color: '#A9A294', marginTop: 2 }}&gt;需求分析文档、流程图与需求追溯关系&lt;/Text&gt;&#10;            &lt;/Box&gt;&#10;          &lt;/Box&gt;&#10;          &lt;Box style={{ flexDirection: 'row', gap: 14, alignItems: 'flex-start', padding: '10px 14px', background: '#1F1E1B', borderRadius: 10 }}&gt;&#10;            &lt;Text style={{ fontFamily: '华文中宋', fontSize: 16, fontWeight: 'bold', color: '#D97757' }}&gt;05&lt;/Text&gt;&#10;            &lt;Box style={{ flex: 1 }}&gt;&#10;              &lt;Text style={{ fontFamily: '微软雅黑', fontSize: 15, fontWeight: 'bold', color: '#FAF9F5' }}&gt;评估落地&lt;/Text&gt;&#10;              &lt;Text style={{ fontFamily: '微软雅黑', fontSize: 12.5, color: '#FAF9F5', opacity: 0.65, marginTop: 2 }}&gt;输入稳定性、规则明确度、异常可控性、结果可检查性&lt;/Text&gt;&#10;            &lt;/Box&gt;&#10;          &lt;/Box&gt;&#10;        &lt;/Box&gt;&#10;      &lt;/Box&gt;&#10;      &lt;Box style={{ flex: 1, flexDirection: 'column', gap: 12 }}&gt;&#10;        &lt;Text style={{ fontFamily: '微软雅黑', fontSize: 19, fontWeight: 'bold', color: '#1F1E1B' }}&gt;G1 通过后：交付类型拆解&lt;/Text&gt;&#10;        &lt;Text style={{ fontFamily: '微软雅黑', fontSize: 13, color: '#A9A294' }}&gt;做出来是什么形态？由轻到重：&lt;/Text&gt;&#10;        &lt;Box style={{ flexDirection: 'column', gap: 8, marginTop: 2 }}&gt;&#10;          &lt;Box style={{ flexDirection: 'row', justifyContent: 'space-between', alignItems: 'center', padding: '9px 14px', background: 'rgba(217,119,87,0.1)', borderRadius: 10 }}&gt;&#10;            &lt;Text style={{ fontFamily: '微软雅黑', fontSize: 14.5, fontWeight: 'bold', color: '#1F1E1B' }}&gt;单个 Skill&lt;/Text&gt;&#10;            &lt;Text style={{ fontFamily: '微软雅黑', fontSize: 12, color: '#D97757' }}&gt;最轻&lt;/Text&gt;&#10;          &lt;/Box&gt;&#10;          &lt;Box style={{ padding: '9px 14px', background: 'rgba(31,30,27,0.04)', borderRadius: 10 }}&gt;&#10;            &lt;Text style={{ fontFamily: '微软雅黑', fontSize: 14.5, color: '#1F1E1B' }}&gt;主 Workflow + 子 Skills&lt;/Text&gt;&#10;          &lt;/Box&gt;&#10;          &lt;Box style={{ padding: '9px 14px', background: 'rgba(31,30,27,0.04)', borderRadius: 10 }}&gt;&#10;            &lt;Text style={{ fontFamily: '微软雅黑', fontSize: 14.5, color: '#1F1E1B' }}&gt;数字员工（按角色编排）&lt;/Text&gt;&#10;          &lt;/Box&gt;&#10;          &lt;Box style={{ padding: '9px 14px', background: 'rgba(31,30,27,0.04)', borderRadius: 10 }}&gt;&#10;            &lt;Text style={{ fontFamily: '微软雅黑', fontSize: 14.5, color: '#1F1E1B' }}&gt;人工优化 · 混合方案&lt;/Text&gt;&#10;          &lt;/Box&gt;&#10;          &lt;Box style={{ flexDirection: 'row', justifyContent: 'space-between', alignItems: 'center', padding: '9px 14px', background: 'rgba(31,30,27,0.04)', borderRadius: 10 }}&gt;&#10;            &lt;Text style={{ fontFamily: '微软雅黑', fontSize: 14.5, color: '#1F1E1B' }}&gt;软件系统方案&lt;/Text&gt;&#10;            &lt;Text style={{ fontFamily: '微软雅黑', fontSize: 12, color: '#A9A294' }}&gt;最重&lt;/Text&gt;&#10;          &lt;/Box&gt;&#10;        &lt;/Box&gt;&#10;        &lt;Box style={{ marginTop: 10, padding: '14px 16px', background: 'rgba(217,119,87,0.1)', borderRadius: 12 }}&gt;&#10;          &lt;Text style={{ fontFamily: '微软雅黑', fontSize: 14, fontWeight: 'bold', color: '#1F1E1B' }}&gt;复杂度三档 CHANNELS&lt;/Text&gt;&#10;          &lt;Text style={{ fontFamily: '微软雅黑', fontSize: 12.5, color: '#1F1E1B', lineHeight: 1.7, marginTop: 6 }}&gt;&lt;span style={{ fontWeight: 'bold', color: '#D97757' }}&gt;LITE&lt;/span&gt;　只压缩材料和提问，不取消任何 Gate&lt;br /&gt;&lt;span style={{ fontWeight: 'bold', color: '#D97757' }}&gt;STANDARD&lt;/span&gt;　复杂度不明时的默认档位&lt;br /&gt;&lt;span style={{ fontWeight: 'bold', color: '#D97757' }}&gt;FULL&lt;/span&gt;　命中硬触发（软件系统 / 合规 / 高风险）必须走&lt;/Text&gt;&#10;        &lt;/Box&gt;&#10;        &lt;Text style={{ fontFamily: '微软雅黑', fontSize: 12, color: '#A9A294', lineHeight: 1.5 }}&gt;六个维度 0–2 分的评分只是材料深度辅助，不是交付类型的硬切换&lt;/Text&gt;&#10;      &lt;/Box&gt;&#10;    &lt;/Box&gt;&#10;    &lt;Box style={{ height: 44, flexDirection: 'row', justifyContent: 'space-between', alignItems: 'center' }}&gt;&#10;      &lt;Text style={{ fontFamily: '微软雅黑', fontSize: 13, color: '#A9A294' }}&gt;digital-worker-builder · OpenClaw 教学&lt;/Text&gt;&#10;      &lt;Text style={{ fontFamily: '微软雅黑', fontSize: 13, color: '#A9A294' }}&gt;06 / 22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66750" y="333375"/>
            <a:ext cx="10858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1E1B"/>
                </a:solidFill>
                <a:latin typeface="华文中宋"/>
                <a:ea typeface="华文中宋"/>
              </a:rPr>
              <a:t>动手之前：五步法与交付拆解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66750" y="7429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A9A294"/>
                </a:solidFill>
                <a:latin typeface="微软雅黑"/>
                <a:ea typeface="微软雅黑"/>
              </a:rPr>
              <a:t>BEFORE G1 · FIVE-STEP ANALYSIS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66750" y="11049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7757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95350" y="112395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需求分析五步法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66750" y="1476375"/>
            <a:ext cx="5629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G1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之前完成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每轮最多追问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3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个问题，问完即止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66750" y="1781175"/>
            <a:ext cx="5629275" cy="523875"/>
          </a:xfrm>
          <a:prstGeom prst="roundRect">
            <a:avLst>
              <a:gd name="adj" fmla="val 18182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00100" y="187642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133475" y="187642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1E1B"/>
                </a:solidFill>
                <a:latin typeface="微软雅黑"/>
                <a:ea typeface="微软雅黑"/>
              </a:rPr>
              <a:t>定范围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133475" y="2066925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A9A294"/>
                </a:solidFill>
                <a:latin typeface="微软雅黑"/>
                <a:ea typeface="微软雅黑"/>
              </a:rPr>
              <a:t>开始与结束、输入输出、使用者、成功标准与非目标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666750" y="2400300"/>
            <a:ext cx="5629275" cy="523875"/>
          </a:xfrm>
          <a:prstGeom prst="roundRect">
            <a:avLst>
              <a:gd name="adj" fmla="val 18182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00100" y="249555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133475" y="2495550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1E1B"/>
                </a:solidFill>
                <a:latin typeface="微软雅黑"/>
                <a:ea typeface="微软雅黑"/>
              </a:rPr>
              <a:t>还原流程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133475" y="268605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A9A294"/>
                </a:solidFill>
                <a:latin typeface="微软雅黑"/>
                <a:ea typeface="微软雅黑"/>
              </a:rPr>
              <a:t>先还原</a:t>
            </a:r>
            <a:r>
              <a:rPr lang="en-US" sz="938">
                <a:solidFill>
                  <a:srgbClr val="A9A294"/>
                </a:solidFill>
                <a:latin typeface="微软雅黑"/>
                <a:ea typeface="微软雅黑"/>
              </a:rPr>
              <a:t> As-Is </a:t>
            </a:r>
            <a:r>
              <a:rPr lang="zh-CN" sz="938">
                <a:solidFill>
                  <a:srgbClr val="A9A294"/>
                </a:solidFill>
                <a:latin typeface="微软雅黑"/>
                <a:ea typeface="微软雅黑"/>
              </a:rPr>
              <a:t>再定义</a:t>
            </a:r>
            <a:r>
              <a:rPr lang="en-US" sz="938">
                <a:solidFill>
                  <a:srgbClr val="A9A294"/>
                </a:solidFill>
                <a:latin typeface="微软雅黑"/>
                <a:ea typeface="微软雅黑"/>
              </a:rPr>
              <a:t> To-Be</a:t>
            </a:r>
            <a:r>
              <a:rPr lang="zh-CN" sz="938">
                <a:solidFill>
                  <a:srgbClr val="A9A294"/>
                </a:solidFill>
                <a:latin typeface="微软雅黑"/>
                <a:ea typeface="微软雅黑"/>
              </a:rPr>
              <a:t>，记录角色、系统、异常与人工接管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66750" y="3019425"/>
            <a:ext cx="5629275" cy="523875"/>
          </a:xfrm>
          <a:prstGeom prst="roundRect">
            <a:avLst>
              <a:gd name="adj" fmla="val 18182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00100" y="31146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33475" y="311467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1E1B"/>
                </a:solidFill>
                <a:latin typeface="微软雅黑"/>
                <a:ea typeface="微软雅黑"/>
              </a:rPr>
              <a:t>问清需求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133475" y="3305175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A9A294"/>
                </a:solidFill>
                <a:latin typeface="微软雅黑"/>
                <a:ea typeface="微软雅黑"/>
              </a:rPr>
              <a:t>问题、目标、功能需求、价值与优先级，统一编号</a:t>
            </a:r>
            <a:r>
              <a:rPr lang="en-US" sz="938">
                <a:solidFill>
                  <a:srgbClr val="A9A294"/>
                </a:solidFill>
                <a:latin typeface="微软雅黑"/>
                <a:ea typeface="微软雅黑"/>
              </a:rPr>
              <a:t> FR / BR / AC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66750" y="3638550"/>
            <a:ext cx="5629275" cy="523875"/>
          </a:xfrm>
          <a:prstGeom prst="roundRect">
            <a:avLst>
              <a:gd name="adj" fmla="val 18182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00100" y="37338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04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133475" y="3733800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1E1B"/>
                </a:solidFill>
                <a:latin typeface="微软雅黑"/>
                <a:ea typeface="微软雅黑"/>
              </a:rPr>
              <a:t>写成文档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33475" y="392430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A9A294"/>
                </a:solidFill>
                <a:latin typeface="微软雅黑"/>
                <a:ea typeface="微软雅黑"/>
              </a:rPr>
              <a:t>需求分析文档、流程图与需求追溯关系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66750" y="4257675"/>
            <a:ext cx="5629275" cy="523875"/>
          </a:xfrm>
          <a:prstGeom prst="roundRect">
            <a:avLst>
              <a:gd name="adj" fmla="val 18182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00100" y="435292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05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133475" y="435292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F9F5"/>
                </a:solidFill>
                <a:latin typeface="微软雅黑"/>
                <a:ea typeface="微软雅黑"/>
              </a:rPr>
              <a:t>评估落地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638925" y="1104900"/>
            <a:ext cx="4886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1E1B"/>
                </a:solidFill>
                <a:latin typeface="微软雅黑"/>
                <a:ea typeface="微软雅黑"/>
              </a:rPr>
              <a:t>G1 </a:t>
            </a: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通过后：交付类型拆解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638925" y="1438275"/>
            <a:ext cx="488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做出来是什么形态？由轻到重：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6638925" y="1724025"/>
            <a:ext cx="4886325" cy="342900"/>
          </a:xfrm>
          <a:prstGeom prst="roundRect">
            <a:avLst>
              <a:gd name="adj" fmla="val 27778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772275" y="18097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F1E1B"/>
                </a:solidFill>
                <a:latin typeface="微软雅黑"/>
                <a:ea typeface="微软雅黑"/>
              </a:rPr>
              <a:t>单个</a:t>
            </a:r>
            <a:r>
              <a:rPr lang="en-US" sz="1088" b="1">
                <a:solidFill>
                  <a:srgbClr val="1F1E1B"/>
                </a:solidFill>
                <a:latin typeface="微软雅黑"/>
                <a:ea typeface="微软雅黑"/>
              </a:rPr>
              <a:t> Skill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1163300" y="18288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97757"/>
                </a:solidFill>
                <a:latin typeface="微软雅黑"/>
                <a:ea typeface="微软雅黑"/>
              </a:rPr>
              <a:t>最轻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638925" y="2143125"/>
            <a:ext cx="4886325" cy="342900"/>
          </a:xfrm>
          <a:prstGeom prst="roundRect">
            <a:avLst>
              <a:gd name="adj" fmla="val 2777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772275" y="2228850"/>
            <a:ext cx="461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1F1E1B"/>
                </a:solidFill>
                <a:latin typeface="微软雅黑"/>
                <a:ea typeface="微软雅黑"/>
              </a:rPr>
              <a:t>主</a:t>
            </a:r>
            <a:r>
              <a:rPr lang="en-US" sz="1088">
                <a:solidFill>
                  <a:srgbClr val="1F1E1B"/>
                </a:solidFill>
                <a:latin typeface="微软雅黑"/>
                <a:ea typeface="微软雅黑"/>
              </a:rPr>
              <a:t> Workflow + </a:t>
            </a:r>
            <a:r>
              <a:rPr lang="zh-CN" sz="1088">
                <a:solidFill>
                  <a:srgbClr val="1F1E1B"/>
                </a:solidFill>
                <a:latin typeface="微软雅黑"/>
                <a:ea typeface="微软雅黑"/>
              </a:rPr>
              <a:t>子</a:t>
            </a:r>
            <a:r>
              <a:rPr lang="en-US" sz="1088">
                <a:solidFill>
                  <a:srgbClr val="1F1E1B"/>
                </a:solidFill>
                <a:latin typeface="微软雅黑"/>
                <a:ea typeface="微软雅黑"/>
              </a:rPr>
              <a:t> Skills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638925" y="2562225"/>
            <a:ext cx="4886325" cy="342900"/>
          </a:xfrm>
          <a:prstGeom prst="roundRect">
            <a:avLst>
              <a:gd name="adj" fmla="val 2777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772275" y="2647950"/>
            <a:ext cx="461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1F1E1B"/>
                </a:solidFill>
                <a:latin typeface="微软雅黑"/>
                <a:ea typeface="微软雅黑"/>
              </a:rPr>
              <a:t>数字员工（按角色编排）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638925" y="2981325"/>
            <a:ext cx="4886325" cy="342900"/>
          </a:xfrm>
          <a:prstGeom prst="roundRect">
            <a:avLst>
              <a:gd name="adj" fmla="val 2777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772275" y="3067050"/>
            <a:ext cx="461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1F1E1B"/>
                </a:solidFill>
                <a:latin typeface="微软雅黑"/>
                <a:ea typeface="微软雅黑"/>
              </a:rPr>
              <a:t>人工优化</a:t>
            </a:r>
            <a:r>
              <a:rPr lang="en-US" sz="1088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088">
                <a:solidFill>
                  <a:srgbClr val="1F1E1B"/>
                </a:solidFill>
                <a:latin typeface="微软雅黑"/>
                <a:ea typeface="微软雅黑"/>
              </a:rPr>
              <a:t>混合方案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638925" y="3400425"/>
            <a:ext cx="4886325" cy="342900"/>
          </a:xfrm>
          <a:prstGeom prst="roundRect">
            <a:avLst>
              <a:gd name="adj" fmla="val 2777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772275" y="348615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1F1E1B"/>
                </a:solidFill>
                <a:latin typeface="微软雅黑"/>
                <a:ea typeface="微软雅黑"/>
              </a:rPr>
              <a:t>软件系统方案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1163300" y="35052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最重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638925" y="3952875"/>
            <a:ext cx="4886325" cy="1219200"/>
          </a:xfrm>
          <a:prstGeom prst="roundRect">
            <a:avLst>
              <a:gd name="adj" fmla="val 9375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791325" y="4086225"/>
            <a:ext cx="4581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1E1B"/>
                </a:solidFill>
                <a:latin typeface="微软雅黑"/>
                <a:ea typeface="微软雅黑"/>
              </a:rPr>
              <a:t>复杂度三档</a:t>
            </a:r>
            <a:r>
              <a:rPr lang="en-US" sz="1050" b="1">
                <a:solidFill>
                  <a:srgbClr val="1F1E1B"/>
                </a:solidFill>
                <a:latin typeface="微软雅黑"/>
                <a:ea typeface="微软雅黑"/>
              </a:rPr>
              <a:t> CHANNELS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791325" y="4305300"/>
            <a:ext cx="4581525" cy="733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38" b="1">
                <a:solidFill>
                  <a:srgbClr val="D97757"/>
                </a:solidFill>
                <a:latin typeface="微软雅黑"/>
                <a:ea typeface="微软雅黑"/>
              </a:rPr>
              <a:t>LITE</a:t>
            </a:r>
            <a:r>
              <a:rPr lang="zh-CN" sz="938">
                <a:solidFill>
                  <a:srgbClr val="1F1E1B"/>
                </a:solidFill>
                <a:latin typeface="微软雅黑"/>
                <a:ea typeface="微软雅黑"/>
              </a:rPr>
              <a:t>　只压缩材料和提问，不取消任何</a:t>
            </a:r>
            <a:r>
              <a:rPr lang="en-US" sz="938">
                <a:solidFill>
                  <a:srgbClr val="1F1E1B"/>
                </a:solidFill>
                <a:latin typeface="微软雅黑"/>
                <a:ea typeface="微软雅黑"/>
              </a:rPr>
              <a:t> Gate</a:t>
            </a:r>
            <a:endParaRPr/>
          </a:p>
          <a:p>
            <a:pPr>
              <a:lnSpc>
                <a:spcPct val="170000"/>
              </a:lnSpc>
            </a:pPr>
            <a:r>
              <a:rPr lang="en-US" sz="938" b="1">
                <a:solidFill>
                  <a:srgbClr val="D97757"/>
                </a:solidFill>
                <a:latin typeface="微软雅黑"/>
                <a:ea typeface="微软雅黑"/>
              </a:rPr>
              <a:t>STANDARD</a:t>
            </a:r>
            <a:r>
              <a:rPr lang="zh-CN" sz="938">
                <a:solidFill>
                  <a:srgbClr val="1F1E1B"/>
                </a:solidFill>
                <a:latin typeface="微软雅黑"/>
                <a:ea typeface="微软雅黑"/>
              </a:rPr>
              <a:t>　复杂度不明时的默认档位</a:t>
            </a:r>
            <a:endParaRPr/>
          </a:p>
          <a:p>
            <a:pPr>
              <a:lnSpc>
                <a:spcPct val="170000"/>
              </a:lnSpc>
            </a:pPr>
            <a:r>
              <a:rPr lang="en-US" sz="938" b="1">
                <a:solidFill>
                  <a:srgbClr val="D97757"/>
                </a:solidFill>
                <a:latin typeface="微软雅黑"/>
                <a:ea typeface="微软雅黑"/>
              </a:rPr>
              <a:t>FULL</a:t>
            </a:r>
            <a:r>
              <a:rPr lang="zh-CN" sz="938">
                <a:solidFill>
                  <a:srgbClr val="1F1E1B"/>
                </a:solidFill>
                <a:latin typeface="微软雅黑"/>
                <a:ea typeface="微软雅黑"/>
              </a:rPr>
              <a:t>　命中硬触发（软件系统</a:t>
            </a:r>
            <a:r>
              <a:rPr lang="en-US" sz="938">
                <a:solidFill>
                  <a:srgbClr val="1F1E1B"/>
                </a:solidFill>
                <a:latin typeface="微软雅黑"/>
                <a:ea typeface="微软雅黑"/>
              </a:rPr>
              <a:t> / </a:t>
            </a:r>
            <a:r>
              <a:rPr lang="zh-CN" sz="938">
                <a:solidFill>
                  <a:srgbClr val="1F1E1B"/>
                </a:solidFill>
                <a:latin typeface="微软雅黑"/>
                <a:ea typeface="微软雅黑"/>
              </a:rPr>
              <a:t>合规</a:t>
            </a:r>
            <a:r>
              <a:rPr lang="en-US" sz="938">
                <a:solidFill>
                  <a:srgbClr val="1F1E1B"/>
                </a:solidFill>
                <a:latin typeface="微软雅黑"/>
                <a:ea typeface="微软雅黑"/>
              </a:rPr>
              <a:t> / </a:t>
            </a:r>
            <a:r>
              <a:rPr lang="zh-CN" sz="938">
                <a:solidFill>
                  <a:srgbClr val="1F1E1B"/>
                </a:solidFill>
                <a:latin typeface="微软雅黑"/>
                <a:ea typeface="微软雅黑"/>
              </a:rPr>
              <a:t>高风险）必须走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638925" y="5286375"/>
            <a:ext cx="48863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六个维度</a:t>
            </a: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 0–2 </a:t>
            </a: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分的评分只是材料深度辅助，不是交付类型的硬切换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66750" y="600075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digital-worker-builder · OpenClaw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教学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1087100" y="600075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06 / 22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133475" y="4543425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输入稳定性、规则明确度、异常可控性、结果可检查性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91" name="" descr="&lt;Slide notes={`安全底线五条红线，踩线即停没有例外：一，不碰秘密，密码、Token、密钥不入聊天与文件，只记变量名和负责人；二，不虚构能力，先验证 OpenClaw 的连接与权限，未知项交管理员确认；三，默认测试空间，用测试群与脱敏数据，生产操作单独授权审批；四，不可逆必须人在环，对外发送、付款、删除、批量写入由人确认；五，无回滚不上线，没有幂等、日志、暂停、回滚与人工替代，不得进试点。这五条红线适用于一切 AI 办公场景。上手只要三步：说出你的业务想法，在三个断点拍板，验收试点上线。AI 负责把活干完，人负责把板拍完——这是搭建器的第一原则，也是我们下篇实战的原则。`}&gt;&#10;  &lt;Slide style={{ background: '#FAF9F5', padding: '20px 70px', width: 1280, height: 720 }}&gt;&#10;    &lt;Box style={{ height: 88, justifyContent: 'center' }}&gt;&#10;      &lt;Text style={{ fontFamily: '华文中宋', fontSize: 32, fontWeight: 'bold', color: '#1F1E1B' }}&gt;五条红线，三步上手&lt;/Text&gt;&#10;      &lt;Text style={{ fontFamily: '微软雅黑', fontSize: 13, color: '#A9A294', letterSpacing: 2, marginTop: 4 }}&gt;SAFETY BASELINE &amp; QUICK START&lt;/Text&gt;&#10;    &lt;/Box&gt;&#10;    &lt;Box style={{ flexDirection: 'row', gap: 36, height: 500, marginTop: 8 }}&gt;&#10;      &lt;Box style={{ flex: 1.25, flexDirection: 'column', gap: 12 }}&gt;&#10;        &lt;Box style={{ flexDirection: 'row', alignItems: 'center', gap: 10 }}&gt;&#10;          &lt;FAIcon name=&quot;shield&quot; style={{ fill: '#D97757', width: 20, height: 20 }} /&gt;&#10;          &lt;Text style={{ fontFamily: '微软雅黑', fontSize: 19, fontWeight: 'bold', color: '#1F1E1B' }}&gt;安全底线&lt;/Text&gt;&#10;          &lt;Text style={{ fontFamily: '微软雅黑', fontSize: 13, color: '#A9A294' }}&gt;踩线即停，没有例外&lt;/Text&gt;&#10;        &lt;/Box&gt;&#10;        &lt;Box style={{ flexDirection: 'column', gap: 9, marginTop: 4 }}&gt;&#10;          &lt;Box style={{ flexDirection: 'row', gap: 12, alignItems: 'flex-start', padding: '9px 14px', background: 'rgba(31,30,27,0.04)', borderRadius: 10 }}&gt;&#10;            &lt;Text style={{ fontFamily: '华文中宋', fontSize: 16, fontWeight: 'bold', color: '#D97757' }}&gt;01&lt;/Text&gt;&#10;            &lt;Text style={{ fontFamily: '微软雅黑', fontSize: 13.5, color: '#1F1E1B', flex: 1, lineHeight: 1.5 }}&gt;&lt;span style={{ fontWeight: 'bold' }}&gt;不碰秘密&lt;/span&gt;——密码、Token、密钥不入聊天与文件，只记变量名和负责人&lt;/Text&gt;&#10;          &lt;/Box&gt;&#10;          &lt;Box style={{ flexDirection: 'row', gap: 12, alignItems: 'flex-start', padding: '9px 14px', background: 'rgba(31,30,27,0.04)', borderRadius: 10 }}&gt;&#10;            &lt;Text style={{ fontFamily: '华文中宋', fontSize: 16, fontWeight: 'bold', color: '#D97757' }}&gt;02&lt;/Text&gt;&#10;            &lt;Text style={{ fontFamily: '微软雅黑', fontSize: 13.5, color: '#1F1E1B', flex: 1, lineHeight: 1.5 }}&gt;&lt;span style={{ fontWeight: 'bold' }}&gt;不虚构能力&lt;/span&gt;——先验证 OpenClaw 连接与权限，未知项交管理员确认&lt;/Text&gt;&#10;          &lt;/Box&gt;&#10;          &lt;Box style={{ flexDirection: 'row', gap: 12, alignItems: 'flex-start', padding: '9px 14px', background: 'rgba(31,30,27,0.04)', borderRadius: 10 }}&gt;&#10;            &lt;Text style={{ fontFamily: '华文中宋', fontSize: 16, fontWeight: 'bold', color: '#D97757' }}&gt;03&lt;/Text&gt;&#10;            &lt;Text style={{ fontFamily: '微软雅黑', fontSize: 13.5, color: '#1F1E1B', flex: 1, lineHeight: 1.5 }}&gt;&lt;span style={{ fontWeight: 'bold' }}&gt;默认测试空间&lt;/span&gt;——用测试群与脱敏数据，生产操作单独授权审批&lt;/Text&gt;&#10;          &lt;/Box&gt;&#10;          &lt;Box style={{ flexDirection: 'row', gap: 12, alignItems: 'flex-start', padding: '9px 14px', background: 'rgba(31,30,27,0.04)', borderRadius: 10 }}&gt;&#10;            &lt;Text style={{ fontFamily: '华文中宋', fontSize: 16, fontWeight: 'bold', color: '#D97757' }}&gt;04&lt;/Text&gt;&#10;            &lt;Text style={{ fontFamily: '微软雅黑', fontSize: 13.5, color: '#1F1E1B', flex: 1, lineHeight: 1.5 }}&gt;&lt;span style={{ fontWeight: 'bold' }}&gt;不可逆必须人在环&lt;/span&gt;——对外发送、付款、删除、批量写入由人确认&lt;/Text&gt;&#10;          &lt;/Box&gt;&#10;          &lt;Box style={{ flexDirection: 'row', gap: 12, alignItems: 'flex-start', padding: '9px 14px', background: '#1F1E1B', borderRadius: 10 }}&gt;&#10;            &lt;Text style={{ fontFamily: '华文中宋', fontSize: 16, fontWeight: 'bold', color: '#D97757' }}&gt;05&lt;/Text&gt;&#10;            &lt;Text style={{ fontFamily: '微软雅黑', fontSize: 13.5, color: '#FAF9F5', flex: 1, lineHeight: 1.5 }}&gt;&lt;span style={{ fontWeight: 'bold' }}&gt;无回滚不上线&lt;/span&gt;——没有幂等、日志、暂停、回滚与人工替代，不得进试点&lt;/Text&gt;&#10;          &lt;/Box&gt;&#10;        &lt;/Box&gt;&#10;        &lt;Text style={{ fontFamily: '微软雅黑', fontSize: 12, color: '#A9A294' }}&gt;这些红线同样适用于本课件之外的一切 AI 办公场景&lt;/Text&gt;&#10;      &lt;/Box&gt;&#10;      &lt;Box style={{ flex: 1, flexDirection: 'column', gap: 14 }}&gt;&#10;        &lt;Text style={{ fontFamily: '微软雅黑', fontSize: 19, fontWeight: 'bold', color: '#1F1E1B' }}&gt;三步上手 QUICK START&lt;/Text&gt;&#10;        &lt;Box style={{ flexDirection: 'row', gap: 14, alignItems: 'flex-start' }}&gt;&#10;          &lt;Box style={{ width: 40, height: 40, borderRadius: 20, background: '#D97757', justifyContent: 'center', alignItems: 'center' }}&gt;&#10;            &lt;Text style={{ fontFamily: '华文中宋', fontSize: 18, fontWeight: 'bold', color: '#FAF9F5' }}&gt;1&lt;/Text&gt;&#10;          &lt;/Box&gt;&#10;          &lt;Box style={{ flex: 1 }}&gt;&#10;            &lt;Text style={{ fontFamily: '微软雅黑', fontSize: 16, fontWeight: 'bold', color: '#1F1E1B' }}&gt;说出你的业务想法&lt;/Text&gt;&#10;            &lt;Text style={{ fontFamily: '微软雅黑', fontSize: 13, color: '#A9A294', marginTop: 3 }}&gt;一句话即可，从 INTAKE 进入流程&lt;/Text&gt;&#10;          &lt;/Box&gt;&#10;        &lt;/Box&gt;&#10;        &lt;Box style={{ flexDirection: 'row', gap: 14, alignItems: 'flex-start' }}&gt;&#10;          &lt;Box style={{ width: 40, height: 40, borderRadius: 20, background: '#D97757', justifyContent: 'center', alignItems: 'center' }}&gt;&#10;            &lt;Text style={{ fontFamily: '华文中宋', fontSize: 18, fontWeight: 'bold', color: '#FAF9F5' }}&gt;2&lt;/Text&gt;&#10;          &lt;/Box&gt;&#10;          &lt;Box style={{ flex: 1 }}&gt;&#10;            &lt;Text style={{ fontFamily: '微软雅黑', fontSize: 16, fontWeight: 'bold', color: '#1F1E1B' }}&gt;在三个断点拍板&lt;/Text&gt;&#10;            &lt;Text style={{ fontFamily: '微软雅黑', fontSize: 13, color: '#A9A294', marginTop: 3 }}&gt;G1 定需求、G2 批方案、G3 选任务&lt;/Text&gt;&#10;          &lt;/Box&gt;&#10;        &lt;/Box&gt;&#10;        &lt;Box style={{ flexDirection: 'row', gap: 14, alignItems: 'flex-start' }}&gt;&#10;          &lt;Box style={{ width: 40, height: 40, borderRadius: 20, background: '#D97757', justifyContent: 'center', alignItems: 'center' }}&gt;&#10;            &lt;Text style={{ fontFamily: '华文中宋', fontSize: 18, fontWeight: 'bold', color: '#FAF9F5' }}&gt;3&lt;/Text&gt;&#10;          &lt;/Box&gt;&#10;          &lt;Box style={{ flex: 1 }}&gt;&#10;            &lt;Text style={{ fontFamily: '微软雅黑', fontSize: 16, fontWeight: 'bold', color: '#1F1E1B' }}&gt;验收试点上线&lt;/Text&gt;&#10;            &lt;Text style={{ fontFamily: '微软雅黑', fontSize: 13, color: '#A9A294', marginTop: 3 }}&gt;非设计员工做场景验收，试点通过再运营&lt;/Text&gt;&#10;          &lt;/Box&gt;&#10;        &lt;/Box&gt;&#10;        &lt;Box style={{ marginTop: 16, padding: '18px 20px', background: '#1F1E1B', borderRadius: 14 }}&gt;&#10;          &lt;Text style={{ fontFamily: '华文中宋', fontSize: 17, color: '#FAF9F5', lineHeight: 1.6 }}&gt;「AI 负责把活干完，&lt;span style={{ color: '#D97757', fontWeight: 'bold' }}&gt;人负责把板拍完&lt;/span&gt;。」&lt;/Text&gt;&#10;          &lt;Text style={{ fontFamily: '微软雅黑', fontSize: 12, color: '#FAF9F5', opacity: 0.6, marginTop: 6 }}&gt;—— digital-worker-builder 第一原则&lt;/Text&gt;&#10;        &lt;/Box&gt;&#10;      &lt;/Box&gt;&#10;    &lt;/Box&gt;&#10;    &lt;Box style={{ height: 44, flexDirection: 'row', justifyContent: 'space-between', alignItems: 'center' }}&gt;&#10;      &lt;Text style={{ fontFamily: '微软雅黑', fontSize: 13, color: '#A9A294' }}&gt;digital-worker-builder · OpenClaw 教学&lt;/Text&gt;&#10;      &lt;Text style={{ fontFamily: '微软雅黑', fontSize: 13, color: '#A9A294' }}&gt;07 / 22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66750" y="333375"/>
            <a:ext cx="10858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1E1B"/>
                </a:solidFill>
                <a:latin typeface="华文中宋"/>
                <a:ea typeface="华文中宋"/>
              </a:rPr>
              <a:t>五条红线，三步上手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666750" y="7429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A9A294"/>
                </a:solidFill>
                <a:latin typeface="微软雅黑"/>
                <a:ea typeface="微软雅黑"/>
              </a:rPr>
              <a:t>SAFETY BASELINE &amp; QUICK START</a:t>
            </a:r>
            <a:endParaRPr/>
          </a:p>
        </p:txBody>
      </p:sp>
      <p:pic>
        <p:nvPicPr>
          <p:cNvPr id="5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1123950"/>
            <a:ext cx="190500" cy="190500"/>
          </a:xfrm>
          <a:prstGeom prst="rect">
            <a:avLst/>
          </a:prstGeom>
          <a:ln/>
        </p:spPr>
      </p:pic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952500" y="11049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安全底线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771650" y="11430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踩线即停，没有例外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66750" y="1476375"/>
            <a:ext cx="5838825" cy="409575"/>
          </a:xfrm>
          <a:prstGeom prst="roundRect">
            <a:avLst>
              <a:gd name="adj" fmla="val 2325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00100" y="15621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114425" y="1562100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1F1E1B"/>
                </a:solidFill>
                <a:latin typeface="微软雅黑"/>
                <a:ea typeface="微软雅黑"/>
              </a:rPr>
              <a:t>不碰秘密</a:t>
            </a:r>
            <a:r>
              <a:rPr lang="zh-CN" sz="1013">
                <a:solidFill>
                  <a:srgbClr val="1F1E1B"/>
                </a:solidFill>
                <a:latin typeface="微软雅黑"/>
                <a:ea typeface="微软雅黑"/>
              </a:rPr>
              <a:t>——密码、</a:t>
            </a:r>
            <a:r>
              <a:rPr lang="en-US" sz="1013">
                <a:solidFill>
                  <a:srgbClr val="1F1E1B"/>
                </a:solidFill>
                <a:latin typeface="微软雅黑"/>
                <a:ea typeface="微软雅黑"/>
              </a:rPr>
              <a:t>Token</a:t>
            </a:r>
            <a:r>
              <a:rPr lang="zh-CN" sz="1013">
                <a:solidFill>
                  <a:srgbClr val="1F1E1B"/>
                </a:solidFill>
                <a:latin typeface="微软雅黑"/>
                <a:ea typeface="微软雅黑"/>
              </a:rPr>
              <a:t>、密钥不入聊天与文件，只记变量名和负责人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66750" y="1971675"/>
            <a:ext cx="5838825" cy="409575"/>
          </a:xfrm>
          <a:prstGeom prst="roundRect">
            <a:avLst>
              <a:gd name="adj" fmla="val 2325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800100" y="20574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114425" y="2057400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1F1E1B"/>
                </a:solidFill>
                <a:latin typeface="微软雅黑"/>
                <a:ea typeface="微软雅黑"/>
              </a:rPr>
              <a:t>不虚构能力</a:t>
            </a:r>
            <a:r>
              <a:rPr lang="zh-CN" sz="1013">
                <a:solidFill>
                  <a:srgbClr val="1F1E1B"/>
                </a:solidFill>
                <a:latin typeface="微软雅黑"/>
                <a:ea typeface="微软雅黑"/>
              </a:rPr>
              <a:t>——先验证</a:t>
            </a:r>
            <a:r>
              <a:rPr lang="en-US" sz="1013">
                <a:solidFill>
                  <a:srgbClr val="1F1E1B"/>
                </a:solidFill>
                <a:latin typeface="微软雅黑"/>
                <a:ea typeface="微软雅黑"/>
              </a:rPr>
              <a:t> OpenClaw </a:t>
            </a:r>
            <a:r>
              <a:rPr lang="zh-CN" sz="1013">
                <a:solidFill>
                  <a:srgbClr val="1F1E1B"/>
                </a:solidFill>
                <a:latin typeface="微软雅黑"/>
                <a:ea typeface="微软雅黑"/>
              </a:rPr>
              <a:t>连接与权限，未知项交管理员确认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66750" y="2466975"/>
            <a:ext cx="5838825" cy="409575"/>
          </a:xfrm>
          <a:prstGeom prst="roundRect">
            <a:avLst>
              <a:gd name="adj" fmla="val 2325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00100" y="25527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114425" y="2552700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1F1E1B"/>
                </a:solidFill>
                <a:latin typeface="微软雅黑"/>
                <a:ea typeface="微软雅黑"/>
              </a:rPr>
              <a:t>默认测试空间</a:t>
            </a:r>
            <a:r>
              <a:rPr lang="zh-CN" sz="1013">
                <a:solidFill>
                  <a:srgbClr val="1F1E1B"/>
                </a:solidFill>
                <a:latin typeface="微软雅黑"/>
                <a:ea typeface="微软雅黑"/>
              </a:rPr>
              <a:t>——用测试群与脱敏数据，生产操作单独授权审批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66750" y="2962275"/>
            <a:ext cx="5838825" cy="409575"/>
          </a:xfrm>
          <a:prstGeom prst="roundRect">
            <a:avLst>
              <a:gd name="adj" fmla="val 2325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00100" y="30480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04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14425" y="3048000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1F1E1B"/>
                </a:solidFill>
                <a:latin typeface="微软雅黑"/>
                <a:ea typeface="微软雅黑"/>
              </a:rPr>
              <a:t>不可逆必须人在环</a:t>
            </a:r>
            <a:r>
              <a:rPr lang="zh-CN" sz="1013">
                <a:solidFill>
                  <a:srgbClr val="1F1E1B"/>
                </a:solidFill>
                <a:latin typeface="微软雅黑"/>
                <a:ea typeface="微软雅黑"/>
              </a:rPr>
              <a:t>——对外发送、付款、删除、批量写入由人确认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66750" y="3457575"/>
            <a:ext cx="5838825" cy="409575"/>
          </a:xfrm>
          <a:prstGeom prst="roundRect">
            <a:avLst>
              <a:gd name="adj" fmla="val 23256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00100" y="35433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华文中宋"/>
                <a:ea typeface="华文中宋"/>
              </a:rPr>
              <a:t>05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114425" y="3543300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 b="1">
                <a:solidFill>
                  <a:srgbClr val="FAF9F5"/>
                </a:solidFill>
                <a:latin typeface="微软雅黑"/>
                <a:ea typeface="微软雅黑"/>
              </a:rPr>
              <a:t>无回滚不上线</a:t>
            </a:r>
            <a:r>
              <a:rPr lang="zh-CN" sz="1013">
                <a:solidFill>
                  <a:srgbClr val="FAF9F5"/>
                </a:solidFill>
                <a:latin typeface="微软雅黑"/>
                <a:ea typeface="微软雅黑"/>
              </a:rPr>
              <a:t>——没有幂等、日志、暂停、回滚与人工替代，不得进试点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66750" y="3981450"/>
            <a:ext cx="583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这些红线同样适用于本课件之外的一切</a:t>
            </a: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办公场景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848475" y="1104900"/>
            <a:ext cx="4676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三步上手</a:t>
            </a:r>
            <a:r>
              <a:rPr lang="en-US" sz="1425" b="1">
                <a:solidFill>
                  <a:srgbClr val="1F1E1B"/>
                </a:solidFill>
                <a:latin typeface="微软雅黑"/>
                <a:ea typeface="微软雅黑"/>
              </a:rPr>
              <a:t> QUICK START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848475" y="14573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981825" y="15430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1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362825" y="1457325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说出你的业务想法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362825" y="1676400"/>
            <a:ext cx="416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一句话即可，从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INTAKE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进入流程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848475" y="19716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981825" y="20574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2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7362825" y="1971675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在三个断点拍板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362825" y="2190750"/>
            <a:ext cx="416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G1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定需求、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G2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批方案、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G3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选任务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848475" y="24860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981825" y="25717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3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362825" y="2486025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验收试点上线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7362825" y="2705100"/>
            <a:ext cx="416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非设计员工做场景验收，试点通过再运营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848475" y="3152775"/>
            <a:ext cx="4676775" cy="857250"/>
          </a:xfrm>
          <a:prstGeom prst="roundRect">
            <a:avLst>
              <a:gd name="adj" fmla="val 15556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038975" y="3324225"/>
            <a:ext cx="42957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AF9F5"/>
                </a:solidFill>
                <a:latin typeface="华文中宋"/>
                <a:ea typeface="华文中宋"/>
              </a:rPr>
              <a:t>「</a:t>
            </a:r>
            <a:r>
              <a:rPr lang="en-US" sz="1275">
                <a:solidFill>
                  <a:srgbClr val="FAF9F5"/>
                </a:solidFill>
                <a:latin typeface="华文中宋"/>
                <a:ea typeface="华文中宋"/>
              </a:rPr>
              <a:t>AI </a:t>
            </a:r>
            <a:r>
              <a:rPr lang="zh-CN" sz="1275">
                <a:solidFill>
                  <a:srgbClr val="FAF9F5"/>
                </a:solidFill>
                <a:latin typeface="华文中宋"/>
                <a:ea typeface="华文中宋"/>
              </a:rPr>
              <a:t>负责把活干完，</a:t>
            </a:r>
            <a:r>
              <a:rPr lang="zh-CN" sz="1275" b="1">
                <a:solidFill>
                  <a:srgbClr val="D97757"/>
                </a:solidFill>
                <a:latin typeface="华文中宋"/>
                <a:ea typeface="华文中宋"/>
              </a:rPr>
              <a:t>人负责把板拍完</a:t>
            </a:r>
            <a:r>
              <a:rPr lang="zh-CN" sz="1275">
                <a:solidFill>
                  <a:srgbClr val="FAF9F5"/>
                </a:solidFill>
                <a:latin typeface="华文中宋"/>
                <a:ea typeface="华文中宋"/>
              </a:rPr>
              <a:t>。」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66750" y="600075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digital-worker-builder · OpenClaw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教学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1087100" y="600075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07 / 22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038975" y="3695700"/>
            <a:ext cx="429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—— digital-worker-builder </a:t>
            </a:r>
            <a:r>
              <a:rPr lang="zh-CN" sz="900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第一原则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32" name="" descr="&lt;Slide notes={`方法论讲完了，下篇看实战。我们拿自己的 OA 系统当试验田，用上篇这套方法论，真的做出了一个数字员工——小奥。它每小时巡查一遍全公司的审批单，超时就催，每周自己写健康度报告。接下来按三幕展开：为什么做、靠什么做、怎么连起来，所有数字都是真实系统的实时数据。`}&gt;&#10;  &lt;Box style={{ flexDirection: 'row', width: '100%', height: 720, background: '#FAF9F5' }}&gt;&#10;    &lt;Box style={{ width: 640, height: 720, padding: '90px 40px 60px 70px', justifyContent: 'space-between' }}&gt;&#10;      &lt;Box style={{ flexDirection: 'column', gap: 26 }}&gt;&#10;        &lt;Text style={{ fontFamily: '微软雅黑', fontSize: 15, color: '#A9A294', letterSpacing: 4 }}&gt;下篇 · 实战&lt;/Text&gt;&#10;        &lt;Text style={{ fontFamily: '华文中宋', fontSize: 50, fontWeight: 'bold', color: '#1F1E1B', lineHeight: 1.3 }}&gt;当 OA 系统&lt;br /&gt;遇上 &lt;span style={{ color: '#D97757' }}&gt;AI 数字员工&lt;/span&gt;&lt;/Text&gt;&#10;        &lt;Text style={{ fontFamily: '微软雅黑', fontSize: 19, color: '#A9A294', lineHeight: 1.6 }}&gt;用上篇的方法论跑通一个真实系统：&lt;br /&gt;数字员工「小奥」的诞生与巡检闭环&lt;/Text&gt;&#10;        &lt;Box style={{ flexDirection: 'column', gap: 10, marginTop: 4 }}&gt;&#10;          &lt;Box style={{ flexDirection: 'row', gap: 12, alignItems: 'center' }}&gt;&#10;            &lt;Text style={{ fontFamily: '华文中宋', fontSize: 17, fontWeight: 'bold', color: '#D97757' }}&gt;第一幕&lt;/Text&gt;&#10;            &lt;Text style={{ fontFamily: '微软雅黑', fontSize: 15, color: '#1F1E1B' }}&gt;为什么 —— 审批流会「卡死」&lt;/Text&gt;&#10;          &lt;/Box&gt;&#10;          &lt;Box style={{ flexDirection: 'row', gap: 12, alignItems: 'center' }}&gt;&#10;            &lt;Text style={{ fontFamily: '华文中宋', fontSize: 17, fontWeight: 'bold', color: '#D97757' }}&gt;第二幕&lt;/Text&gt;&#10;            &lt;Text style={{ fontFamily: '微软雅黑', fontSize: 15, color: '#1F1E1B' }}&gt;靠什么 —— 给老系统开一扇门&lt;/Text&gt;&#10;          &lt;/Box&gt;&#10;          &lt;Box style={{ flexDirection: 'row', gap: 12, alignItems: 'center' }}&gt;&#10;            &lt;Text style={{ fontFamily: '华文中宋', fontSize: 17, fontWeight: 'bold', color: '#D97757' }}&gt;第三幕&lt;/Text&gt;&#10;            &lt;Text style={{ fontFamily: '微软雅黑', fontSize: 15, color: '#1F1E1B' }}&gt;怎么连 —— 与 OpenClaw 形成闭环&lt;/Text&gt;&#10;          &lt;/Box&gt;&#10;        &lt;/Box&gt;&#10;      &lt;/Box&gt;&#10;      &lt;Box style={{ flexDirection: 'row', justifyContent: 'space-between', alignItems: 'center' }}&gt;&#10;        &lt;Text style={{ fontFamily: '微软雅黑', fontSize: 13, color: '#A9A294' }}&gt;真实项目 · 真实代码 · 真实数据&lt;/Text&gt;&#10;        &lt;Text style={{ fontFamily: '微软雅黑', fontSize: 13, color: '#A9A294' }}&gt;08 / 22&lt;/Text&gt;&#10;      &lt;/Box&gt;&#10;    &lt;/Box&gt;&#10;    &lt;Image src=&quot;assets/cover_hero.png&quot; style={{ width: 640, height: 720, objectFit: 'cover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66750" y="857250"/>
            <a:ext cx="504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下篇</a:t>
            </a:r>
            <a:r>
              <a:rPr lang="en-US" sz="1125" spc="300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实战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66750" y="1276350"/>
            <a:ext cx="5048250" cy="1485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750" b="1">
                <a:solidFill>
                  <a:srgbClr val="1F1E1B"/>
                </a:solidFill>
                <a:latin typeface="华文中宋"/>
                <a:ea typeface="华文中宋"/>
              </a:rPr>
              <a:t>当</a:t>
            </a:r>
            <a:r>
              <a:rPr lang="en-US" sz="3750" b="1">
                <a:solidFill>
                  <a:srgbClr val="1F1E1B"/>
                </a:solidFill>
                <a:latin typeface="华文中宋"/>
                <a:ea typeface="华文中宋"/>
              </a:rPr>
              <a:t> OA </a:t>
            </a:r>
            <a:r>
              <a:rPr lang="zh-CN" sz="3750" b="1">
                <a:solidFill>
                  <a:srgbClr val="1F1E1B"/>
                </a:solidFill>
                <a:latin typeface="华文中宋"/>
                <a:ea typeface="华文中宋"/>
              </a:rPr>
              <a:t>系统</a:t>
            </a:r>
            <a:endParaRPr/>
          </a:p>
          <a:p>
            <a:pPr>
              <a:lnSpc>
                <a:spcPct val="130000"/>
              </a:lnSpc>
            </a:pPr>
            <a:r>
              <a:rPr lang="zh-CN" sz="3750" b="1">
                <a:solidFill>
                  <a:srgbClr val="1F1E1B"/>
                </a:solidFill>
                <a:latin typeface="华文中宋"/>
                <a:ea typeface="华文中宋"/>
              </a:rPr>
              <a:t>遇上</a:t>
            </a:r>
            <a:r>
              <a:rPr lang="en-US" sz="3750" b="1">
                <a:solidFill>
                  <a:srgbClr val="1F1E1B"/>
                </a:solidFill>
                <a:latin typeface="华文中宋"/>
                <a:ea typeface="华文中宋"/>
              </a:rPr>
              <a:t> </a:t>
            </a:r>
            <a:r>
              <a:rPr lang="en-US" sz="3750" b="1">
                <a:solidFill>
                  <a:srgbClr val="D97757"/>
                </a:solidFill>
                <a:latin typeface="华文中宋"/>
                <a:ea typeface="华文中宋"/>
              </a:rPr>
              <a:t>AI </a:t>
            </a:r>
            <a:r>
              <a:rPr lang="zh-CN" sz="3750" b="1">
                <a:solidFill>
                  <a:srgbClr val="D97757"/>
                </a:solidFill>
                <a:latin typeface="华文中宋"/>
                <a:ea typeface="华文中宋"/>
              </a:rPr>
              <a:t>数字员工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66750" y="3009900"/>
            <a:ext cx="504825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用上篇的方法论跑通一个真实系统：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数字员工「小奥」的诞生与巡检闭环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666750" y="399097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7757"/>
                </a:solidFill>
                <a:latin typeface="华文中宋"/>
                <a:ea typeface="华文中宋"/>
              </a:rPr>
              <a:t>第一幕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266825" y="4010025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为什么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审批流会「卡死」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666750" y="42862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7757"/>
                </a:solidFill>
                <a:latin typeface="华文中宋"/>
                <a:ea typeface="华文中宋"/>
              </a:rPr>
              <a:t>第二幕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266825" y="4305300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靠什么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给老系统开一扇门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66750" y="45815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7757"/>
                </a:solidFill>
                <a:latin typeface="华文中宋"/>
                <a:ea typeface="华文中宋"/>
              </a:rPr>
              <a:t>第三幕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266825" y="4600575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怎么连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与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OpenClaw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形成闭环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66750" y="6134100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真实项目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真实代码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真实数据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276850" y="6134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08 / 22</a:t>
            </a:r>
            <a:endParaRPr/>
          </a:p>
        </p:txBody>
      </p:sp>
      <p:pic>
        <p:nvPicPr>
          <p:cNvPr id="645" name=""/>
          <p:cNvPicPr>
            <a:picLocks noChangeAspect="1"/>
          </p:cNvPicPr>
          <p:nvPr/>
        </p:nvPicPr>
        <p:blipFill>
          <a:blip r:embed="rId1"/>
          <a:srcRect l="20370" t="0" r="20370" b="0"/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46" name="" descr="&lt;Slide notes={`我们的 OA 里躺着 39 张正在审批的单子，其中 19 张已经停了超过两天——这个 19 是我刚从系统里拉出来的真实数字。没有任何人会收到提醒：申请人以为领导在忙，领导压根忘了。更要命的是想查都查不动，人工统计要翻数据库，老板要一份周报得手工做半天。所以结论是：不是系统坏了，而是流程缺少一双眼睛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第一幕 · 审批流正在「悄悄卡死」&lt;/Text&gt;&#13;&#10;    &lt;/Box&gt;&#13;&#10;    &lt;Box style={{ flexDirection: 'row', height: 540, gap: 40 }}&gt;&#13;&#10;      &lt;Box style={{ flex: 1, flexDirection: 'column' }}&gt;&#13;&#10;        &lt;Box style={{ flexDirection: 'row', alignItems: 'flex-end', gap: 24 }}&gt;&#13;&#10;          &lt;Text style={{ fontFamily: '华文中宋', fontSize: 170, fontWeight: 'bold', color: '#D97757', lineHeight: 0.95 }}&gt;19&lt;/Text&gt;&#13;&#10;          &lt;Box style={{ paddingBottom: 14 }}&gt;&#13;&#10;            &lt;Text style={{ fontFamily: '微软雅黑', fontSize: 22, fontWeight: 'bold', color: '#1F1E1B', lineHeight: 1.5 }}&gt;张审批停留超过 48 小时&lt;/Text&gt;&#13;&#10;            &lt;Text style={{ fontFamily: '微软雅黑', fontSize: 16, color: '#A9A294', marginTop: 8, lineHeight: 1.5 }}&gt;全公司在途审批共 39 单 · 2026-09-09 实测&lt;/Text&gt;&#13;&#10;          &lt;/Box&gt;&#13;&#10;        &lt;/Box&gt;&#13;&#10;        &lt;Box style={{ flexDirection: 'column', gap: 18, marginTop: 36 }}&gt;&#13;&#10;          &lt;Box style={{ flexDirection: 'row', gap: 14, alignItems: 'center' }}&gt;&#13;&#10;            &lt;FAIcon name=&quot;eye-slash&quot; style={{ fill: '#D97757', width: 24, height: 24 }} /&gt;&#13;&#10;            &lt;Text style={{ fontFamily: '微软雅黑', fontSize: 17, color: '#1F1E1B' }}&gt;&lt;span style={{ fontWeight: 'bold' }}&gt;看不见&lt;/span&gt; —— 没人知道哪些单卡住了、卡在谁手里&lt;/Text&gt;&#13;&#10;          &lt;/Box&gt;&#13;&#10;          &lt;Box style={{ flexDirection: 'row', gap: 14, alignItems: 'center' }}&gt;&#13;&#10;            &lt;FAIcon name=&quot;bell-slash&quot; style={{ fill: '#D97757', width: 24, height: 24 }} /&gt;&#13;&#10;            &lt;Text style={{ fontFamily: '微软雅黑', fontSize: 17, color: '#1F1E1B' }}&gt;&lt;span style={{ fontWeight: 'bold' }}&gt;没人管&lt;/span&gt; —— 审批人忘了，申请人不好意思催&lt;/Text&gt;&#13;&#10;          &lt;/Box&gt;&#13;&#10;          &lt;Box style={{ flexDirection: 'row', gap: 14, alignItems: 'center' }}&gt;&#13;&#10;            &lt;FAIcon name=&quot;search&quot; style={{ fill: '#D97757', width: 24, height: 24 }} /&gt;&#13;&#10;            &lt;Text style={{ fontFamily: '微软雅黑', fontSize: 17, color: '#1F1E1B' }}&gt;&lt;span style={{ fontWeight: 'bold' }}&gt;查不动&lt;/span&gt; —— 人工统计翻库半天，周报全靠手工&lt;/Text&gt;&#13;&#10;          &lt;/Box&gt;&#13;&#10;        &lt;/Box&gt;&#13;&#10;        &lt;Box style={{ marginTop: 'auto', padding: '16px 22px', background: 'rgba(217,119,87,0.08)', borderLeft: '3px solid #D97757', borderRadius: 8 }}&gt;&#13;&#10;          &lt;Text style={{ fontFamily: '华文中宋', fontSize: 21, fontWeight: 'bold', color: '#1F1E1B' }}&gt;不是系统坏了，而是流程缺少一双眼睛。&lt;/Text&gt;&#13;&#10;        &lt;/Box&gt;&#13;&#10;      &lt;/Box&gt;&#13;&#10;      &lt;Image src=&quot;assets/pain_stack.png&quot; style={{ width: 400, height: 540, objectFit: 'cover', borderRadius: 16 }} /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09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第一幕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审批流正在「悄悄卡死」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66750" y="1143000"/>
            <a:ext cx="2066925" cy="1847850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12750" b="1">
                <a:solidFill>
                  <a:srgbClr val="D97757"/>
                </a:solidFill>
                <a:latin typeface="华文中宋"/>
                <a:ea typeface="华文中宋"/>
              </a:rPr>
              <a:t>19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2962275" y="2124075"/>
            <a:ext cx="3048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张审批停留超过</a:t>
            </a:r>
            <a:r>
              <a:rPr lang="en-US" sz="1650" b="1">
                <a:solidFill>
                  <a:srgbClr val="1F1E1B"/>
                </a:solidFill>
                <a:latin typeface="微软雅黑"/>
                <a:ea typeface="微软雅黑"/>
              </a:rPr>
              <a:t> 48 </a:t>
            </a: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小时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2962275" y="2581275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全公司在途审批共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 39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单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 · 2026-09-09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实测</a:t>
            </a:r>
            <a:endParaRPr/>
          </a:p>
        </p:txBody>
      </p:sp>
      <p:pic>
        <p:nvPicPr>
          <p:cNvPr id="6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3333750"/>
            <a:ext cx="228600" cy="228600"/>
          </a:xfrm>
          <a:prstGeom prst="rect">
            <a:avLst/>
          </a:prstGeom>
          <a:ln/>
        </p:spPr>
      </p:pic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028700" y="3352800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看不见</a:t>
            </a: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没人知道哪些单卡住了、卡在谁手里</a:t>
            </a:r>
            <a:endParaRPr/>
          </a:p>
        </p:txBody>
      </p:sp>
      <p:pic>
        <p:nvPicPr>
          <p:cNvPr id="6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3733800"/>
            <a:ext cx="228600" cy="228600"/>
          </a:xfrm>
          <a:prstGeom prst="rect">
            <a:avLst/>
          </a:prstGeom>
          <a:ln/>
        </p:spPr>
      </p:pic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028700" y="3752850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没人管</a:t>
            </a: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审批人忘了，申请人不好意思催</a:t>
            </a:r>
            <a:endParaRPr/>
          </a:p>
        </p:txBody>
      </p:sp>
      <p:pic>
        <p:nvPicPr>
          <p:cNvPr id="6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4133850"/>
            <a:ext cx="228600" cy="228600"/>
          </a:xfrm>
          <a:prstGeom prst="rect">
            <a:avLst/>
          </a:prstGeom>
          <a:ln/>
        </p:spPr>
      </p:pic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028700" y="4152900"/>
            <a:ext cx="3343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查不动</a:t>
            </a: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人工统计翻库半天，周报全靠手工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695325" y="5734050"/>
            <a:ext cx="6667500" cy="552450"/>
          </a:xfrm>
          <a:prstGeom prst="roundRect">
            <a:avLst>
              <a:gd name="adj" fmla="val 13793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695325" y="5734050"/>
            <a:ext cx="6667500" cy="552450"/>
          </a:xfrm>
          <a:custGeom>
            <a:pathLst>
              <a:path w="700" h="5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3"/>
                </a:lnTo>
                <a:cubicBezTo>
                  <a:pt x="3" y="55"/>
                  <a:pt x="5" y="57"/>
                  <a:pt x="7" y="58"/>
                </a:cubicBezTo>
                <a:cubicBezTo>
                  <a:pt x="3" y="57"/>
                  <a:pt x="0" y="54"/>
                  <a:pt x="0" y="5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904875" y="5886450"/>
            <a:ext cx="6219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华文中宋"/>
                <a:ea typeface="华文中宋"/>
              </a:rPr>
              <a:t>不是系统坏了，而是流程缺少一双眼睛。</a:t>
            </a:r>
            <a:endParaRPr/>
          </a:p>
        </p:txBody>
      </p:sp>
      <p:pic>
        <p:nvPicPr>
          <p:cNvPr id="661" name=""/>
          <p:cNvPicPr>
            <a:picLocks noChangeAspect="1"/>
          </p:cNvPicPr>
          <p:nvPr/>
        </p:nvPicPr>
        <p:blipFill>
          <a:blip r:embed="rId2"/>
          <a:srcRect l="12962" t="0" r="12962" b="0"/>
          <a:stretch>
            <a:fillRect/>
          </a:stretch>
        </p:blipFill>
        <p:spPr>
          <a:xfrm rot="0" flipH="0" flipV="0">
            <a:off x="7715250" y="1143000"/>
            <a:ext cx="3810000" cy="51435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09 / 22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" name="" descr="&lt;Slide notes={`需求方的原话是：能不能让 AI 帮我们盯着审批流？翻译成技术语言就是右边四件事：巡检、预警、催办、报告。我们给这个数字员工起了个名字叫小奥。注意这四件事里有个贯穿全程的分工原则——判断和说话交给 AI，动作和数据留在系统里。AI 负责发现谁超时了、组织催促话术，但真正改数据、动流程的事，它一个都碰不到。这个分工是整个项目能快速落地的关键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雇一个不睡觉的数字员工&lt;/Text&gt;&#13;&#10;    &lt;/Box&gt;&#13;&#10;    &lt;Box style={{ flexDirection: 'row', height: 540, gap: 44 }}&gt;&#13;&#10;      &lt;Image src=&quot;assets/sentry.png&quot; style={{ width: 620, height: 540, objectFit: 'cover', borderRadius: 16 }} /&gt;&#13;&#10;      &lt;Box style={{ flex: 1, flexDirection: 'column', justifyContent: 'center', gap: 22 }}&gt;&#13;&#10;        &lt;Text style={{ fontFamily: '微软雅黑', fontSize: 18, color: '#A9A294' }}&gt;小奥 · 7×24 小时巡检 OA 审批流&lt;/Text&gt;&#13;&#10;        &lt;Box style={{ flexDirection: 'row', gap: 16, alignItems: 'flex-start' }}&gt;&#13;&#10;          &lt;Box style={{ width: 44, height: 44, borderRadius: 12, background: 'rgba(217,119,87,0.1)', justifyContent: 'center', alignItems: 'center' }}&gt;&#13;&#10;            &lt;FAIcon name=&quot;sync&quot; style={{ fill: '#D97757', width: 22, height: 22 }} /&gt;&#13;&#10;          &lt;/Box&gt;&#13;&#10;          &lt;Box style={{ flex: 1 }}&gt;&#13;&#10;            &lt;Text style={{ fontFamily: '微软雅黑', fontSize: 20, fontWeight: 'bold', color: '#1F1E1B' }}&gt;巡检&lt;/Text&gt;&#13;&#10;            &lt;Text style={{ fontFamily: '微软雅黑', fontSize: 15, color: '#A9A294', marginTop: 2 }}&gt;每小时扫一遍在途审批&lt;/Text&gt;&#13;&#10;          &lt;/Box&gt;&#13;&#10;        &lt;/Box&gt;&#13;&#10;        &lt;Box style={{ flexDirection: 'row', gap: 16, alignItems: 'flex-start' }}&gt;&#13;&#10;          &lt;Box style={{ width: 44, height: 44, borderRadius: 12, background: 'rgba(217,119,87,0.1)', justifyContent: 'center', alignItems: 'center' }}&gt;&#13;&#10;            &lt;FAIcon name=&quot;exclamation-triangle&quot; style={{ fill: '#D97757', width: 22, height: 22 }} /&gt;&#13;&#10;          &lt;/Box&gt;&#13;&#10;          &lt;Box style={{ flex: 1 }}&gt;&#13;&#10;            &lt;Text style={{ fontFamily: '微软雅黑', fontSize: 20, fontWeight: 'bold', color: '#1F1E1B' }}&gt;预警&lt;/Text&gt;&#13;&#10;            &lt;Text style={{ fontFamily: '微软雅黑', fontSize: 15, color: '#A9A294', marginTop: 2 }}&gt;超时分级报警（24h / 48h）&lt;/Text&gt;&#13;&#10;          &lt;/Box&gt;&#13;&#10;        &lt;/Box&gt;&#13;&#10;        &lt;Box style={{ flexDirection: 'row', gap: 16, alignItems: 'flex-start' }}&gt;&#13;&#10;          &lt;Box style={{ width: 44, height: 44, borderRadius: 12, background: 'rgba(217,119,87,0.1)', justifyContent: 'center', alignItems: 'center' }}&gt;&#13;&#10;            &lt;FAIcon name=&quot;bullhorn&quot; style={{ fill: '#D97757', width: 22, height: 22 }} /&gt;&#13;&#10;          &lt;/Box&gt;&#13;&#10;          &lt;Box style={{ flex: 1 }}&gt;&#13;&#10;            &lt;Text style={{ fontFamily: '微软雅黑', fontSize: 20, fontWeight: 'bold', color: '#1F1E1B' }}&gt;催办&lt;/Text&gt;&#13;&#10;            &lt;Text style={{ fontFamily: '微软雅黑', fontSize: 15, color: '#A9A294', marginTop: 2 }}&gt;提醒审批人，抄送上级&lt;/Text&gt;&#13;&#10;          &lt;/Box&gt;&#13;&#10;        &lt;/Box&gt;&#13;&#10;        &lt;Box style={{ flexDirection: 'row', gap: 16, alignItems: 'flex-start' }}&gt;&#13;&#10;          &lt;Box style={{ width: 44, height: 44, borderRadius: 12, background: 'rgba(217,119,87,0.1)', justifyContent: 'center', alignItems: 'center' }}&gt;&#13;&#10;            &lt;FAIcon name=&quot;file-text&quot; style={{ fill: '#D97757', width: 22, height: 22 }} /&gt;&#13;&#10;          &lt;/Box&gt;&#13;&#10;          &lt;Box style={{ flex: 1 }}&gt;&#13;&#10;            &lt;Text style={{ fontFamily: '微软雅黑', fontSize: 20, fontWeight: 'bold', color: '#1F1E1B' }}&gt;报告&lt;/Text&gt;&#13;&#10;            &lt;Text style={{ fontFamily: '微软雅黑', fontSize: 15, color: '#A9A294', marginTop: 2 }}&gt;每周自动发布审批健康度公告&lt;/Text&gt;&#13;&#10;          &lt;/Box&gt;&#13;&#10;        &lt;/Box&gt;&#13;&#10;        &lt;Box style={{ marginTop: 8, padding: '14px 18px', background: 'rgba(217,119,87,0.08)', borderLeft: '3px solid #D97757', borderRadius: 8 }}&gt;&#13;&#10;          &lt;Text style={{ fontFamily: '微软雅黑', fontSize: 15, color: '#1F1E1B', lineHeight: 1.5 }}&gt;判断和说话交给 AI，&lt;span style={{ fontWeight: 'bold' }}&gt;动作和数据留在系统里&lt;/span&gt;&lt;/Text&gt;&#13;&#10;        &lt;/Box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0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雇一个不睡觉的数字员工</a:t>
            </a:r>
            <a:endParaRPr/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Id1"/>
          <a:srcRect l="0" t="6451" r="0" b="6451"/>
          <a:stretch>
            <a:fillRect/>
          </a:stretch>
        </p:blipFill>
        <p:spPr>
          <a:xfrm rot="0" flipH="0" flipV="0">
            <a:off x="666750" y="1143000"/>
            <a:ext cx="5905500" cy="5143500"/>
          </a:xfrm>
          <a:prstGeom prst="roundRect">
            <a:avLst>
              <a:gd name="adj" fmla="val 2963"/>
            </a:avLst>
          </a:prstGeom>
          <a:ln/>
        </p:spPr>
      </p:pic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991350" y="1952625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9A294"/>
                </a:solidFill>
                <a:latin typeface="微软雅黑"/>
                <a:ea typeface="微软雅黑"/>
              </a:rPr>
              <a:t>小奥</a:t>
            </a:r>
            <a:r>
              <a:rPr lang="en-US" sz="1350">
                <a:solidFill>
                  <a:srgbClr val="A9A294"/>
                </a:solidFill>
                <a:latin typeface="微软雅黑"/>
                <a:ea typeface="微软雅黑"/>
              </a:rPr>
              <a:t> · 7×24 </a:t>
            </a:r>
            <a:r>
              <a:rPr lang="zh-CN" sz="1350">
                <a:solidFill>
                  <a:srgbClr val="A9A294"/>
                </a:solidFill>
                <a:latin typeface="微软雅黑"/>
                <a:ea typeface="微软雅黑"/>
              </a:rPr>
              <a:t>小时巡检</a:t>
            </a:r>
            <a:r>
              <a:rPr lang="en-US" sz="1350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1350">
                <a:solidFill>
                  <a:srgbClr val="A9A294"/>
                </a:solidFill>
                <a:latin typeface="微软雅黑"/>
                <a:ea typeface="微软雅黑"/>
              </a:rPr>
              <a:t>审批流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991350" y="23717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2476500"/>
            <a:ext cx="209550" cy="209550"/>
          </a:xfrm>
          <a:prstGeom prst="rect">
            <a:avLst/>
          </a:prstGeom>
          <a:ln/>
        </p:spPr>
      </p:pic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562850" y="237172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巡检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562850" y="261937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每小时扫一遍在途审批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991350" y="30003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3105150"/>
            <a:ext cx="209550" cy="20955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562850" y="300037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预警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562850" y="324802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超时分级报警（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24h / 48h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991350" y="36290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3733800"/>
            <a:ext cx="209550" cy="209550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562850" y="362902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催办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562850" y="387667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提醒审批人，抄送上级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991350" y="42576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4362450"/>
            <a:ext cx="209550" cy="209550"/>
          </a:xfrm>
          <a:prstGeom prst="rect">
            <a:avLst/>
          </a:prstGeom>
          <a:ln/>
        </p:spPr>
      </p:pic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562850" y="425767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报告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562850" y="450532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每周自动发布审批健康度公告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7019925" y="4962525"/>
            <a:ext cx="4533900" cy="523875"/>
          </a:xfrm>
          <a:prstGeom prst="roundRect">
            <a:avLst>
              <a:gd name="adj" fmla="val 14545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7019925" y="4962525"/>
            <a:ext cx="4533900" cy="523875"/>
          </a:xfrm>
          <a:custGeom>
            <a:pathLst>
              <a:path w="476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191375" y="5095875"/>
            <a:ext cx="4162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判断和说话交给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AI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，</a:t>
            </a:r>
            <a:r>
              <a:rPr lang="zh-CN" sz="1125" b="1">
                <a:solidFill>
                  <a:srgbClr val="1F1E1B"/>
                </a:solidFill>
                <a:latin typeface="微软雅黑"/>
                <a:ea typeface="微软雅黑"/>
              </a:rPr>
              <a:t>动作和数据留在系统里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10 / 22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1" name="" descr="&lt;Slide notes={`预警规则是业务方定的：24 小时催第一次，48 小时催满三次就升级抄送上级，48 小时还不动就判疑似无需审批。这里有个关键设计：最后这道闸门，AI 只标注、只上报，不砍单。为什么？自动改单据是不可逆动作，AI 可以当哨兵，但不能当刽子手。这个边界是业务和技术一起确认的，也是 AI 开发的第一课——搞清楚哪些事让 AI 做，哪些事必须留给人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分级预警的三道闸门&lt;/Text&gt;&#13;&#10;    &lt;/Box&gt;&#13;&#10;    &lt;Box style={{ flexDirection: 'row', height: 540, gap: 40 }}&gt;&#13;&#10;      &lt;Box style={{ width: 300, justifyContent: 'center' }}&gt;&#13;&#10;        &lt;Text style={{ fontFamily: '华文中宋', fontSize: 72, fontWeight: 'bold', color: '#D97757', lineHeight: 1 }}&gt;48h&lt;/Text&gt;&#13;&#10;        &lt;Text style={{ fontFamily: '微软雅黑', fontSize: 18, color: '#1F1E1B', marginTop: 18, lineHeight: 1.7 }}&gt;规则由业务定，&lt;br /&gt;AI 只负责执行。&lt;/Text&gt;&#13;&#10;        &lt;Text style={{ fontFamily: '微软雅黑', fontSize: 15, color: '#A9A294', marginTop: 14, lineHeight: 1.6 }}&gt;三条规则覆盖&lt;br /&gt;「提醒→升级→了断」全周期&lt;/Text&gt;&#13;&#10;      &lt;/Box&gt;&#13;&#10;      &lt;Box style={{ flex: 1, flexDirection: 'column', justifyContent: 'center', gap: 30 }}&gt;&#13;&#10;        &lt;Box style={{ flexDirection: 'row', alignItems: 'center' }}&gt;&#13;&#10;          &lt;Box style={{ width: 16, height: 16, borderRadius: 8, background: '#D97757' }} /&gt;&#13;&#10;          &lt;Box style={{ flex: 1, height: 3, background: '#A9A294', opacity: 0.35 }} /&gt;&#13;&#10;          &lt;Box style={{ width: 16, height: 16, borderRadius: 8, background: '#D97757' }} /&gt;&#13;&#10;          &lt;Box style={{ flex: 1, height: 3, background: '#A9A294', opacity: 0.35 }} /&gt;&#13;&#10;          &lt;Box style={{ width: 16, height: 16, borderRadius: 8, background: '#1F1E1B' }} /&gt;&#13;&#10;        &lt;/Box&gt;&#13;&#10;        &lt;Box style={{ flexDirection: 'row', gap: 20 }}&gt;&#13;&#10;          &lt;Box style={{ flex: 1, padding: '18px 20px', background: 'rgba(31,30,27,0.04)', borderRadius: 12 }}&gt;&#13;&#10;            &lt;Text style={{ fontFamily: '华文中宋', fontSize: 30, fontWeight: 'bold', color: '#D97757' }}&gt;24h&lt;/Text&gt;&#13;&#10;            &lt;Text style={{ fontFamily: '微软雅黑', fontSize: 17, fontWeight: 'bold', color: '#1F1E1B', marginTop: 8 }}&gt;第一道：催审批人&lt;/Text&gt;&#13;&#10;            &lt;Text style={{ fontFamily: '微软雅黑', fontSize: 14, color: '#A9A294', marginTop: 6, lineHeight: 1.5 }}&gt;停留超一天，发送第 1 次催办站内信&lt;/Text&gt;&#13;&#10;          &lt;/Box&gt;&#13;&#10;          &lt;Box style={{ flex: 1, padding: '18px 20px', background: 'rgba(31,30,27,0.04)', borderRadius: 12 }}&gt;&#13;&#10;            &lt;Text style={{ fontFamily: '华文中宋', fontSize: 30, fontWeight: 'bold', color: '#D97757' }}&gt;48h&lt;/Text&gt;&#13;&#10;            &lt;Text style={{ fontFamily: '微软雅黑', fontSize: 17, fontWeight: 'bold', color: '#1F1E1B', marginTop: 8 }}&gt;第二道：升级抄送&lt;/Text&gt;&#13;&#10;            &lt;Text style={{ fontFamily: '微软雅黑', fontSize: 14, color: '#A9A294', marginTop: 6, lineHeight: 1.5 }}&gt;累计催满 3 次，抄送上级一起盯&lt;/Text&gt;&#13;&#10;          &lt;/Box&gt;&#13;&#10;          &lt;Box style={{ flex: 1, padding: '18px 20px', background: '#1F1E1B', borderRadius: 12 }}&gt;&#13;&#10;            &lt;Text style={{ fontFamily: '华文中宋', fontSize: 30, fontWeight: 'bold', color: '#FAF9F5' }}&gt;48h&lt;/Text&gt;&#13;&#10;            &lt;Text style={{ fontFamily: '微软雅黑', fontSize: 17, fontWeight: 'bold', color: '#FAF9F5', marginTop: 8 }}&gt;第三道：判「无需审批」&lt;/Text&gt;&#13;&#10;            &lt;Text style={{ fontFamily: '微软雅黑', fontSize: 14, color: '#FAF9F5', opacity: 0.7, marginTop: 6, lineHeight: 1.5 }}&gt;无审批动作 → 只标注上报，人工裁决&lt;/Text&gt;&#13;&#10;          &lt;/Box&gt;&#13;&#10;        &lt;/Box&gt;&#13;&#10;        &lt;Box style={{ flexDirection: 'row', gap: 12, alignItems: 'center', padding: '14px 20px', background: 'rgba(217,119,87,0.08)', borderLeft: '3px solid #D97757', borderRadius: 8 }}&gt;&#13;&#10;          &lt;FAIcon name=&quot;shield&quot; style={{ fill: '#D97757', width: 22, height: 22 }} /&gt;&#13;&#10;          &lt;Text style={{ fontFamily: '微软雅黑', fontSize: 16, color: '#1F1E1B' }}&gt;AI 可以当哨兵，&lt;span style={{ fontWeight: 'bold' }}&gt;不能当刽子手&lt;/span&gt;——连续两月高风险的审批人移出节点？二期再议。&lt;/Text&gt;&#13;&#10;        &lt;/Box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1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分级预警的三道闸门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66750" y="2524125"/>
            <a:ext cx="28575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D97757"/>
                </a:solidFill>
                <a:latin typeface="华文中宋"/>
                <a:ea typeface="华文中宋"/>
              </a:rPr>
              <a:t>48h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66750" y="3524250"/>
            <a:ext cx="28575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规则由业务定，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只负责执行。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66750" y="436245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三条规则覆盖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「提醒→升级→了断」全周期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905250" y="236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7639050" y="236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11372850" y="236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3905250" y="2800350"/>
            <a:ext cx="2409825" cy="1504950"/>
          </a:xfrm>
          <a:prstGeom prst="roundRect">
            <a:avLst>
              <a:gd name="adj" fmla="val 759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095750" y="2971800"/>
            <a:ext cx="2028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97757"/>
                </a:solidFill>
                <a:latin typeface="华文中宋"/>
                <a:ea typeface="华文中宋"/>
              </a:rPr>
              <a:t>24h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095750" y="3390900"/>
            <a:ext cx="2028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第一道：催审批人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095750" y="3648075"/>
            <a:ext cx="20288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停留超一天，发送第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次催办站内信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505575" y="2800350"/>
            <a:ext cx="2419350" cy="1504950"/>
          </a:xfrm>
          <a:prstGeom prst="roundRect">
            <a:avLst>
              <a:gd name="adj" fmla="val 759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696075" y="2971800"/>
            <a:ext cx="2038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97757"/>
                </a:solidFill>
                <a:latin typeface="华文中宋"/>
                <a:ea typeface="华文中宋"/>
              </a:rPr>
              <a:t>48h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696075" y="3390900"/>
            <a:ext cx="2038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第二道：升级抄送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696075" y="3648075"/>
            <a:ext cx="2038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累计催满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3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次，抄送上级一起盯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9115425" y="2800350"/>
            <a:ext cx="2409825" cy="1504950"/>
          </a:xfrm>
          <a:prstGeom prst="roundRect">
            <a:avLst>
              <a:gd name="adj" fmla="val 7595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305925" y="2971800"/>
            <a:ext cx="2028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F9F5"/>
                </a:solidFill>
                <a:latin typeface="华文中宋"/>
                <a:ea typeface="华文中宋"/>
              </a:rPr>
              <a:t>48h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305925" y="3390900"/>
            <a:ext cx="2028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F9F5"/>
                </a:solidFill>
                <a:latin typeface="微软雅黑"/>
                <a:ea typeface="微软雅黑"/>
              </a:rPr>
              <a:t>第三道：判「无需审批」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933825" y="4591050"/>
            <a:ext cx="7620000" cy="476250"/>
          </a:xfrm>
          <a:prstGeom prst="roundRect">
            <a:avLst>
              <a:gd name="adj" fmla="val 16000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3933825" y="4591050"/>
            <a:ext cx="7620000" cy="476250"/>
          </a:xfrm>
          <a:custGeom>
            <a:pathLst>
              <a:path w="800" h="5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5"/>
                </a:lnTo>
                <a:cubicBezTo>
                  <a:pt x="3" y="47"/>
                  <a:pt x="5" y="49"/>
                  <a:pt x="7" y="50"/>
                </a:cubicBezTo>
                <a:cubicBezTo>
                  <a:pt x="3" y="49"/>
                  <a:pt x="0" y="46"/>
                  <a:pt x="0" y="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24325" y="4724400"/>
            <a:ext cx="209550" cy="20955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448175" y="4733925"/>
            <a:ext cx="553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可以当哨兵，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不能当刽子手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——连续两月高风险的审批人移出节点？二期再议。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11 / 22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057650" y="2428875"/>
            <a:ext cx="3581400" cy="28575"/>
          </a:xfrm>
          <a:prstGeom prst="rect">
            <a:avLst/>
          </a:prstGeom>
          <a:solidFill>
            <a:srgbClr val="A9A294">
              <a:alpha val="35000"/>
            </a:srgbClr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7791450" y="2428875"/>
            <a:ext cx="3581400" cy="28575"/>
          </a:xfrm>
          <a:prstGeom prst="rect">
            <a:avLst/>
          </a:prstGeom>
          <a:solidFill>
            <a:srgbClr val="A9A294">
              <a:alpha val="35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305925" y="3648075"/>
            <a:ext cx="20288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AF9F5">
                    <a:alpha val="70000"/>
                  </a:srgbClr>
                </a:solidFill>
                <a:latin typeface="微软雅黑"/>
                <a:ea typeface="微软雅黑"/>
              </a:rPr>
              <a:t>无审批动作</a:t>
            </a:r>
            <a:r>
              <a:rPr lang="en-US" sz="1050">
                <a:solidFill>
                  <a:srgbClr val="FAF9F5">
                    <a:alpha val="70000"/>
                  </a:srgbClr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FAF9F5">
                    <a:alpha val="70000"/>
                  </a:srgbClr>
                </a:solidFill>
                <a:latin typeface="微软雅黑"/>
                <a:ea typeface="微软雅黑"/>
              </a:rPr>
              <a:t>只标注上报，人工裁决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0" name="" descr="&lt;Slide notes={`底座很朴素：一个跑在 Docker 里的开源勾股 OA，我们做了深度定制。三个容器——nginx 管入口、PHP 跑业务、MariaDB 存数据，通过樱花内网穿透开放了一个外网入口。数据规模：62 名员工、19 类审批流程、30 张在途单。我想传递的观点是：AI 落地不需要先换系统、不需要高大上的平台，老系统够用就能接。技术选型永远服务于业务问题，而不是反过来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第二幕 · 底座：一个朴素的 OA&lt;/Text&gt;&#13;&#10;    &lt;/Box&gt;&#13;&#10;    &lt;Box style={{ flexDirection: 'row', height: 540, gap: 40 }}&gt;&#13;&#10;      &lt;Box style={{ flex: 1, justifyContent: 'center' }}&gt;&#13;&#10;        &lt;Box style={{ flexDirection: 'row', gap: 16, justifyContent: 'center' }}&gt;&#13;&#10;          &lt;Box style={{ flexDirection: 'row', alignItems: 'center', gap: 10, padding: '12px 22px', background: 'rgba(31,30,27,0.04)', borderRadius: 10 }}&gt;&#13;&#10;            &lt;FAIcon name=&quot;user&quot; style={{ fill: '#1F1E1B', width: 20, height: 20 }} /&gt;&#13;&#10;            &lt;Text style={{ fontFamily: '微软雅黑', fontSize: 16, color: '#1F1E1B' }}&gt;员工浏览器&lt;/Text&gt;&#13;&#10;          &lt;/Box&gt;&#13;&#10;          &lt;Box style={{ flexDirection: 'row', alignItems: 'center', gap: 10, padding: '12px 22px', background: 'rgba(217,119,87,0.1)', borderRadius: 10 }}&gt;&#13;&#10;            &lt;FAIcon name=&quot;robot&quot; style={{ fill: '#D97757', width: 20, height: 20 }} /&gt;&#13;&#10;            &lt;Text style={{ fontFamily: '微软雅黑', fontSize: 16, fontWeight: 'bold', color: '#D97757' }}&gt;OpenClaw&lt;/Text&gt;&#13;&#10;          &lt;/Box&gt;&#13;&#10;        &lt;/Box&gt;&#13;&#10;        &lt;Box style={{ alignItems: 'center', padding: '6px 0' }}&gt;&#13;&#10;          &lt;FAIcon name=&quot;arrow-down&quot; style={{ fill: '#A9A294', width: 20, height: 20 }} /&gt;&#13;&#10;        &lt;/Box&gt;&#13;&#10;        &lt;Box style={{ padding: '12px 22px', background: 'rgba(31,30,27,0.04)', borderRadius: 10, alignItems: 'center' }}&gt;&#13;&#10;          &lt;Text style={{ fontFamily: '微软雅黑', fontSize: 16, color: '#1F1E1B' }}&gt;樱花 Frp 内网穿透 · 外网入口 &lt;span style={{ fontWeight: 'bold' }}&gt;:20857&lt;/span&gt;&lt;/Text&gt;&#13;&#10;        &lt;/Box&gt;&#13;&#10;        &lt;Box style={{ alignItems: 'center', padding: '6px 0' }}&gt;&#13;&#10;          &lt;FAIcon name=&quot;arrow-down&quot; style={{ fill: '#A9A294', width: 20, height: 20 }} /&gt;&#13;&#10;        &lt;/Box&gt;&#13;&#10;        &lt;Box style={{ padding: '20px 24px', background: '#1F1E1B', borderRadius: 14 }}&gt;&#13;&#10;          &lt;Text style={{ fontFamily: '微软雅黑', fontSize: 14, color: '#FAF9F5', opacity: 0.6, marginBottom: 12 }}&gt;Docker Compose&lt;/Text&gt;&#13;&#10;          &lt;Box style={{ flexDirection: 'row', gap: 12, alignItems: 'center' }}&gt;&#13;&#10;            &lt;Box style={{ flex: 1, padding: '14px 10px', background: '#FAF9F5', borderRadius: 10, alignItems: 'center' }}&gt;&#13;&#10;              &lt;Text style={{ fontFamily: '微软雅黑', fontSize: 15, fontWeight: 'bold', color: '#1F1E1B' }}&gt;nginx&lt;/Text&gt;&#13;&#10;              &lt;Text style={{ fontFamily: '微软雅黑', fontSize: 12, color: '#A9A294', marginTop: 2 }}&gt;入口 :8010&lt;/Text&gt;&#13;&#10;            &lt;/Box&gt;&#13;&#10;            &lt;FAIcon name=&quot;arrow-right&quot; style={{ fill: '#D97757', width: 18, height: 18 }} /&gt;&#13;&#10;            &lt;Box style={{ flex: 1, padding: '14px 10px', background: '#FAF9F5', borderRadius: 10, alignItems: 'center' }}&gt;&#13;&#10;              &lt;Text style={{ fontFamily: '微软雅黑', fontSize: 15, fontWeight: 'bold', color: '#1F1E1B' }}&gt;PHP 8.2&lt;/Text&gt;&#13;&#10;              &lt;Text style={{ fontFamily: '微软雅黑', fontSize: 12, color: '#A9A294', marginTop: 2 }}&gt;ThinkPHP&lt;/Text&gt;&#13;&#10;            &lt;/Box&gt;&#13;&#10;            &lt;FAIcon name=&quot;arrow-right&quot; style={{ fill: '#D97757', width: 18, height: 18 }} /&gt;&#13;&#10;            &lt;Box style={{ flex: 1, padding: '14px 10px', background: '#FAF9F5', borderRadius: 10, alignItems: 'center' }}&gt;&#13;&#10;              &lt;Text style={{ fontFamily: '微软雅黑', fontSize: 15, fontWeight: 'bold', color: '#1F1E1B' }}&gt;MariaDB&lt;/Text&gt;&#13;&#10;              &lt;Text style={{ fontFamily: '微软雅黑', fontSize: 12, color: '#A9A294', marginTop: 2 }}&gt;数据存储&lt;/Text&gt;&#13;&#10;            &lt;/Box&gt;&#13;&#10;          &lt;/Box&gt;&#13;&#10;        &lt;/Box&gt;&#13;&#10;      &lt;/Box&gt;&#13;&#10;      &lt;Box style={{ width: 360, justifyContent: 'center', gap: 20 }}&gt;&#13;&#10;        &lt;Box style={{ flexDirection: 'row', alignItems: 'baseline', gap: 14, padding: '18px 24px', background: 'rgba(217,119,87,0.08)', borderRadius: 12 }}&gt;&#13;&#10;          &lt;Text style={{ fontFamily: '华文中宋', fontSize: 52, fontWeight: 'bold', color: '#D97757', lineHeight: 1 }}&gt;62&lt;/Text&gt;&#13;&#10;          &lt;Text style={{ fontFamily: '微软雅黑', fontSize: 16, color: '#1F1E1B' }}&gt;名员工在线使用&lt;/Text&gt;&#13;&#10;        &lt;/Box&gt;&#13;&#10;        &lt;Box style={{ flexDirection: 'row', alignItems: 'baseline', gap: 14, padding: '18px 24px', background: 'rgba(217,119,87,0.08)', borderRadius: 12 }}&gt;&#13;&#10;          &lt;Text style={{ fontFamily: '华文中宋', fontSize: 52, fontWeight: 'bold', color: '#D97757', lineHeight: 1 }}&gt;19&lt;/Text&gt;&#13;&#10;          &lt;Text style={{ fontFamily: '微软雅黑', fontSize: 16, color: '#1F1E1B' }}&gt;类审批流程&lt;/Text&gt;&#13;&#10;        &lt;/Box&gt;&#13;&#10;        &lt;Box style={{ flexDirection: 'row', alignItems: 'baseline', gap: 14, padding: '18px 24px', background: 'rgba(217,119,87,0.08)', borderRadius: 12 }}&gt;&#13;&#10;          &lt;Text style={{ fontFamily: '华文中宋', fontSize: 52, fontWeight: 'bold', color: '#D97757', lineHeight: 1 }}&gt;30&lt;/Text&gt;&#13;&#10;          &lt;Text style={{ fontFamily: '微软雅黑', fontSize: 16, color: '#1F1E1B' }}&gt;张在途审批单&lt;/Text&gt;&#13;&#10;        &lt;/Box&gt;&#13;&#10;        &lt;Text style={{ fontFamily: '微软雅黑', fontSize: 15, color: '#A9A294', lineHeight: 1.6, marginTop: 4 }}&gt;开源勾股 OA 深度定制 · Docker 一键部署&lt;br /&gt;不神秘、不高级，但够用&lt;/Text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2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第二幕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底座：一个朴素的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OA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2638425" y="236220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847975" y="2476500"/>
            <a:ext cx="190500" cy="19050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133725" y="24765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员工浏览器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257675" y="2362200"/>
            <a:ext cx="1485900" cy="419100"/>
          </a:xfrm>
          <a:prstGeom prst="roundRect">
            <a:avLst>
              <a:gd name="adj" fmla="val 22727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67225" y="2476500"/>
            <a:ext cx="190500" cy="190500"/>
          </a:xfrm>
          <a:prstGeom prst="rect">
            <a:avLst/>
          </a:prstGeom>
          <a:ln/>
        </p:spPr>
      </p:pic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752975" y="2476500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微软雅黑"/>
                <a:ea typeface="微软雅黑"/>
              </a:rPr>
              <a:t>OpenClaw</a:t>
            </a:r>
            <a:endParaRPr/>
          </a:p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95750" y="2838450"/>
            <a:ext cx="190500" cy="190500"/>
          </a:xfrm>
          <a:prstGeom prst="rect">
            <a:avLst/>
          </a:prstGeom>
          <a:ln/>
        </p:spPr>
      </p:pic>
      <p:sp>
        <p:nvSpPr>
          <p:cNvPr id="80" name=""/>
          <p:cNvSpPr/>
          <p:nvPr/>
        </p:nvSpPr>
        <p:spPr>
          <a:xfrm rot="0" flipH="0" flipV="0">
            <a:off x="666750" y="3086100"/>
            <a:ext cx="7048500" cy="419100"/>
          </a:xfrm>
          <a:prstGeom prst="roundRect">
            <a:avLst>
              <a:gd name="adj" fmla="val 22727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2895600" y="320040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樱花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Frp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内网穿透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外网入口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:20857</a:t>
            </a:r>
            <a:endParaRPr/>
          </a:p>
        </p:txBody>
      </p:sp>
      <p:pic>
        <p:nvPicPr>
          <p:cNvPr id="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95750" y="3562350"/>
            <a:ext cx="190500" cy="190500"/>
          </a:xfrm>
          <a:prstGeom prst="rect">
            <a:avLst/>
          </a:prstGeom>
          <a:ln/>
        </p:spPr>
      </p:pic>
      <p:sp>
        <p:nvSpPr>
          <p:cNvPr id="83" name=""/>
          <p:cNvSpPr/>
          <p:nvPr/>
        </p:nvSpPr>
        <p:spPr>
          <a:xfrm rot="0" flipH="0" flipV="0">
            <a:off x="666750" y="3810000"/>
            <a:ext cx="7048500" cy="1257300"/>
          </a:xfrm>
          <a:prstGeom prst="roundRect">
            <a:avLst>
              <a:gd name="adj" fmla="val 10606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895350" y="4276725"/>
            <a:ext cx="1933575" cy="600075"/>
          </a:xfrm>
          <a:prstGeom prst="roundRect">
            <a:avLst>
              <a:gd name="adj" fmla="val 15873"/>
            </a:avLst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666875" y="44100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1E1B"/>
                </a:solidFill>
                <a:latin typeface="微软雅黑"/>
                <a:ea typeface="微软雅黑"/>
              </a:rPr>
              <a:t>nginx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562100" y="460057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入口</a:t>
            </a: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 :8010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943225" y="4495800"/>
            <a:ext cx="171450" cy="171450"/>
          </a:xfrm>
          <a:prstGeom prst="rect">
            <a:avLst/>
          </a:prstGeom>
          <a:ln/>
        </p:spPr>
      </p:pic>
      <p:sp>
        <p:nvSpPr>
          <p:cNvPr id="88" name=""/>
          <p:cNvSpPr/>
          <p:nvPr/>
        </p:nvSpPr>
        <p:spPr>
          <a:xfrm rot="0" flipH="0" flipV="0">
            <a:off x="3228975" y="4276725"/>
            <a:ext cx="1924050" cy="600075"/>
          </a:xfrm>
          <a:prstGeom prst="roundRect">
            <a:avLst>
              <a:gd name="adj" fmla="val 15873"/>
            </a:avLst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914775" y="441007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1E1B"/>
                </a:solidFill>
                <a:latin typeface="微软雅黑"/>
                <a:ea typeface="微软雅黑"/>
              </a:rPr>
              <a:t>PHP 8.2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924300" y="4600575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ThinkPHP</a:t>
            </a:r>
            <a:endParaRPr/>
          </a:p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67325" y="4495800"/>
            <a:ext cx="171450" cy="171450"/>
          </a:xfrm>
          <a:prstGeom prst="rect">
            <a:avLst/>
          </a:prstGeom>
          <a:ln/>
        </p:spPr>
      </p:pic>
      <p:sp>
        <p:nvSpPr>
          <p:cNvPr id="92" name=""/>
          <p:cNvSpPr/>
          <p:nvPr/>
        </p:nvSpPr>
        <p:spPr>
          <a:xfrm rot="0" flipH="0" flipV="0">
            <a:off x="5553075" y="4276725"/>
            <a:ext cx="1933575" cy="600075"/>
          </a:xfrm>
          <a:prstGeom prst="roundRect">
            <a:avLst>
              <a:gd name="adj" fmla="val 15873"/>
            </a:avLst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219825" y="441007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1E1B"/>
                </a:solidFill>
                <a:latin typeface="微软雅黑"/>
                <a:ea typeface="微软雅黑"/>
              </a:rPr>
              <a:t>MariaDB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296025" y="46005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数据存储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8096250" y="1724025"/>
            <a:ext cx="3429000" cy="942975"/>
          </a:xfrm>
          <a:prstGeom prst="roundRect">
            <a:avLst>
              <a:gd name="adj" fmla="val 12121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324850" y="1895475"/>
            <a:ext cx="6381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7757"/>
                </a:solidFill>
                <a:latin typeface="华文中宋"/>
                <a:ea typeface="华文中宋"/>
              </a:rPr>
              <a:t>62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096375" y="1895475"/>
            <a:ext cx="1066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名员工在线使用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096250" y="2857500"/>
            <a:ext cx="3429000" cy="942975"/>
          </a:xfrm>
          <a:prstGeom prst="roundRect">
            <a:avLst>
              <a:gd name="adj" fmla="val 12121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24850" y="3028950"/>
            <a:ext cx="6381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7757"/>
                </a:solidFill>
                <a:latin typeface="华文中宋"/>
                <a:ea typeface="华文中宋"/>
              </a:rPr>
              <a:t>19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096375" y="3028950"/>
            <a:ext cx="762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类审批流程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8096250" y="3990975"/>
            <a:ext cx="3429000" cy="942975"/>
          </a:xfrm>
          <a:prstGeom prst="roundRect">
            <a:avLst>
              <a:gd name="adj" fmla="val 12121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324850" y="4162425"/>
            <a:ext cx="6381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7757"/>
                </a:solidFill>
                <a:latin typeface="华文中宋"/>
                <a:ea typeface="华文中宋"/>
              </a:rPr>
              <a:t>30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096375" y="4162425"/>
            <a:ext cx="9144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张在途审批单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096250" y="5162550"/>
            <a:ext cx="34290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开源勾股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深度定制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· Docker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一键部署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不神秘、不高级，但够用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12 / 22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95350" y="4000500"/>
            <a:ext cx="659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Docker Compose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8" name="" descr="&lt;Slide notes={`AI 不长眼睛，它读不懂漂亮的审批页面。原系统 50 多个接口是给网页前端用的，靠浏览器 cookie 登录，AI 去调会全被拦。它需要的是：一个网址、一份 JSON 数据、一张通行证。所以我们没有改造老代码，而是加了一层薄薄的 AI 专用接口。这里强调一下：只加不改，是接老系统最安全的姿势——原有业务零风险，新接口独立演进。这层接口 7 个端点，一天开发完，全部实测通过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关键问题：AI 怎么「进门」？&lt;/Text&gt;&#13;&#10;    &lt;/Box&gt;&#13;&#10;    &lt;Box style={{ flexDirection: 'row', height: 480, gap: 28 }}&gt;&#13;&#10;      &lt;Box style={{ flex: 3, flexDirection: 'column', padding: '28px 30px', background: '#1F1E1B', borderRadius: 16, justifyContent: 'center', gap: 18 }}&gt;&#13;&#10;        &lt;Box style={{ flexDirection: 'row', alignItems: 'center', gap: 12 }}&gt;&#13;&#10;          &lt;FAIcon name=&quot;check-circle&quot; style={{ fill: '#D97757', width: 30, height: 30 }} /&gt;&#13;&#10;          &lt;Text style={{ fontFamily: '微软雅黑', fontSize: 22, fontWeight: 'bold', color: '#FAF9F5' }}&gt;给 AI 用的（我们新建的）&lt;/Text&gt;&#13;&#10;        &lt;/Box&gt;&#13;&#10;        &lt;Box style={{ flexDirection: 'column', gap: 14, marginTop: 6 }}&gt;&#13;&#10;          &lt;Text style={{ fontFamily: '微软雅黑', fontSize: 17, color: '#FAF9F5', opacity: 0.9 }}&gt;&lt;span style={{ color: '#D97757', fontWeight: 'bold' }}&gt;接口 + JSON&lt;/span&gt;——一个网址，一份机器可读的数据&lt;/Text&gt;&#13;&#10;          &lt;Text style={{ fontFamily: '微软雅黑', fontSize: 17, color: '#FAF9F5', opacity: 0.9 }}&gt;&lt;span style={{ color: '#D97757', fontWeight: 'bold' }}&gt;JWT Token&lt;/span&gt;——通行证制，1 小时有效，无状态验证&lt;/Text&gt;&#13;&#10;          &lt;Text style={{ fontFamily: '微软雅黑', fontSize: 17, color: '#FAF9F5', opacity: 0.9 }}&gt;&lt;span style={{ color: '#D97757', fontWeight: 'bold' }}&gt;统一返回格式&lt;/span&gt;——code / msg / data，AI 解析零成本&lt;/Text&gt;&#13;&#10;        &lt;/Box&gt;&#13;&#10;        &lt;Box style={{ flexDirection: 'row', alignItems: 'center', gap: 14, marginTop: 14, padding: '14px 20px', background: 'rgba(217,119,87,0.15)', borderRadius: 10 }}&gt;&#13;&#10;          &lt;Text style={{ fontFamily: '华文中宋', fontSize: 26, fontWeight: 'bold', color: '#D97757' }}&gt;7 个接口 · 1 天开发 · 全部实测通过&lt;/Text&gt;&#13;&#10;        &lt;/Box&gt;&#13;&#10;      &lt;/Box&gt;&#13;&#10;      &lt;Box style={{ flex: 2, flexDirection: 'column', padding: '28px 30px', background: 'rgba(31,30,27,0.04)', borderRadius: 16, justifyContent: 'center', gap: 18 }}&gt;&#13;&#10;        &lt;Box style={{ flexDirection: 'row', alignItems: 'center', gap: 12 }}&gt;&#13;&#10;          &lt;FAIcon name=&quot;times-circle&quot; style={{ fill: '#A9A294', width: 30, height: 30 }} /&gt;&#13;&#10;          &lt;Text style={{ fontFamily: '微软雅黑', fontSize: 22, fontWeight: 'bold', color: '#1F1E1B' }}&gt;给人用的（网页）&lt;/Text&gt;&#13;&#10;        &lt;/Box&gt;&#13;&#10;        &lt;Box style={{ flexDirection: 'column', gap: 14, marginTop: 6 }}&gt;&#13;&#10;          &lt;Text style={{ fontFamily: '微软雅黑', fontSize: 17, color: '#A9A294', lineHeight: 1.5 }}&gt;HTML 界面 + 按钮，漂亮但 AI 读不懂&lt;/Text&gt;&#13;&#10;          &lt;Text style={{ fontFamily: '微软雅黑', fontSize: 17, color: '#A9A294', lineHeight: 1.5 }}&gt;浏览器 Session 登录，依赖 cookie&lt;/Text&gt;&#13;&#10;          &lt;Text style={{ fontFamily: '微软雅黑', fontSize: 17, color: '#A9A294', lineHeight: 1.5 }}&gt;50+ 个老接口，全走会话状态&lt;/Text&gt;&#13;&#10;        &lt;/Box&gt;&#13;&#10;      &lt;/Box&gt;&#13;&#10;    &lt;/Box&gt;&#13;&#10;    &lt;Box style={{ height: 60, justifyContent: 'center' }}&gt;&#13;&#10;      &lt;Text style={{ fontFamily: '华文中宋', fontSize: 20, fontWeight: 'bold', color: '#1F1E1B', textAlign: 'center' }}&gt;结论：&lt;span style={{ color: '#D97757' }}&gt;只加不改&lt;/span&gt;——新建一层 AI 专用接口，老代码一行没动&lt;/Text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3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关键问题：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AI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怎么「进门」？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66750" y="1143000"/>
            <a:ext cx="6353175" cy="4572000"/>
          </a:xfrm>
          <a:prstGeom prst="roundRect">
            <a:avLst>
              <a:gd name="adj" fmla="val 3333"/>
            </a:avLst>
          </a:prstGeom>
          <a:solidFill>
            <a:srgbClr val="1F1E1B"/>
          </a:solidFill>
          <a:ln/>
        </p:spPr>
        <p:txBody>
          <a:bodyPr/>
          <a:p/>
        </p:txBody>
      </p:sp>
      <p:pic>
        <p:nvPicPr>
          <p:cNvPr id="1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2305050"/>
            <a:ext cx="285750" cy="285750"/>
          </a:xfrm>
          <a:prstGeom prst="rect">
            <a:avLst/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352550" y="2324100"/>
            <a:ext cx="2438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AF9F5"/>
                </a:solidFill>
                <a:latin typeface="微软雅黑"/>
                <a:ea typeface="微软雅黑"/>
              </a:rPr>
              <a:t>给</a:t>
            </a:r>
            <a:r>
              <a:rPr lang="en-US" sz="1650" b="1">
                <a:solidFill>
                  <a:srgbClr val="FAF9F5"/>
                </a:solidFill>
                <a:latin typeface="微软雅黑"/>
                <a:ea typeface="微软雅黑"/>
              </a:rPr>
              <a:t> AI </a:t>
            </a:r>
            <a:r>
              <a:rPr lang="zh-CN" sz="1650" b="1">
                <a:solidFill>
                  <a:srgbClr val="FAF9F5"/>
                </a:solidFill>
                <a:latin typeface="微软雅黑"/>
                <a:ea typeface="微软雅黑"/>
              </a:rPr>
              <a:t>用的（我们新建的）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952500" y="3990975"/>
            <a:ext cx="5781675" cy="571500"/>
          </a:xfrm>
          <a:prstGeom prst="roundRect">
            <a:avLst>
              <a:gd name="adj" fmla="val 16667"/>
            </a:avLst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43000" y="4124325"/>
            <a:ext cx="3924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7 </a:t>
            </a:r>
            <a:r>
              <a:rPr lang="zh-CN" sz="1950" b="1">
                <a:solidFill>
                  <a:srgbClr val="D97757"/>
                </a:solidFill>
                <a:latin typeface="华文中宋"/>
                <a:ea typeface="华文中宋"/>
              </a:rPr>
              <a:t>个接口</a:t>
            </a: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 · 1 </a:t>
            </a:r>
            <a:r>
              <a:rPr lang="zh-CN" sz="1950" b="1">
                <a:solidFill>
                  <a:srgbClr val="D97757"/>
                </a:solidFill>
                <a:latin typeface="华文中宋"/>
                <a:ea typeface="华文中宋"/>
              </a:rPr>
              <a:t>天开发</a:t>
            </a: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 · </a:t>
            </a:r>
            <a:r>
              <a:rPr lang="zh-CN" sz="1950" b="1">
                <a:solidFill>
                  <a:srgbClr val="D97757"/>
                </a:solidFill>
                <a:latin typeface="华文中宋"/>
                <a:ea typeface="华文中宋"/>
              </a:rPr>
              <a:t>全部实测通过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7286625" y="1143000"/>
            <a:ext cx="4238625" cy="4572000"/>
          </a:xfrm>
          <a:prstGeom prst="roundRect">
            <a:avLst>
              <a:gd name="adj" fmla="val 359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572375" y="2600325"/>
            <a:ext cx="285750" cy="28575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972425" y="261937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给人用的（网页）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572375" y="3114675"/>
            <a:ext cx="3667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HTML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界面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+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按钮，漂亮但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读不懂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572375" y="3543300"/>
            <a:ext cx="3667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浏览器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Session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登录，依赖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cookie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572375" y="3971925"/>
            <a:ext cx="3667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50+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个老接口，全走会话状态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66750" y="5886450"/>
            <a:ext cx="10858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华文中宋"/>
                <a:ea typeface="华文中宋"/>
              </a:rPr>
              <a:t>结论：</a:t>
            </a:r>
            <a:r>
              <a:rPr lang="zh-CN" sz="1500" b="1">
                <a:solidFill>
                  <a:srgbClr val="D97757"/>
                </a:solidFill>
                <a:latin typeface="华文中宋"/>
                <a:ea typeface="华文中宋"/>
              </a:rPr>
              <a:t>只加不改</a:t>
            </a:r>
            <a:r>
              <a:rPr lang="zh-CN" sz="1500" b="1">
                <a:solidFill>
                  <a:srgbClr val="1F1E1B"/>
                </a:solidFill>
                <a:latin typeface="华文中宋"/>
                <a:ea typeface="华文中宋"/>
              </a:rPr>
              <a:t>——新建一层</a:t>
            </a:r>
            <a:r>
              <a:rPr lang="en-US" sz="1500" b="1">
                <a:solidFill>
                  <a:srgbClr val="1F1E1B"/>
                </a:solidFill>
                <a:latin typeface="华文中宋"/>
                <a:ea typeface="华文中宋"/>
              </a:rPr>
              <a:t> AI </a:t>
            </a:r>
            <a:r>
              <a:rPr lang="zh-CN" sz="1500" b="1">
                <a:solidFill>
                  <a:srgbClr val="1F1E1B"/>
                </a:solidFill>
                <a:latin typeface="华文中宋"/>
                <a:ea typeface="华文中宋"/>
              </a:rPr>
              <a:t>专用接口，老代码一行没动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13 / 22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52500" y="2819400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7757">
                    <a:alpha val="90000"/>
                  </a:srgbClr>
                </a:solidFill>
                <a:latin typeface="微软雅黑"/>
                <a:ea typeface="微软雅黑"/>
              </a:rPr>
              <a:t>接口</a:t>
            </a:r>
            <a:r>
              <a:rPr lang="en-US" sz="1275" b="1">
                <a:solidFill>
                  <a:srgbClr val="D97757">
                    <a:alpha val="90000"/>
                  </a:srgbClr>
                </a:solidFill>
                <a:latin typeface="微软雅黑"/>
                <a:ea typeface="微软雅黑"/>
              </a:rPr>
              <a:t> + JSON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——一个网址，一份机器可读的数据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52500" y="3152775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7757">
                    <a:alpha val="90000"/>
                  </a:srgbClr>
                </a:solidFill>
                <a:latin typeface="微软雅黑"/>
                <a:ea typeface="微软雅黑"/>
              </a:rPr>
              <a:t>JWT Token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——通行证制，</a:t>
            </a:r>
            <a:r>
              <a:rPr lang="en-US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1 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小时有效，无状态验证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52500" y="3486150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7757">
                    <a:alpha val="90000"/>
                  </a:srgbClr>
                </a:solidFill>
                <a:latin typeface="微软雅黑"/>
                <a:ea typeface="微软雅黑"/>
              </a:rPr>
              <a:t>统一返回格式</a:t>
            </a:r>
            <a:r>
              <a:rPr lang="en-US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——code / msg / data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，</a:t>
            </a:r>
            <a:r>
              <a:rPr lang="en-US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解析零成本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8" name="" descr="&lt;Slide notes={`七个接口不多，但设计有讲究：读的多、写的少。五个只读查询——心跳、巡检、统计、待办，AI 随便调都不会出事；两个写操作——发站内信、发公告，也都是催一催、喊一喊级别的安全动作。核心是中间那行高亮的 approve_pending：拉出所有在途单，每张单带停留时长、当前审批人、风险分级，巡检全靠它。自动砍单那种接口我们压根没做——工具箱里不放进危险的刀，这是设计原则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7 个接口 = AI 的全部工具箱&lt;/Text&gt;&#13;&#10;    &lt;/Box&gt;&#13;&#10;    &lt;Box style={{ flexDirection: 'row', height: 540, gap: 40 }}&gt;&#13;&#10;      &lt;Box style={{ width: 280, justifyContent: 'center' }}&gt;&#13;&#10;        &lt;Text style={{ fontFamily: '华文中宋', fontSize: 140, fontWeight: 'bold', color: '#D97757', lineHeight: 1 }}&gt;7&lt;/Text&gt;&#13;&#10;        &lt;Text style={{ fontFamily: '微软雅黑', fontSize: 20, fontWeight: 'bold', color: '#1F1E1B', marginTop: 14 }}&gt;5 个只读 · 2 个写&lt;/Text&gt;&#13;&#10;        &lt;Text style={{ fontFamily: '微软雅黑', fontSize: 15, color: '#A9A294', marginTop: 12, lineHeight: 1.6 }}&gt;自动砍单那种危险接口，&lt;br /&gt;压根没做——&lt;br /&gt;工具箱里不放危险的刀&lt;/Text&gt;&#13;&#10;      &lt;/Box&gt;&#13;&#10;      &lt;Box style={{ flex: 1, flexDirection: 'column', justifyContent: 'center', gap: 8 }}&gt;&#13;&#10;        &lt;Box style={{ flexDirection: 'row', padding: '10px 18px', gap: 16 }}&gt;&#13;&#10;          &lt;Text style={{ fontFamily: '微软雅黑', fontSize: 14, color: '#A9A294', width: 210 }}&gt;接口&lt;/Text&gt;&#13;&#10;          &lt;Text style={{ fontFamily: '微软雅黑', fontSize: 14, color: '#A9A294', flex: 1 }}&gt;干什么&lt;/Text&gt;&#13;&#10;          &lt;Text style={{ fontFamily: '微软雅黑', fontSize: 14, color: '#A9A294', width: 90 }}&gt;比喻&lt;/Text&gt;&#13;&#10;        &lt;/Box&gt;&#13;&#10;        &lt;Box style={{ flexDirection: 'row', padding: '11px 18px', gap: 16, background: 'rgba(31,30,27,0.04)', borderRadius: 8, alignItems: 'center' }}&gt;&#13;&#10;          &lt;Text style={{ fontFamily: '微软雅黑', fontSize: 16, fontWeight: 'bold', color: '#1F1E1B', width: 210 }}&gt;GET /api/ai/ping&lt;/Text&gt;&#13;&#10;          &lt;Text style={{ fontFamily: '微软雅黑', fontSize: 16, color: '#1F1E1B', flex: 1 }}&gt;心跳 + 在途审批总览&lt;/Text&gt;&#13;&#10;          &lt;Text style={{ fontFamily: '微软雅黑', fontSize: 15, color: '#A9A294', width: 90 }}&gt;探个头&lt;/Text&gt;&#13;&#10;        &lt;/Box&gt;&#13;&#10;        &lt;Box style={{ flexDirection: 'row', padding: '11px 18px', gap: 16, background: 'rgba(217,119,87,0.1)', borderLeft: '3px solid #D97757', borderRadius: 8, alignItems: 'center' }}&gt;&#13;&#10;          &lt;Text style={{ fontFamily: '微软雅黑', fontSize: 16, fontWeight: 'bold', color: '#D97757', width: 210 }}&gt;GET …/approve_pending&lt;/Text&gt;&#13;&#10;          &lt;Text style={{ fontFamily: '微软雅黑', fontSize: 16, color: '#1F1E1B', flex: 1 }}&gt;&lt;span style={{ fontWeight: 'bold' }}&gt;在途单+停留时长+审批人+风险分级&lt;/span&gt;&lt;/Text&gt;&#13;&#10;          &lt;Text style={{ fontFamily: '微软雅黑', fontSize: 15, fontWeight: 'bold', color: '#D97757', width: 90 }}&gt;巡检主力&lt;/Text&gt;&#13;&#10;        &lt;/Box&gt;&#13;&#10;        &lt;Box style={{ flexDirection: 'row', padding: '11px 18px', gap: 16, background: 'rgba(31,30,27,0.04)', borderRadius: 8, alignItems: 'center' }}&gt;&#13;&#10;          &lt;Text style={{ fontFamily: '微软雅黑', fontSize: 16, fontWeight: 'bold', color: '#1F1E1B', width: 210 }}&gt;GET /api/ai/approve_stats&lt;/Text&gt;&#13;&#10;          &lt;Text style={{ fontFamily: '微软雅黑', fontSize: 16, color: '#1F1E1B', flex: 1 }}&gt;按类型 / 按审批人统计健康度&lt;/Text&gt;&#13;&#10;          &lt;Text style={{ fontFamily: '微软雅黑', fontSize: 15, color: '#A9A294', width: 90 }}&gt;体检报告&lt;/Text&gt;&#13;&#10;        &lt;/Box&gt;&#13;&#10;        &lt;Box style={{ flexDirection: 'row', padding: '11px 18px', gap: 16, background: 'rgba(31,30,27,0.04)', borderRadius: 8, alignItems: 'center' }}&gt;&#13;&#10;          &lt;Text style={{ fontFamily: '微软雅黑', fontSize: 16, fontWeight: 'bold', color: '#1F1E1B', width: 210 }}&gt;GET /api/ai/todo_list&lt;/Text&gt;&#13;&#10;          &lt;Text style={{ fontFamily: '微软雅黑', fontSize: 16, color: '#1F1E1B', flex: 1 }}&gt;指定员工的待办清单&lt;/Text&gt;&#13;&#10;          &lt;Text style={{ fontFamily: '微软雅黑', fontSize: 15, color: '#A9A294', width: 90 }}&gt;点名&lt;/Text&gt;&#13;&#10;        &lt;/Box&gt;&#13;&#10;        &lt;Box style={{ flexDirection: 'row', padding: '11px 18px', gap: 16, background: 'rgba(31,30,27,0.04)', borderRadius: 8, alignItems: 'center' }}&gt;&#13;&#10;          &lt;Text style={{ fontFamily: '微软雅黑', fontSize: 16, fontWeight: 'bold', color: '#1F1E1B', width: 210 }}&gt;GET /api/ai/token&lt;/Text&gt;&#13;&#10;          &lt;Text style={{ fontFamily: '微软雅黑', fontSize: 16, color: '#1F1E1B', flex: 1 }}&gt;账号密码换通行证（1 小时有效）&lt;/Text&gt;&#13;&#10;          &lt;Text style={{ fontFamily: '微软雅黑', fontSize: 15, color: '#A9A294', width: 90 }}&gt;刷工卡&lt;/Text&gt;&#13;&#10;        &lt;/Box&gt;&#13;&#10;        &lt;Box style={{ flexDirection: 'row', padding: '11px 18px', gap: 16, background: 'rgba(31,30,27,0.04)', borderRadius: 8, alignItems: 'center' }}&gt;&#13;&#10;          &lt;Text style={{ fontFamily: '微软雅黑', fontSize: 16, fontWeight: 'bold', color: '#1F1E1B', width: 210 }}&gt;POST /api/ai/message_send&lt;/Text&gt;&#13;&#10;          &lt;Text style={{ fontFamily: '微软雅黑', fontSize: 16, color: '#1F1E1B', flex: 1 }}&gt;发催办站内信（可多人）&lt;/Text&gt;&#13;&#10;          &lt;Text style={{ fontFamily: '微软雅黑', fontSize: 15, color: '#A9A294', width: 90 }}&gt;喇叭&lt;/Text&gt;&#13;&#10;        &lt;/Box&gt;&#13;&#10;        &lt;Box style={{ flexDirection: 'row', padding: '11px 18px', gap: 16, background: 'rgba(31,30,27,0.04)', borderRadius: 8, alignItems: 'center' }}&gt;&#13;&#10;          &lt;Text style={{ fontFamily: '微软雅黑', fontSize: 16, fontWeight: 'bold', color: '#1F1E1B', width: 210 }}&gt;POST /api/ai/note_publish&lt;/Text&gt;&#13;&#10;          &lt;Text style={{ fontFamily: '微软雅黑', fontSize: 16, color: '#1F1E1B', flex: 1 }}&gt;报告落盘为全员公告&lt;/Text&gt;&#13;&#10;          &lt;Text style={{ fontFamily: '微软雅黑', fontSize: 15, color: '#A9A294', width: 90 }}&gt;黑板报&lt;/Text&gt;&#13;&#10;        &lt;/Box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4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7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个接口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= AI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的全部工具箱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66750" y="2266950"/>
            <a:ext cx="2667000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D97757"/>
                </a:solidFill>
                <a:latin typeface="华文中宋"/>
                <a:ea typeface="华文中宋"/>
              </a:rPr>
              <a:t>7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66750" y="4000500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1E1B"/>
                </a:solidFill>
                <a:latin typeface="微软雅黑"/>
                <a:ea typeface="微软雅黑"/>
              </a:rPr>
              <a:t>5 </a:t>
            </a: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个只读</a:t>
            </a:r>
            <a:r>
              <a:rPr lang="en-US" sz="1500" b="1">
                <a:solidFill>
                  <a:srgbClr val="1F1E1B"/>
                </a:solidFill>
                <a:latin typeface="微软雅黑"/>
                <a:ea typeface="微软雅黑"/>
              </a:rPr>
              <a:t> · 2 </a:t>
            </a: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个写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66750" y="4343400"/>
            <a:ext cx="2667000" cy="828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自动砍单那种危险接口，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压根没做——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工具箱里不放危险的刀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886200" y="18764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接口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38850" y="1876425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干什么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496550" y="187642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比喻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714750" y="220980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886200" y="23145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GET /api/ai/ping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38850" y="23145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心跳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+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在途审批总览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496550" y="23241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探个头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743325" y="268605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3743325" y="2686050"/>
            <a:ext cx="7810500" cy="400050"/>
          </a:xfrm>
          <a:custGeom>
            <a:pathLst>
              <a:path w="820" h="4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7"/>
                </a:lnTo>
                <a:cubicBezTo>
                  <a:pt x="3" y="39"/>
                  <a:pt x="5" y="41"/>
                  <a:pt x="7" y="42"/>
                </a:cubicBezTo>
                <a:cubicBezTo>
                  <a:pt x="3" y="41"/>
                  <a:pt x="0" y="38"/>
                  <a:pt x="0" y="3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914775" y="27908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微软雅黑"/>
                <a:ea typeface="微软雅黑"/>
              </a:rPr>
              <a:t>GET …/approve_pending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67425" y="2790825"/>
            <a:ext cx="427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在途单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+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停留时长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+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审批人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+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风险分级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496550" y="28003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7757"/>
                </a:solidFill>
                <a:latin typeface="微软雅黑"/>
                <a:ea typeface="微软雅黑"/>
              </a:rPr>
              <a:t>巡检主力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714750" y="316230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886200" y="32670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GET /api/ai/approve_stats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38850" y="32670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按类型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按审批人统计健康度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496550" y="3276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体检报告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3714750" y="363855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886200" y="37433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GET /api/ai/todo_list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38850" y="374332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指定员工的待办清单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496550" y="37528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点名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714750" y="411480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886200" y="42195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GET /api/ai/token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38850" y="42195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账号密码换通行证（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1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小时有效）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496550" y="42291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刷工卡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714750" y="4591050"/>
            <a:ext cx="7810500" cy="581025"/>
          </a:xfrm>
          <a:prstGeom prst="roundRect">
            <a:avLst>
              <a:gd name="adj" fmla="val 1311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886200" y="4695825"/>
            <a:ext cx="20002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POST /api/ai/message_send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38850" y="47910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发催办站内信（可多人）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496550" y="4800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喇叭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3714750" y="5248275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886200" y="535305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POST /api/ai/note_publish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38850" y="5353050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报告落盘为全员公告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496550" y="53625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黑板报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14 / 22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8" name="" descr="&lt;Slide notes={`给 AI 发的是专用工卡，不是管理员密码。左边是 JWT 的流程：账号密码去 token 接口换一张通行证，有效期一小时，之后每个请求带上这张证就行，过期自动重取。右边是小奥的账号卡：全公司视野，因为巡检需要，但它只能做那 7 件事。三条安全原则请记住：AI 永远用独立账号；Token 一小时过期，泄露影响可控；密码走私密渠道，不进代码不进群。最小权限原则，从第一行代码就开始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安全设计：一张有边界的工卡&lt;/Text&gt;&#13;&#10;    &lt;/Box&gt;&#13;&#10;    &lt;Box style={{ flexDirection: 'row', height: 540, gap: 40 }}&gt;&#13;&#10;      &lt;Box style={{ flex: 3, flexDirection: 'column', justifyContent: 'center', gap: 14 }}&gt;&#13;&#10;        &lt;Text style={{ fontFamily: '微软雅黑', fontSize: 16, color: '#A9A294' }}&gt;JWT 鉴权流程&lt;/Text&gt;&#13;&#10;        &lt;Box style={{ flexDirection: 'row', gap: 10, alignItems: 'center' }}&gt;&#13;&#10;          &lt;Box style={{ flex: 1, padding: '16px 14px', background: 'rgba(31,30,27,0.04)', borderRadius: 10, alignItems: 'center' }}&gt;&#13;&#10;            &lt;Text style={{ fontFamily: '微软雅黑', fontSize: 16, fontWeight: 'bold', color: '#1F1E1B' }}&gt;账号密码&lt;/Text&gt;&#13;&#10;            &lt;Text style={{ fontFamily: '微软雅黑', fontSize: 12, color: '#A9A294', marginTop: 4 }}&gt;走私密渠道配置&lt;/Text&gt;&#13;&#10;          &lt;/Box&gt;&#13;&#10;          &lt;FAIcon name=&quot;arrow-right&quot; style={{ fill: '#D97757', width: 18, height: 18 }} /&gt;&#13;&#10;          &lt;Box style={{ flex: 1, padding: '16px 14px', background: 'rgba(31,30,27,0.04)', borderRadius: 10, alignItems: 'center' }}&gt;&#13;&#10;            &lt;Text style={{ fontFamily: '微软雅黑', fontSize: 16, fontWeight: 'bold', color: '#1F1E1B' }}&gt;token 接口&lt;/Text&gt;&#13;&#10;            &lt;Text style={{ fontFamily: '微软雅黑', fontSize: 12, color: '#A9A294', marginTop: 4 }}&gt;唯一免鉴权入口&lt;/Text&gt;&#13;&#10;          &lt;/Box&gt;&#13;&#10;          &lt;FAIcon name=&quot;arrow-right&quot; style={{ fill: '#D97757', width: 18, height: 18 }} /&gt;&#13;&#10;          &lt;Box style={{ flex: 1, padding: '16px 14px', background: 'rgba(217,119,87,0.12)', borderRadius: 10, alignItems: 'center' }}&gt;&#13;&#10;            &lt;Text style={{ fontFamily: '微软雅黑', fontSize: 16, fontWeight: 'bold', color: '#D97757' }}&gt;通行证 Token&lt;/Text&gt;&#13;&#10;            &lt;Text style={{ fontFamily: '微软雅黑', fontSize: 12, color: '#1F1E1B', marginTop: 4 }}&gt;1 小时有效&lt;/Text&gt;&#13;&#10;          &lt;/Box&gt;&#13;&#10;        &lt;/Box&gt;&#13;&#10;        &lt;Box style={{ flexDirection: 'row', gap: 10, alignItems: 'center' }}&gt;&#13;&#10;          &lt;Box style={{ flex: 1, padding: '16px 14px', background: 'rgba(31,30,27,0.04)', borderRadius: 10, alignItems: 'center' }}&gt;&#13;&#10;            &lt;Text style={{ fontFamily: '微软雅黑', fontSize: 16, fontWeight: 'bold', color: '#1F1E1B' }}&gt;带 Token 头调 7 接口&lt;/Text&gt;&#13;&#10;            &lt;Text style={{ fontFamily: '微软雅黑', fontSize: 12, color: '#A9A294', marginTop: 4 }}&gt;无状态验证，服务端不存会话&lt;/Text&gt;&#13;&#10;          &lt;/Box&gt;&#13;&#10;          &lt;FAIcon name=&quot;sync&quot; style={{ fill: '#A9A294', width: 18, height: 18 }} /&gt;&#13;&#10;          &lt;Box style={{ flex: 1, padding: '16px 14px', background: 'rgba(31,30,27,0.04)', borderRadius: 10, alignItems: 'center' }}&gt;&#13;&#10;            &lt;Text style={{ fontFamily: '微软雅黑', fontSize: 16, fontWeight: 'bold', color: '#1F1E1B' }}&gt;401 过期 → 自动重取&lt;/Text&gt;&#13;&#10;            &lt;Text style={{ fontFamily: '微软雅黑', fontSize: 12, color: '#A9A294', marginTop: 4 }}&gt;OpenClaw 侧缓存，无感续期&lt;/Text&gt;&#13;&#10;          &lt;/Box&gt;&#13;&#10;        &lt;/Box&gt;&#13;&#10;        &lt;Box style={{ flexDirection: 'column', gap: 10, marginTop: 14 }}&gt;&#13;&#10;          &lt;Box style={{ flexDirection: 'row', gap: 12, alignItems: 'center' }}&gt;&#13;&#10;            &lt;Text style={{ fontFamily: '华文中宋', fontSize: 24, fontWeight: 'bold', color: '#D97757', width: 24 }}&gt;1&lt;/Text&gt;&#13;&#10;            &lt;Text style={{ fontFamily: '微软雅黑', fontSize: 17, color: '#1F1E1B' }}&gt;AI 用&lt;span style={{ fontWeight: 'bold' }}&gt;独立账号&lt;/span&gt;，不用任何人的账号&lt;/Text&gt;&#13;&#10;          &lt;/Box&gt;&#13;&#10;          &lt;Box style={{ flexDirection: 'row', gap: 12, alignItems: 'center' }}&gt;&#13;&#10;            &lt;Text style={{ fontFamily: '华文中宋', fontSize: 24, fontWeight: 'bold', color: '#D97757', width: 24 }}&gt;2&lt;/Text&gt;&#13;&#10;            &lt;Text style={{ fontFamily: '微软雅黑', fontSize: 17, color: '#1F1E1B' }}&gt;Token 一小时过期，&lt;span style={{ fontWeight: 'bold' }}&gt;泄露影响可控&lt;/span&gt;&lt;/Text&gt;&#13;&#10;          &lt;/Box&gt;&#13;&#10;          &lt;Box style={{ flexDirection: 'row', gap: 12, alignItems: 'center' }}&gt;&#13;&#10;            &lt;Text style={{ fontFamily: '华文中宋', fontSize: 24, fontWeight: 'bold', color: '#D97757', width: 24 }}&gt;3&lt;/Text&gt;&#13;&#10;            &lt;Text style={{ fontFamily: '微软雅黑', fontSize: 17, color: '#1F1E1B' }}&gt;密码走私密渠道，&lt;span style={{ fontWeight: 'bold' }}&gt;不进代码不进群&lt;/span&gt;&lt;/Text&gt;&#13;&#10;          &lt;/Box&gt;&#13;&#10;        &lt;/Box&gt;&#13;&#10;      &lt;/Box&gt;&#13;&#10;      &lt;Box style={{ flex: 2, padding: '30px 30px', background: '#1F1E1B', borderRadius: 16, justifyContent: 'center', gap: 16 }}&gt;&#13;&#10;        &lt;Box style={{ flexDirection: 'row', alignItems: 'center', gap: 14 }}&gt;&#13;&#10;          &lt;Box style={{ width: 64, height: 64, borderRadius: 32, background: '#D97757', justifyContent: 'center', alignItems: 'center' }}&gt;&#13;&#10;            &lt;FAIcon name=&quot;robot&quot; style={{ fill: '#FAF9F5', width: 34, height: 34 }} /&gt;&#13;&#10;          &lt;/Box&gt;&#13;&#10;          &lt;Box&gt;&#13;&#10;            &lt;Text style={{ fontFamily: '微软雅黑', fontSize: 24, fontWeight: 'bold', color: '#FAF9F5' }}&gt;小奥&lt;/Text&gt;&#13;&#10;            &lt;Text style={{ fontFamily: '微软雅黑', fontSize: 14, color: '#FAF9F5', opacity: 0.6 }}&gt;aiworker · uid 61&lt;/Text&gt;&#13;&#10;          &lt;/Box&gt;&#13;&#10;        &lt;/Box&gt;&#13;&#10;        &lt;Box style={{ height: 1, background: '#FAF9F5', opacity: 0.15 }} /&gt;&#13;&#10;        &lt;Text style={{ fontFamily: '微软雅黑', fontSize: 15, color: '#FAF9F5', opacity: 0.85, lineHeight: 1.7 }}&gt;AI 专属身份，全公司管理视野&lt;br /&gt;只能做那 7 件事&lt;/Text&gt;&#13;&#10;        &lt;Text style={{ fontFamily: '华文中宋', fontSize: 18, fontWeight: 'bold', color: '#D97757', lineHeight: 1.5 }}&gt;最小权限原则，&lt;br /&gt;从第一行代码就开始&lt;/Text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5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安全设计：一张有边界的工卡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66750" y="2171700"/>
            <a:ext cx="628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JWT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鉴权流程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66750" y="2495550"/>
            <a:ext cx="1857375" cy="676275"/>
          </a:xfrm>
          <a:prstGeom prst="roundRect">
            <a:avLst>
              <a:gd name="adj" fmla="val 1408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295400" y="26479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账号密码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200150" y="287655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走私密渠道配置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619375" y="2752725"/>
            <a:ext cx="171450" cy="171450"/>
          </a:xfrm>
          <a:prstGeom prst="rect">
            <a:avLst/>
          </a:prstGeom>
          <a:ln/>
        </p:spPr>
      </p:pic>
      <p:sp>
        <p:nvSpPr>
          <p:cNvPr id="176" name=""/>
          <p:cNvSpPr/>
          <p:nvPr/>
        </p:nvSpPr>
        <p:spPr>
          <a:xfrm rot="0" flipH="0" flipV="0">
            <a:off x="2886075" y="2495550"/>
            <a:ext cx="1847850" cy="676275"/>
          </a:xfrm>
          <a:prstGeom prst="roundRect">
            <a:avLst>
              <a:gd name="adj" fmla="val 1408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419475" y="2647950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token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接口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409950" y="287655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唯一免鉴权入口</a:t>
            </a:r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29175" y="2752725"/>
            <a:ext cx="171450" cy="171450"/>
          </a:xfrm>
          <a:prstGeom prst="rect">
            <a:avLst/>
          </a:prstGeom>
          <a:ln/>
        </p:spPr>
      </p:pic>
      <p:sp>
        <p:nvSpPr>
          <p:cNvPr id="180" name=""/>
          <p:cNvSpPr/>
          <p:nvPr/>
        </p:nvSpPr>
        <p:spPr>
          <a:xfrm rot="0" flipH="0" flipV="0">
            <a:off x="5095875" y="2495550"/>
            <a:ext cx="1857375" cy="676275"/>
          </a:xfrm>
          <a:prstGeom prst="roundRect">
            <a:avLst>
              <a:gd name="adj" fmla="val 14085"/>
            </a:avLst>
          </a:prstGeom>
          <a:solidFill>
            <a:srgbClr val="D97757">
              <a:alpha val="12000"/>
            </a:srgbClr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553075" y="2647950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7757"/>
                </a:solidFill>
                <a:latin typeface="微软雅黑"/>
                <a:ea typeface="微软雅黑"/>
              </a:rPr>
              <a:t>通行证</a:t>
            </a:r>
            <a:r>
              <a:rPr lang="en-US" sz="1200" b="1">
                <a:solidFill>
                  <a:srgbClr val="D97757"/>
                </a:solidFill>
                <a:latin typeface="微软雅黑"/>
                <a:ea typeface="微软雅黑"/>
              </a:rPr>
              <a:t> Token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43575" y="28765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1F1E1B"/>
                </a:solidFill>
                <a:latin typeface="微软雅黑"/>
                <a:ea typeface="微软雅黑"/>
              </a:rPr>
              <a:t>1 </a:t>
            </a:r>
            <a:r>
              <a:rPr lang="zh-CN" sz="900">
                <a:solidFill>
                  <a:srgbClr val="1F1E1B"/>
                </a:solidFill>
                <a:latin typeface="微软雅黑"/>
                <a:ea typeface="微软雅黑"/>
              </a:rPr>
              <a:t>小时有效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66750" y="3305175"/>
            <a:ext cx="2962275" cy="676275"/>
          </a:xfrm>
          <a:prstGeom prst="roundRect">
            <a:avLst>
              <a:gd name="adj" fmla="val 1408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400175" y="3457575"/>
            <a:ext cx="1495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带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 Token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头调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 7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接口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409700" y="3686175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无状态验证，服务端不存会话</a:t>
            </a:r>
            <a:endParaRPr/>
          </a:p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724275" y="3562350"/>
            <a:ext cx="171450" cy="171450"/>
          </a:xfrm>
          <a:prstGeom prst="rect">
            <a:avLst/>
          </a:prstGeom>
          <a:ln/>
        </p:spPr>
      </p:pic>
      <p:sp>
        <p:nvSpPr>
          <p:cNvPr id="187" name=""/>
          <p:cNvSpPr/>
          <p:nvPr/>
        </p:nvSpPr>
        <p:spPr>
          <a:xfrm rot="0" flipH="0" flipV="0">
            <a:off x="3990975" y="3305175"/>
            <a:ext cx="2962275" cy="676275"/>
          </a:xfrm>
          <a:prstGeom prst="roundRect">
            <a:avLst>
              <a:gd name="adj" fmla="val 1408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733925" y="3457575"/>
            <a:ext cx="1485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401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过期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 →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自动重取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705350" y="3686175"/>
            <a:ext cx="1533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OpenClaw </a:t>
            </a: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侧缓存，无感续期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66750" y="42481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7757"/>
                </a:solidFill>
                <a:latin typeface="华文中宋"/>
                <a:ea typeface="华文中宋"/>
              </a:rPr>
              <a:t>1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009650" y="4286250"/>
            <a:ext cx="2486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用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独立账号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，不用任何人的账号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66750" y="46196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7757"/>
                </a:solidFill>
                <a:latin typeface="华文中宋"/>
                <a:ea typeface="华文中宋"/>
              </a:rPr>
              <a:t>2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09650" y="4657725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Token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一小时过期，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泄露影响可控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66750" y="49911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7757"/>
                </a:solidFill>
                <a:latin typeface="华文中宋"/>
                <a:ea typeface="华文中宋"/>
              </a:rPr>
              <a:t>3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09650" y="502920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密码走私密渠道，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不进代码不进群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334250" y="1143000"/>
            <a:ext cx="4191000" cy="5143500"/>
          </a:xfrm>
          <a:prstGeom prst="roundRect">
            <a:avLst>
              <a:gd name="adj" fmla="val 3636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7620000" y="2571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pic>
        <p:nvPicPr>
          <p:cNvPr id="1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62875" y="2714625"/>
            <a:ext cx="323850" cy="323850"/>
          </a:xfrm>
          <a:prstGeom prst="rect">
            <a:avLst/>
          </a:prstGeom>
          <a:ln/>
        </p:spPr>
      </p:pic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362950" y="2657475"/>
            <a:ext cx="1123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AF9F5"/>
                </a:solidFill>
                <a:latin typeface="微软雅黑"/>
                <a:ea typeface="微软雅黑"/>
              </a:rPr>
              <a:t>小奥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620000" y="4238625"/>
            <a:ext cx="3619500" cy="619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D97757"/>
                </a:solidFill>
                <a:latin typeface="华文中宋"/>
                <a:ea typeface="华文中宋"/>
              </a:rPr>
              <a:t>最小权限原则，</a:t>
            </a:r>
            <a:endParaRPr/>
          </a:p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D97757"/>
                </a:solidFill>
                <a:latin typeface="华文中宋"/>
                <a:ea typeface="华文中宋"/>
              </a:rPr>
              <a:t>从第一行代码就开始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15 / 22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362950" y="2933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aiworker · uid 61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7620000" y="3333750"/>
            <a:ext cx="3619500" cy="9525"/>
          </a:xfrm>
          <a:prstGeom prst="rect">
            <a:avLst/>
          </a:prstGeom>
          <a:solidFill>
            <a:srgbClr val="FAF9F5">
              <a:alpha val="15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620000" y="3495675"/>
            <a:ext cx="36195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专属身份，全公司管理视野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只能做那</a:t>
            </a:r>
            <a:r>
              <a:rPr lang="en-US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7 </a:t>
            </a:r>
            <a:r>
              <a:rPr lang="zh-CN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件事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6" name="" descr="&lt;Slide notes={`这是整个系统的心脏：每小时一次的巡检闭环。OpenClaw 定时触发，先换通行证，再拉在途单，然后 AI 判断谁超时了、催过几次——注意这个记忆 OA 不存，OpenClaw 自己记，接口是无状态的。超时了就发站内信催办，每周五再汇总统计、AI 写报告、发成全员公告。右边这句话是重点：OA 只出数据，OpenClaw 管脑子。业务哪天说 24 小时改成 12 小时，改 AI 侧配置就行，OA 一行代码不用动——这就是无状态设计的价值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第三幕 · 一次完整的巡检闭环&lt;/Text&gt;&#13;&#10;    &lt;/Box&gt;&#13;&#10;    &lt;Box style={{ flexDirection: 'row', height: 540, gap: 40 }}&gt;&#13;&#10;      &lt;Box style={{ flex: 3, flexDirection: 'column', justifyContent: 'center', gap: 13 }}&gt;&#13;&#10;        &lt;Box style={{ flexDirection: 'row', gap: 16, alignItems: 'center' }}&gt;&#13;&#10;          &lt;Box style={{ width: 40, height: 40, borderRadius: 20, background: '#D97757', justifyContent: 'center', alignItems: 'center' }}&gt;&#13;&#10;            &lt;Text style={{ fontFamily: '华文中宋', fontSize: 18, fontWeight: 'bold', color: '#FAF9F5' }}&gt;1&lt;/Text&gt;&#13;&#10;          &lt;/Box&gt;&#13;&#10;          &lt;Text style={{ fontFamily: '微软雅黑', fontSize: 18, color: '#1F1E1B' }}&gt;&lt;span style={{ fontWeight: 'bold' }}&gt;每小时定时触发&lt;/span&gt;——OpenClaw 的定时任务开始巡逻&lt;/Text&gt;&#13;&#10;        &lt;/Box&gt;&#13;&#10;        &lt;Box style={{ marginLeft: 19, height: 14, width: 2, background: '#A9A294', opacity: 0.4 }} /&gt;&#13;&#10;        &lt;Box style={{ flexDirection: 'row', gap: 16, alignItems: 'center' }}&gt;&#13;&#10;          &lt;Box style={{ width: 40, height: 40, borderRadius: 20, background: '#D97757', justifyContent: 'center', alignItems: 'center' }}&gt;&#13;&#10;            &lt;Text style={{ fontFamily: '华文中宋', fontSize: 18, fontWeight: 'bold', color: '#FAF9F5' }}&gt;2&lt;/Text&gt;&#13;&#10;          &lt;/Box&gt;&#13;&#10;          &lt;Text style={{ fontFamily: '微软雅黑', fontSize: 18, color: '#1F1E1B' }}&gt;&lt;span style={{ fontWeight: 'bold' }}&gt;换通行证、拉在途单&lt;/span&gt;——token → approve_pending&lt;/Text&gt;&#13;&#10;        &lt;/Box&gt;&#13;&#10;        &lt;Box style={{ marginLeft: 19, height: 14, width: 2, background: '#A9A294', opacity: 0.4 }} /&gt;&#13;&#10;        &lt;Box style={{ flexDirection: 'row', gap: 16, alignItems: 'center' }}&gt;&#13;&#10;          &lt;Box style={{ width: 40, height: 40, borderRadius: 20, background: '#1F1E1B', justifyContent: 'center', alignItems: 'center' }}&gt;&#13;&#10;            &lt;Text style={{ fontFamily: '华文中宋', fontSize: 18, fontWeight: 'bold', color: '#FAF9F5' }}&gt;3&lt;/Text&gt;&#13;&#10;          &lt;/Box&gt;&#13;&#10;          &lt;Text style={{ fontFamily: '微软雅黑', fontSize: 18, color: '#1F1E1B' }}&gt;&lt;span style={{ fontWeight: 'bold' }}&gt;AI 判断&lt;/span&gt;——谁超时了？催过几次？&lt;span style={{ color: '#D97757', fontWeight: 'bold' }}&gt;状态机在 OpenClaw 侧&lt;/span&gt;&lt;/Text&gt;&#13;&#10;        &lt;/Box&gt;&#13;&#10;        &lt;Box style={{ marginLeft: 19, height: 14, width: 2, background: '#A9A294', opacity: 0.4 }} /&gt;&#13;&#10;        &lt;Box style={{ flexDirection: 'row', gap: 16, alignItems: 'center' }}&gt;&#13;&#10;          &lt;Box style={{ width: 40, height: 40, borderRadius: 20, background: '#D97757', justifyContent: 'center', alignItems: 'center' }}&gt;&#13;&#10;            &lt;Text style={{ fontFamily: '华文中宋', fontSize: 18, fontWeight: 'bold', color: '#FAF9F5' }}&gt;4&lt;/Text&gt;&#13;&#10;          &lt;/Box&gt;&#13;&#10;          &lt;Text style={{ fontFamily: '微软雅黑', fontSize: 18, color: '#1F1E1B' }}&gt;&lt;span style={{ fontWeight: 'bold' }}&gt;催办触达&lt;/span&gt;——message_send：催审批人 + 抄送上级&lt;/Text&gt;&#13;&#10;        &lt;/Box&gt;&#13;&#10;        &lt;Box style={{ marginLeft: 19, height: 14, width: 2, background: '#A9A294', opacity: 0.4 }} /&gt;&#13;&#10;        &lt;Box style={{ flexDirection: 'row', gap: 16, alignItems: 'center' }}&gt;&#13;&#10;          &lt;Box style={{ width: 40, height: 40, borderRadius: 20, background: '#D97757', justifyContent: 'center', alignItems: 'center' }}&gt;&#13;&#10;            &lt;Text style={{ fontFamily: '华文中宋', fontSize: 18, fontWeight: 'bold', color: '#FAF9F5' }}&gt;5&lt;/Text&gt;&#13;&#10;          &lt;/Box&gt;&#13;&#10;          &lt;Text style={{ fontFamily: '微软雅黑', fontSize: 18, color: '#1F1E1B' }}&gt;&lt;span style={{ fontWeight: 'bold' }}&gt;每周五收官&lt;/span&gt;——统计汇总 → AI 写报告 → 发全员公告&lt;/Text&gt;&#13;&#10;        &lt;/Box&gt;&#13;&#10;      &lt;/Box&gt;&#13;&#10;      &lt;Box style={{ flex: 2, flexDirection: 'column', padding: '36px 34px', background: 'rgba(217,119,87,0.08)', borderRadius: 16, justifyContent: 'center', gap: 18 }}&gt;&#13;&#10;        &lt;FAIcon name=&quot;sync&quot; style={{ fill: '#D97757', width: 72, height: 72 }} /&gt;&#13;&#10;        &lt;Text style={{ fontFamily: '华文中宋', fontSize: 26, fontWeight: 'bold', color: '#1F1E1B', lineHeight: 1.5 }}&gt;OA 只出数据&lt;br /&gt;OpenClaw 管脑子&lt;/Text&gt;&#13;&#10;        &lt;Text style={{ fontFamily: '微软雅黑', fontSize: 16, color: '#A9A294', lineHeight: 1.6 }}&gt;接口无状态，「催过几次」的记忆放在 AI 侧。业务改规则，OA 一行代码不动。&lt;/Text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6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第三幕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一次完整的巡检闭环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66750" y="2000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00100" y="2085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1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200150" y="2085975"/>
            <a:ext cx="401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每小时定时触发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——OpenClaw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的定时任务开始巡逻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66750" y="2762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00100" y="2847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2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200150" y="2847975"/>
            <a:ext cx="4105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换通行证、拉在途单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——token → approve_pending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66750" y="3524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00100" y="3609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3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200150" y="3609975"/>
            <a:ext cx="4467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判断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——谁超时了？催过几次？</a:t>
            </a:r>
            <a:r>
              <a:rPr lang="zh-CN" sz="1350" b="1">
                <a:solidFill>
                  <a:srgbClr val="D97757"/>
                </a:solidFill>
                <a:latin typeface="微软雅黑"/>
                <a:ea typeface="微软雅黑"/>
              </a:rPr>
              <a:t>状态机在</a:t>
            </a:r>
            <a:r>
              <a:rPr lang="en-US" sz="1350" b="1">
                <a:solidFill>
                  <a:srgbClr val="D97757"/>
                </a:solidFill>
                <a:latin typeface="微软雅黑"/>
                <a:ea typeface="微软雅黑"/>
              </a:rPr>
              <a:t> OpenClaw </a:t>
            </a:r>
            <a:r>
              <a:rPr lang="zh-CN" sz="1350" b="1">
                <a:solidFill>
                  <a:srgbClr val="D97757"/>
                </a:solidFill>
                <a:latin typeface="微软雅黑"/>
                <a:ea typeface="微软雅黑"/>
              </a:rPr>
              <a:t>侧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66750" y="4286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00100" y="4371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4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200150" y="4371975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催办触达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——message_send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：催审批人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 +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抄送上级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66750" y="5048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00100" y="5133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200150" y="5133975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每周五收官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——统计汇总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 → AI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写报告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 →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发全员公告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7334250" y="1143000"/>
            <a:ext cx="4191000" cy="5143500"/>
          </a:xfrm>
          <a:prstGeom prst="roundRect">
            <a:avLst>
              <a:gd name="adj" fmla="val 3636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58100" y="2457450"/>
            <a:ext cx="685800" cy="6858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658100" y="3314700"/>
            <a:ext cx="35433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 b="1">
                <a:solidFill>
                  <a:srgbClr val="1F1E1B"/>
                </a:solidFill>
                <a:latin typeface="华文中宋"/>
                <a:ea typeface="华文中宋"/>
              </a:rPr>
              <a:t>OA </a:t>
            </a:r>
            <a:r>
              <a:rPr lang="zh-CN" sz="1950" b="1">
                <a:solidFill>
                  <a:srgbClr val="1F1E1B"/>
                </a:solidFill>
                <a:latin typeface="华文中宋"/>
                <a:ea typeface="华文中宋"/>
              </a:rPr>
              <a:t>只出数据</a:t>
            </a:r>
            <a:endParaRPr/>
          </a:p>
          <a:p>
            <a:pPr>
              <a:lnSpc>
                <a:spcPct val="150000"/>
              </a:lnSpc>
            </a:pPr>
            <a:r>
              <a:rPr lang="en-US" sz="1950" b="1">
                <a:solidFill>
                  <a:srgbClr val="1F1E1B"/>
                </a:solidFill>
                <a:latin typeface="华文中宋"/>
                <a:ea typeface="华文中宋"/>
              </a:rPr>
              <a:t>OpenClaw </a:t>
            </a:r>
            <a:r>
              <a:rPr lang="zh-CN" sz="1950" b="1">
                <a:solidFill>
                  <a:srgbClr val="1F1E1B"/>
                </a:solidFill>
                <a:latin typeface="华文中宋"/>
                <a:ea typeface="华文中宋"/>
              </a:rPr>
              <a:t>管脑子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658100" y="4381500"/>
            <a:ext cx="3543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接口无状态，「催过几次」的记忆放在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侧。业务改规则，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OA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一行代码不动。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16 / 22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847725" y="2505075"/>
            <a:ext cx="19050" cy="133350"/>
          </a:xfrm>
          <a:prstGeom prst="rect">
            <a:avLst/>
          </a:prstGeom>
          <a:solidFill>
            <a:srgbClr val="A9A294">
              <a:alpha val="40000"/>
            </a:srgbClr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847725" y="3267075"/>
            <a:ext cx="19050" cy="133350"/>
          </a:xfrm>
          <a:prstGeom prst="rect">
            <a:avLst/>
          </a:prstGeom>
          <a:solidFill>
            <a:srgbClr val="A9A294">
              <a:alpha val="40000"/>
            </a:srgbClr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847725" y="4029075"/>
            <a:ext cx="19050" cy="133350"/>
          </a:xfrm>
          <a:prstGeom prst="rect">
            <a:avLst/>
          </a:prstGeom>
          <a:solidFill>
            <a:srgbClr val="A9A294">
              <a:alpha val="40000"/>
            </a:srgbClr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847725" y="4791075"/>
            <a:ext cx="19050" cy="133350"/>
          </a:xfrm>
          <a:prstGeom prst="rect">
            <a:avLst/>
          </a:prstGeom>
          <a:solidFill>
            <a:srgbClr val="A9A294">
              <a:alpha val="40000"/>
            </a:srgbClr>
          </a:solidFill>
          <a:ln/>
        </p:spPr>
        <p:txBody>
          <a:bodyPr/>
          <a:p/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4" name="" descr="&lt;Slide notes={`业务确认的触达规则是：催本人、抄上级。实现上就是接口参数里多传一个 uid——to_uids 写成「审批人,上级」，一条消息两人同时收到，零额外开发。左边是一条真实的催办消息样式。右边是 48 小时的处理：AI 判定疑似无需审批后，只标注、上报给业务负责人饶旺，单据状态一个字段都不改。最终按钮仍在人手里——AI 是哨兵，不是法官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催本人、抄上级、48h 只上报&lt;/Text&gt;&#13;&#10;    &lt;/Box&gt;&#13;&#10;    &lt;Box style={{ flexDirection: 'row', height: 540, gap: 40 }}&gt;&#13;&#10;      &lt;Box style={{ flex: 11, flexDirection: 'column', justifyContent: 'center', gap: 16 }}&gt;&#13;&#10;        &lt;Text style={{ fontFamily: '微软雅黑', fontSize: 16, color: '#A9A294' }}&gt;一条催办站内信（真实调用参数）&lt;/Text&gt;&#13;&#10;        &lt;Box style={{ padding: '26px 28px', background: '#1F1E1B', borderRadius: 16, gap: 12 }}&gt;&#13;&#10;          &lt;Box style={{ flexDirection: 'row', justifyContent: 'space-between', alignItems: 'center' }}&gt;&#13;&#10;            &lt;Text style={{ fontFamily: '微软雅黑', fontSize: 15, color: '#FAF9F5', opacity: 0.6 }}&gt;发件人：小奥（AI 数字员工）&lt;/Text&gt;&#13;&#10;            &lt;Text style={{ fontFamily: '微软雅黑', fontSize: 14, fontWeight: 'bold', color: '#D97757' }}&gt;to_uids = &quot;8,2&quot;&lt;/Text&gt;&#13;&#10;          &lt;/Box&gt;&#13;&#10;          &lt;Text style={{ fontFamily: '微软雅黑', fontSize: 19, fontWeight: 'bold', color: '#FAF9F5' }}&gt;【AI 督办】您有审批已停留超过 24 小时&lt;/Text&gt;&#13;&#10;          &lt;Text style={{ fontFamily: '微软雅黑', fontSize: 15, color: '#FAF9F5', opacity: 0.75, lineHeight: 1.6 }}&gt;冯乐提交的销售合同已停留 26 小时，请及时处理。点此直达单据详情 →&lt;/Text&gt;&#13;&#10;        &lt;/Box&gt;&#13;&#10;        &lt;Box style={{ flexDirection: 'row', gap: 12, alignItems: 'center' }}&gt;&#13;&#10;          &lt;FAIcon name=&quot;check-circle&quot; style={{ fill: '#D97757', width: 20, height: 20 }} /&gt;&#13;&#10;          &lt;Text style={{ fontFamily: '微软雅黑', fontSize: 16, color: '#1F1E1B' }}&gt;审批人（uid 8）与上级（uid 2）&lt;span style={{ fontWeight: 'bold' }}&gt;一条消息同时送达&lt;/span&gt;，零额外开发&lt;/Text&gt;&#13;&#10;        &lt;/Box&gt;&#13;&#10;        &lt;Box style={{ flexDirection: 'row', gap: 12, alignItems: 'center' }}&gt;&#13;&#10;          &lt;FAIcon name=&quot;check-circle&quot; style={{ fill: '#D97757', width: 20, height: 20 }} /&gt;&#13;&#10;          &lt;Text style={{ fontFamily: '微软雅黑', fontSize: 16, color: '#1F1E1B' }}&gt;上级从全员「部门→负责人」映射表查得，&lt;span style={{ fontWeight: 'bold' }}&gt;人员变动只更新映射&lt;/span&gt;&lt;/Text&gt;&#13;&#10;        &lt;/Box&gt;&#13;&#10;      &lt;/Box&gt;&#13;&#10;      &lt;Box style={{ flex: 9, flexDirection: 'column', padding: '28px 30px', background: 'rgba(31,30,27,0.04)', borderRadius: 16, justifyContent: 'center', gap: 14 }}&gt;&#13;&#10;        &lt;Text style={{ fontFamily: '微软雅黑', fontSize: 17, fontWeight: 'bold', color: '#1F1E1B' }}&gt;停留 48h 未催出结果？&lt;/Text&gt;&#13;&#10;        &lt;Box style={{ flexDirection: 'row', gap: 12, alignItems: 'center' }}&gt;&#13;&#10;          &lt;Box style={{ width: 30, height: 30, borderRadius: 15, background: '#D97757', justifyContent: 'center', alignItems: 'center' }}&gt;&#13;&#10;            &lt;Text style={{ fontFamily: '华文中宋', fontSize: 14, fontWeight: 'bold', color: '#FAF9F5' }}&gt;1&lt;/Text&gt;&#13;&#10;          &lt;/Box&gt;&#13;&#10;          &lt;Text style={{ fontFamily: '微软雅黑', fontSize: 16, color: '#1F1E1B' }}&gt;AI 标注「&lt;span style={{ fontWeight: 'bold' }}&gt;疑似无需审批&lt;/span&gt;」&lt;/Text&gt;&#13;&#10;        &lt;/Box&gt;&#13;&#10;        &lt;Box style={{ flexDirection: 'row', gap: 12, alignItems: 'center' }}&gt;&#13;&#10;          &lt;Box style={{ width: 30, height: 30, borderRadius: 15, background: '#D97757', justifyContent: 'center', alignItems: 'center' }}&gt;&#13;&#10;            &lt;Text style={{ fontFamily: '华文中宋', fontSize: 14, fontWeight: 'bold', color: '#FAF9F5' }}&gt;2&lt;/Text&gt;&#13;&#10;          &lt;/Box&gt;&#13;&#10;          &lt;Text style={{ fontFamily: '微软雅黑', fontSize: 16, color: '#1F1E1B' }}&gt;上报业务 Owner（饶旺）&lt;/Text&gt;&#13;&#10;        &lt;/Box&gt;&#13;&#10;        &lt;Box style={{ flexDirection: 'row', gap: 12, alignItems: 'center' }}&gt;&#13;&#10;          &lt;Box style={{ width: 30, height: 30, borderRadius: 15, background: '#1F1E1B', justifyContent: 'center', alignItems: 'center' }}&gt;&#13;&#10;            &lt;Text style={{ fontFamily: '华文中宋', fontSize: 14, fontWeight: 'bold', color: '#FAF9F5' }}&gt;3&lt;/Text&gt;&#13;&#10;          &lt;/Box&gt;&#13;&#10;          &lt;Text style={{ fontFamily: '微软雅黑', fontSize: 16, color: '#1F1E1B' }}&gt;人工裁决——&lt;span style={{ fontWeight: 'bold' }}&gt;单据状态一个字段都不动&lt;/span&gt;&lt;/Text&gt;&#13;&#10;        &lt;/Box&gt;&#13;&#10;        &lt;Box style={{ marginTop: 10, padding: '14px 18px', background: 'rgba(217,119,87,0.08)', borderLeft: '3px solid #D97757', borderRadius: 8 }}&gt;&#13;&#10;          &lt;Text style={{ fontFamily: '华文中宋', fontSize: 19, fontWeight: 'bold', color: '#1F1E1B' }}&gt;AI 是哨兵，不是法官。&lt;/Text&gt;&#13;&#10;        &lt;/Box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7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催本人、抄上级、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48h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只上报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66750" y="2505075"/>
            <a:ext cx="5762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一条催办站内信（真实调用参数）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66750" y="2847975"/>
            <a:ext cx="5762625" cy="1390650"/>
          </a:xfrm>
          <a:prstGeom prst="roundRect">
            <a:avLst>
              <a:gd name="adj" fmla="val 10959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153025" y="310515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7757"/>
                </a:solidFill>
                <a:latin typeface="微软雅黑"/>
                <a:ea typeface="微软雅黑"/>
              </a:rPr>
              <a:t>to_uids = "8,2"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33450" y="3381375"/>
            <a:ext cx="5229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【</a:t>
            </a:r>
            <a:r>
              <a:rPr lang="en-US" sz="1425" b="1">
                <a:solidFill>
                  <a:srgbClr val="FAF9F5"/>
                </a:solidFill>
                <a:latin typeface="微软雅黑"/>
                <a:ea typeface="微软雅黑"/>
              </a:rPr>
              <a:t>AI </a:t>
            </a: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督办】您有审批已停留超过</a:t>
            </a:r>
            <a:r>
              <a:rPr lang="en-US" sz="1425" b="1">
                <a:solidFill>
                  <a:srgbClr val="FAF9F5"/>
                </a:solidFill>
                <a:latin typeface="微软雅黑"/>
                <a:ea typeface="微软雅黑"/>
              </a:rPr>
              <a:t> 24 </a:t>
            </a: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小时</a:t>
            </a:r>
            <a:endParaRPr/>
          </a:p>
        </p:txBody>
      </p:sp>
      <p:pic>
        <p:nvPicPr>
          <p:cNvPr id="2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4391025"/>
            <a:ext cx="190500" cy="190500"/>
          </a:xfrm>
          <a:prstGeom prst="rect">
            <a:avLst/>
          </a:prstGeom>
          <a:ln/>
        </p:spPr>
      </p:pic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71550" y="4391025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审批人（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uid 8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）与上级（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uid 2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）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一条消息同时送达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，零额外开发</a:t>
            </a:r>
            <a:endParaRPr/>
          </a:p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4733925"/>
            <a:ext cx="190500" cy="19050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71550" y="4733925"/>
            <a:ext cx="424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上级从全员「部门→负责人」映射表查得，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人员变动只更新映射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810375" y="1143000"/>
            <a:ext cx="4714875" cy="5143500"/>
          </a:xfrm>
          <a:prstGeom prst="roundRect">
            <a:avLst>
              <a:gd name="adj" fmla="val 3232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096125" y="2628900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停留</a:t>
            </a:r>
            <a:r>
              <a:rPr lang="en-US" sz="1275" b="1">
                <a:solidFill>
                  <a:srgbClr val="1F1E1B"/>
                </a:solidFill>
                <a:latin typeface="微软雅黑"/>
                <a:ea typeface="微软雅黑"/>
              </a:rPr>
              <a:t> 48h 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未催出结果？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096125" y="29622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200900" y="30289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华文中宋"/>
                <a:ea typeface="华文中宋"/>
              </a:rPr>
              <a:t>1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496175" y="30099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标注「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疑似无需审批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」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7096125" y="3381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200900" y="34480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华文中宋"/>
                <a:ea typeface="华文中宋"/>
              </a:rPr>
              <a:t>2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496175" y="3429000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上报业务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Owner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（饶旺）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096125" y="38004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200900" y="38671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华文中宋"/>
                <a:ea typeface="华文中宋"/>
              </a:rPr>
              <a:t>3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496175" y="384810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人工裁决——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单据状态一个字段都不动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7124700" y="4314825"/>
            <a:ext cx="4143375" cy="485775"/>
          </a:xfrm>
          <a:prstGeom prst="roundRect">
            <a:avLst>
              <a:gd name="adj" fmla="val 15686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7124700" y="4314825"/>
            <a:ext cx="4143375" cy="485775"/>
          </a:xfrm>
          <a:custGeom>
            <a:pathLst>
              <a:path w="435" h="5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6"/>
                </a:lnTo>
                <a:cubicBezTo>
                  <a:pt x="3" y="48"/>
                  <a:pt x="5" y="50"/>
                  <a:pt x="7" y="51"/>
                </a:cubicBezTo>
                <a:cubicBezTo>
                  <a:pt x="3" y="50"/>
                  <a:pt x="0" y="47"/>
                  <a:pt x="0" y="4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296150" y="4448175"/>
            <a:ext cx="377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1E1B"/>
                </a:solidFill>
                <a:latin typeface="华文中宋"/>
                <a:ea typeface="华文中宋"/>
              </a:rPr>
              <a:t>AI </a:t>
            </a:r>
            <a:r>
              <a:rPr lang="zh-CN" sz="1425" b="1">
                <a:solidFill>
                  <a:srgbClr val="1F1E1B"/>
                </a:solidFill>
                <a:latin typeface="华文中宋"/>
                <a:ea typeface="华文中宋"/>
              </a:rPr>
              <a:t>是哨兵，不是法官。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17 / 22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33450" y="309562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发件人：小奥（</a:t>
            </a:r>
            <a:r>
              <a:rPr lang="en-US" sz="1125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125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数字员工）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33450" y="3714750"/>
            <a:ext cx="5229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AF9F5">
                    <a:alpha val="75000"/>
                  </a:srgbClr>
                </a:solidFill>
                <a:latin typeface="微软雅黑"/>
                <a:ea typeface="微软雅黑"/>
              </a:rPr>
              <a:t>冯乐提交的销售合同已停留</a:t>
            </a:r>
            <a:r>
              <a:rPr lang="en-US" sz="1125">
                <a:solidFill>
                  <a:srgbClr val="FAF9F5">
                    <a:alpha val="75000"/>
                  </a:srgbClr>
                </a:solidFill>
                <a:latin typeface="微软雅黑"/>
                <a:ea typeface="微软雅黑"/>
              </a:rPr>
              <a:t> 26 </a:t>
            </a:r>
            <a:r>
              <a:rPr lang="zh-CN" sz="1125">
                <a:solidFill>
                  <a:srgbClr val="FAF9F5">
                    <a:alpha val="75000"/>
                  </a:srgbClr>
                </a:solidFill>
                <a:latin typeface="微软雅黑"/>
                <a:ea typeface="微软雅黑"/>
              </a:rPr>
              <a:t>小时，请及时处理。点此直达单据详情</a:t>
            </a:r>
            <a:r>
              <a:rPr lang="en-US" sz="1125">
                <a:solidFill>
                  <a:srgbClr val="FAF9F5">
                    <a:alpha val="75000"/>
                  </a:srgbClr>
                </a:solidFill>
                <a:latin typeface="微软雅黑"/>
                <a:ea typeface="微软雅黑"/>
              </a:rPr>
              <a:t> →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63" name="" descr="&lt;Slide notes={`试点范围不是拍脑袋，是先用统计接口跑了真实数据。近 30 天：请假 31 单量最大；报销 8 单里在途 8 单——注意，全部滞留，没有一单批完，平均耗时都是空的；会议室预定 5 单在途 4 单。所以试点就选这三类。报销那组数据本身就是 AI 该上岗的证据：这种类型不监控，还监控什么？做 AI 项目，先让数据说话，再让数据选战场。跑顺之后去掉类型参数，19 类全部接入只是改一个参数的事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用数据选战场&lt;/Text&gt;&#13;&#10;    &lt;/Box&gt;&#13;&#10;    &lt;Box style={{ flexDirection: 'row', height: 540, gap: 44 }}&gt;&#13;&#10;      &lt;Box style={{ flex: 11, justifyContent: 'center' }}&gt;&#13;&#10;        &lt;Box style={{ flexDirection: 'row', padding: '12px 20px' }}&gt;&#13;&#10;          &lt;Text style={{ fontFamily: '微软雅黑', fontSize: 14, color: '#A9A294', flex: 1 }}&gt;审批类型&lt;/Text&gt;&#13;&#10;          &lt;Text style={{ fontFamily: '微软雅黑', fontSize: 14, color: '#A9A294', width: 110, textAlign: 'right' }}&gt;30 天单量&lt;/Text&gt;&#13;&#10;          &lt;Text style={{ fontFamily: '微软雅黑', fontSize: 14, color: '#A9A294', width: 90, textAlign: 'right' }}&gt;在途&lt;/Text&gt;&#13;&#10;          &lt;Text style={{ fontFamily: '微软雅黑', fontSize: 14, color: '#A9A294', width: 120, textAlign: 'right' }}&gt;平均耗时&lt;/Text&gt;&#13;&#10;        &lt;/Box&gt;&#13;&#10;        &lt;Box style={{ flexDirection: 'row', padding: '18px 20px', background: 'rgba(31,30,27,0.04)', borderRadius: 10, alignItems: 'center', marginBottom: 10 }}&gt;&#13;&#10;          &lt;Text style={{ fontFamily: '微软雅黑', fontSize: 20, fontWeight: 'bold', color: '#1F1E1B', flex: 1 }}&gt;请假&lt;/Text&gt;&#13;&#10;          &lt;Text style={{ fontFamily: '华文中宋', fontSize: 28, fontWeight: 'bold', color: '#1F1E1B', width: 110, textAlign: 'right' }}&gt;31&lt;/Text&gt;&#13;&#10;          &lt;Text style={{ fontFamily: '华文中宋', fontSize: 28, fontWeight: 'bold', color: '#1F1E1B', width: 90, textAlign: 'right' }}&gt;14&lt;/Text&gt;&#13;&#10;          &lt;Text style={{ fontFamily: '微软雅黑', fontSize: 17, color: '#A9A294', width: 120, textAlign: 'right' }}&gt;23.6h&lt;/Text&gt;&#13;&#10;        &lt;/Box&gt;&#13;&#10;        &lt;Box style={{ flexDirection: 'row', padding: '18px 20px', background: 'rgba(217,119,87,0.12)', borderLeft: '3px solid #D97757', borderRadius: 10, alignItems: 'center', marginBottom: 10 }}&gt;&#13;&#10;          &lt;Text style={{ fontFamily: '微软雅黑', fontSize: 20, fontWeight: 'bold', color: '#D97757', flex: 1 }}&gt;报销&lt;/Text&gt;&#13;&#10;          &lt;Text style={{ fontFamily: '华文中宋', fontSize: 28, fontWeight: 'bold', color: '#D97757', width: 110, textAlign: 'right' }}&gt;5&lt;/Text&gt;&#13;&#10;          &lt;Text style={{ fontFamily: '华文中宋', fontSize: 28, fontWeight: 'bold', color: '#D97757', width: 90, textAlign: 'right' }}&gt;5&lt;/Text&gt;&#13;&#10;          &lt;Text style={{ fontFamily: '微软雅黑', fontSize: 17, fontWeight: 'bold', color: '#D97757', width: 120, textAlign: 'right' }}&gt;全部滞留&lt;/Text&gt;&#13;&#10;        &lt;/Box&gt;&#13;&#10;        &lt;Box style={{ flexDirection: 'row', padding: '18px 20px', background: 'rgba(31,30,27,0.04)', borderRadius: 10, alignItems: 'center' }}&gt;&#13;&#10;          &lt;Text style={{ fontFamily: '微软雅黑', fontSize: 20, fontWeight: 'bold', color: '#1F1E1B', flex: 1 }}&gt;会议室预定&lt;/Text&gt;&#13;&#10;          &lt;Text style={{ fontFamily: '华文中宋', fontSize: 28, fontWeight: 'bold', color: '#1F1E1B', width: 110, textAlign: 'right' }}&gt;5&lt;/Text&gt;&#13;&#10;          &lt;Text style={{ fontFamily: '华文中宋', fontSize: 28, fontWeight: 'bold', color: '#1F1E1B', width: 90, textAlign: 'right' }}&gt;4&lt;/Text&gt;&#13;&#10;          &lt;Text style={{ fontFamily: '微软雅黑', fontSize: 17, color: '#A9A294', width: 120, textAlign: 'right' }}&gt;23.0h&lt;/Text&gt;&#13;&#10;        &lt;/Box&gt;&#13;&#10;        &lt;Text style={{ fontFamily: '微软雅黑', fontSize: 14, color: '#A9A294', marginTop: 18 }}&gt;数据口径：approve_stats?days=30 实测 · 2026-09-09&lt;/Text&gt;&#13;&#10;      &lt;/Box&gt;&#13;&#10;      &lt;Box style={{ flex: 9, flexDirection: 'column', justifyContent: 'center', gap: 16 }}&gt;&#13;&#10;        &lt;Text style={{ fontFamily: '华文中宋', fontSize: 120, fontWeight: 'bold', color: '#D97757', lineHeight: 1 }}&gt;8/8&lt;/Text&gt;&#13;&#10;        &lt;Text style={{ fontFamily: '微软雅黑', fontSize: 22, fontWeight: 'bold', color: '#1F1E1B' }}&gt;报销单全部滞留在途&lt;/Text&gt;&#13;&#10;        &lt;Text style={{ fontFamily: '微软雅黑', fontSize: 17, color: '#A9A294', lineHeight: 1.6 }}&gt;无一完结、无一驳回——&lt;span style={{ color: '#1F1E1B', fontWeight: 'bold' }}&gt;最需要监控的类型&lt;/span&gt;，这就是 AI 上岗的证据&lt;/Text&gt;&#13;&#10;        &lt;Box style={{ padding: '14px 18px', background: 'rgba(217,119,87,0.08)', borderLeft: '3px solid #D97757', borderRadius: 8 }}&gt;&#13;&#10;          &lt;Text style={{ fontFamily: '微软雅黑', fontSize: 15, color: '#1F1E1B', lineHeight: 1.5 }}&gt;试点参数 &lt;span style={{ fontWeight: 'bold' }}&gt;type=leaves,expense,meetings&lt;/span&gt;&lt;br /&gt;跑顺后去掉参数 → 19 类全量接入&lt;/Text&gt;&#13;&#10;        &lt;/Box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8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用数据选战场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57250" y="2371725"/>
            <a:ext cx="2314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审批类型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171825" y="2371725"/>
            <a:ext cx="10477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30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天单量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219575" y="2371725"/>
            <a:ext cx="8572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在途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076825" y="2371725"/>
            <a:ext cx="1143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平均耗时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66750" y="2647950"/>
            <a:ext cx="5743575" cy="666750"/>
          </a:xfrm>
          <a:prstGeom prst="roundRect">
            <a:avLst>
              <a:gd name="adj" fmla="val 1428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57250" y="28670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请假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171825" y="2819400"/>
            <a:ext cx="10477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1F1E1B"/>
                </a:solidFill>
                <a:latin typeface="华文中宋"/>
                <a:ea typeface="华文中宋"/>
              </a:rPr>
              <a:t>31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219575" y="2819400"/>
            <a:ext cx="8572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1F1E1B"/>
                </a:solidFill>
                <a:latin typeface="华文中宋"/>
                <a:ea typeface="华文中宋"/>
              </a:rPr>
              <a:t>14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076825" y="2886075"/>
            <a:ext cx="1143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23.6h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95325" y="3409950"/>
            <a:ext cx="5743575" cy="66675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695325" y="3409950"/>
            <a:ext cx="5743575" cy="666750"/>
          </a:xfrm>
          <a:custGeom>
            <a:pathLst>
              <a:path w="603" h="7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3"/>
                </a:lnTo>
                <a:cubicBezTo>
                  <a:pt x="3" y="66"/>
                  <a:pt x="5" y="69"/>
                  <a:pt x="8" y="70"/>
                </a:cubicBezTo>
                <a:cubicBezTo>
                  <a:pt x="3" y="69"/>
                  <a:pt x="0" y="65"/>
                  <a:pt x="0" y="6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85825" y="3629025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7757"/>
                </a:solidFill>
                <a:latin typeface="微软雅黑"/>
                <a:ea typeface="微软雅黑"/>
              </a:rPr>
              <a:t>报销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171825" y="3581400"/>
            <a:ext cx="10477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D97757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219575" y="3581400"/>
            <a:ext cx="8572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D97757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076825" y="3648075"/>
            <a:ext cx="1143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75" b="1">
                <a:solidFill>
                  <a:srgbClr val="D97757"/>
                </a:solidFill>
                <a:latin typeface="微软雅黑"/>
                <a:ea typeface="微软雅黑"/>
              </a:rPr>
              <a:t>全部滞留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66750" y="4171950"/>
            <a:ext cx="5743575" cy="666750"/>
          </a:xfrm>
          <a:prstGeom prst="roundRect">
            <a:avLst>
              <a:gd name="adj" fmla="val 1428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57250" y="43910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会议室预定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171825" y="4343400"/>
            <a:ext cx="10477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1F1E1B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219575" y="4343400"/>
            <a:ext cx="8572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1F1E1B"/>
                </a:solidFill>
                <a:latin typeface="华文中宋"/>
                <a:ea typeface="华文中宋"/>
              </a:rPr>
              <a:t>4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076825" y="4410075"/>
            <a:ext cx="1143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23.0h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66750" y="5010150"/>
            <a:ext cx="574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数据口径：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approve_stats?days=30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实测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· 2026-09-09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829425" y="1971675"/>
            <a:ext cx="46958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D97757"/>
                </a:solidFill>
                <a:latin typeface="华文中宋"/>
                <a:ea typeface="华文中宋"/>
              </a:rPr>
              <a:t>8/8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829425" y="3495675"/>
            <a:ext cx="4695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报销单全部滞留在途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829425" y="3905250"/>
            <a:ext cx="4695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无一完结、无一驳回——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最需要监控的类型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，这就是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上岗的证据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858000" y="4686300"/>
            <a:ext cx="4695825" cy="781050"/>
          </a:xfrm>
          <a:prstGeom prst="roundRect">
            <a:avLst>
              <a:gd name="adj" fmla="val 9756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858000" y="4686300"/>
            <a:ext cx="4695825" cy="781050"/>
          </a:xfrm>
          <a:custGeom>
            <a:pathLst>
              <a:path w="493" h="8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77"/>
                </a:lnTo>
                <a:cubicBezTo>
                  <a:pt x="3" y="79"/>
                  <a:pt x="5" y="81"/>
                  <a:pt x="7" y="82"/>
                </a:cubicBezTo>
                <a:cubicBezTo>
                  <a:pt x="3" y="81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029450" y="4819650"/>
            <a:ext cx="43243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试点参数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</a:t>
            </a:r>
            <a:r>
              <a:rPr lang="en-US" sz="1125" b="1">
                <a:solidFill>
                  <a:srgbClr val="1F1E1B"/>
                </a:solidFill>
                <a:latin typeface="微软雅黑"/>
                <a:ea typeface="微软雅黑"/>
              </a:rPr>
              <a:t>type=leaves,expense,meetings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跑顺后去掉参数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→ 19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类全量接入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18 / 22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95" name="" descr="&lt;Slide notes={`这一页比前面所有页都值钱。四个坑对应 AI 对接真实系统的四大经典死法：鉴权——老代码的 Session 检查先于 JWT 执行，AI 被请先登录，教训是鉴权测试必须用无 cookie 的干净环境；参数——nginx 配置丢了一个变量，问七天的参数被悄悄吞掉，接口不报错只是假装正常，教训是能用不等于参数生效；网络——服务器本机怎么测都通，OpenClaw 全超时，靠分层排查法定位到出口策略；稳定性——穿透节点一天断连 41 次，加上三次重试后成功率从 83% 提到 99.5%。每一坑都是时间成本换来的，今天免费送给大家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彩蛋 · 我们踩过的四个坑&lt;span style={{ color: '#A9A294', fontSize: 18 }}&gt;（最有含金量的一页）&lt;/span&gt;&lt;/Text&gt;&#13;&#10;    &lt;/Box&gt;&#13;&#10;    &lt;Box style={{ flexDirection: 'row', height: 540, gap: 16 }}&gt;&#13;&#10;      &lt;Box style={{ flex: 1, flexDirection: 'column', gap: 16 }}&gt;&#13;&#10;        &lt;Box style={{ flex: 1, padding: '20px 24px', background: 'rgba(31,30,27,0.04)', borderRadius: 14 }}&gt;&#13;&#10;          &lt;Box style={{ flexDirection: 'row', alignItems: 'center', gap: 10 }}&gt;&#13;&#10;            &lt;Text style={{ fontFamily: '华文中宋', fontSize: 26, fontWeight: 'bold', color: '#D97757' }}&gt;01&lt;/Text&gt;&#13;&#10;            &lt;Text style={{ fontFamily: '微软雅黑', fontSize: 19, fontWeight: 'bold', color: '#1F1E1B' }}&gt;被拦在门外&lt;/Text&gt;&#13;&#10;          &lt;/Box&gt;&#13;&#10;          &lt;Text style={{ fontFamily: '微软雅黑', fontSize: 14, color: '#1F1E1B', marginTop: 10, lineHeight: 1.55 }}&gt;症状：AI 调接口被回「请先登录」&lt;br /&gt;根因：老代码 Session 检查先于 JWT 执行&lt;br /&gt;解法：新接口层跳过 Session 检查&lt;/Text&gt;&#13;&#10;          &lt;Text style={{ fontFamily: '微软雅黑', fontSize: 14, color: '#D97757', marginTop: 10, lineHeight: 1.5 }}&gt;教训：鉴权测试必须用无 cookie 的干净环境&lt;/Text&gt;&#13;&#10;        &lt;/Box&gt;&#13;&#10;        &lt;Box style={{ flex: 1, padding: '20px 24px', background: 'rgba(31,30,27,0.04)', borderRadius: 14 }}&gt;&#13;&#10;          &lt;Box style={{ flexDirection: 'row', alignItems: 'center', gap: 10 }}&gt;&#13;&#10;            &lt;Text style={{ fontFamily: '华文中宋', fontSize: 26, fontWeight: 'bold', color: '#D97757' }}&gt;02&lt;/Text&gt;&#13;&#10;            &lt;Text style={{ fontFamily: '微软雅黑', fontSize: 19, fontWeight: 'bold', color: '#1F1E1B' }}&gt;参数悄悄失效&lt;/Text&gt;&#13;&#10;          &lt;/Box&gt;&#13;&#10;          &lt;Text style={{ fontFamily: '微软雅黑', fontSize: 14, color: '#1F1E1B', marginTop: 10, lineHeight: 1.55 }}&gt;症状：「查近 7 天」返回的是全部 30 天&lt;br /&gt;根因：nginx 配置丢了 query 参数，接口不报错&lt;br /&gt;解法：补上参数透传并热重载&lt;/Text&gt;&#13;&#10;          &lt;Text style={{ fontFamily: '微软雅黑', fontSize: 14, color: '#D97757', marginTop: 10, lineHeight: 1.5 }}&gt;教训：「能用」≠「参数生效」，每个参数都实测&lt;/Text&gt;&#13;&#10;        &lt;/Box&gt;&#13;&#10;      &lt;/Box&gt;&#13;&#10;      &lt;Box style={{ flex: 1, flexDirection: 'column', gap: 16 }}&gt;&#13;&#10;        &lt;Box style={{ flex: 1, padding: '20px 24px', background: 'rgba(31,30,27,0.04)', borderRadius: 14 }}&gt;&#13;&#10;          &lt;Box style={{ flexDirection: 'row', alignItems: 'center', gap: 10 }}&gt;&#13;&#10;            &lt;Text style={{ fontFamily: '华文中宋', fontSize: 26, fontWeight: 'bold', color: '#D97757' }}&gt;03&lt;/Text&gt;&#13;&#10;            &lt;Text style={{ fontFamily: '微软雅黑', fontSize: 19, fontWeight: 'bold', color: '#1F1E1B' }}&gt;本机正常 ≠ 外网通&lt;/Text&gt;&#13;&#10;          &lt;/Box&gt;&#13;&#10;          &lt;Text style={{ fontFamily: '微软雅黑', fontSize: 14, color: '#1F1E1B', marginTop: 10, lineHeight: 1.55 }}&gt;症状：服务器怎么测都通，AI 平台全超时&lt;br /&gt;根因：出口代理策略分层拦截，与服务无关&lt;br /&gt;解法：代理→端口→域名→服务，逐层排查&lt;/Text&gt;&#13;&#10;          &lt;Text style={{ fontFamily: '微软雅黑', fontSize: 14, color: '#D97757', marginTop: 10, lineHeight: 1.5 }}&gt;教训：跨网络调用，每一层单独验证&lt;/Text&gt;&#13;&#10;        &lt;/Box&gt;&#13;&#10;        &lt;Box style={{ flex: 1, padding: '20px 24px', background: '#1F1E1B', borderRadius: 14 }}&gt;&#13;&#10;          &lt;Box style={{ flexDirection: 'row', alignItems: 'center', gap: 10 }}&gt;&#13;&#10;            &lt;Text style={{ fontFamily: '华文中宋', fontSize: 26, fontWeight: 'bold', color: '#D97757' }}&gt;04&lt;/Text&gt;&#13;&#10;            &lt;Text style={{ fontFamily: '微软雅黑', fontSize: 19, fontWeight: 'bold', color: '#FAF9F5' }}&gt;链路间歇抖动&lt;/Text&gt;&#13;&#10;          &lt;/Box&gt;&#13;&#10;          &lt;Text style={{ fontFamily: '微软雅黑', fontSize: 14, color: '#FAF9F5', opacity: 0.85, marginTop: 10, lineHeight: 1.55 }}&gt;症状：穿透链路一天断连 41 次，6 连测失败 1 次&lt;br /&gt;根因：内网穿透节点不稳定，与服务无关&lt;br /&gt;解法：AI 侧失败自动重试 3 次（间隔 3-5 秒）&lt;/Text&gt;&#13;&#10;          &lt;Text style={{ fontFamily: '微软雅黑', fontSize: 14, color: '#D97757', marginTop: 10, lineHeight: 1.5 }}&gt;教训：重试是 AI 调外部系统的必选项，83% → 99.5%&lt;/Text&gt;&#13;&#10;        &lt;/Box&gt;&#13;&#10;      &lt;/Box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19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彩蛋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我们踩过的四个坑</a:t>
            </a:r>
            <a:r>
              <a:rPr lang="zh-CN" sz="1350" b="1">
                <a:solidFill>
                  <a:srgbClr val="A9A294"/>
                </a:solidFill>
                <a:latin typeface="华文中宋"/>
                <a:ea typeface="华文中宋"/>
              </a:rPr>
              <a:t>（最有含金量的一页）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66750" y="1143000"/>
            <a:ext cx="5353050" cy="2495550"/>
          </a:xfrm>
          <a:prstGeom prst="roundRect">
            <a:avLst>
              <a:gd name="adj" fmla="val 5344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95350" y="1333500"/>
            <a:ext cx="323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314450" y="13811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被拦在门外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95350" y="1733550"/>
            <a:ext cx="48958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症状：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调接口被回「请先登录」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根因：老代码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Session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检查先于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JWT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执行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解法：新接口层跳过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Session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检查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95350" y="258127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教训：鉴权测试必须用无</a:t>
            </a:r>
            <a:r>
              <a:rPr lang="en-US" sz="1050">
                <a:solidFill>
                  <a:srgbClr val="D97757"/>
                </a:solidFill>
                <a:latin typeface="微软雅黑"/>
                <a:ea typeface="微软雅黑"/>
              </a:rPr>
              <a:t> cookie </a:t>
            </a: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的干净环境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66750" y="3790950"/>
            <a:ext cx="5353050" cy="2495550"/>
          </a:xfrm>
          <a:prstGeom prst="roundRect">
            <a:avLst>
              <a:gd name="adj" fmla="val 5344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95350" y="3981450"/>
            <a:ext cx="323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314450" y="40290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参数悄悄失效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95350" y="4381500"/>
            <a:ext cx="48958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症状：「查近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7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天」返回的是全部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30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天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根因：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nginx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配置丢了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query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参数，接口不报错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解法：补上参数透传并热重载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95350" y="522922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教训：「能用」≠「参数生效」，每个参数都实测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172200" y="1143000"/>
            <a:ext cx="5353050" cy="2495550"/>
          </a:xfrm>
          <a:prstGeom prst="roundRect">
            <a:avLst>
              <a:gd name="adj" fmla="val 5344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400800" y="1333500"/>
            <a:ext cx="323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819900" y="1381125"/>
            <a:ext cx="1533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本机正常</a:t>
            </a:r>
            <a:r>
              <a:rPr lang="en-US" sz="1425" b="1">
                <a:solidFill>
                  <a:srgbClr val="1F1E1B"/>
                </a:solidFill>
                <a:latin typeface="微软雅黑"/>
                <a:ea typeface="微软雅黑"/>
              </a:rPr>
              <a:t> ≠ </a:t>
            </a: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外网通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400800" y="1733550"/>
            <a:ext cx="48958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症状：服务器怎么测都通，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平台全超时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根因：出口代理策略分层拦截，与服务无关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解法：代理→端口→域名→服务，逐层排查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400800" y="258127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教训：跨网络调用，每一层单独验证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172200" y="3790950"/>
            <a:ext cx="5353050" cy="2495550"/>
          </a:xfrm>
          <a:prstGeom prst="roundRect">
            <a:avLst>
              <a:gd name="adj" fmla="val 5344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400800" y="3981450"/>
            <a:ext cx="323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04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819900" y="40290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链路间歇抖动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400800" y="522922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教训：重试是</a:t>
            </a:r>
            <a:r>
              <a:rPr lang="en-US" sz="1050">
                <a:solidFill>
                  <a:srgbClr val="D97757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调外部系统的必选项，</a:t>
            </a:r>
            <a:r>
              <a:rPr lang="en-US" sz="1050">
                <a:solidFill>
                  <a:srgbClr val="D97757"/>
                </a:solidFill>
                <a:latin typeface="微软雅黑"/>
                <a:ea typeface="微软雅黑"/>
              </a:rPr>
              <a:t>83% → 99.5%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19 / 22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400800" y="4381500"/>
            <a:ext cx="48958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症状：穿透链路一天断连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41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次，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6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连测失败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次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根因：内网穿透节点不稳定，与服务无关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解法：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侧失败自动重试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3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次（间隔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3-5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秒）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1" name="" descr="&lt;Slide notes={`下面不念 PPT 了，直接看真系统跑。三个动作：第一查，跟 OpenClaw 说一句话，拉出全公司在途审批，六张高危单一目了然；第二催，让 AI 催一张真实的滞留单，然后切到 OA 页面看站内信实时到达；第三报，让 AI 出一份本周审批健康度报告，公告栏马上出现。如果现场网络抖——前面讲过我们的链路有概率抽风——我就切本地链路演示，效果完全一样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现场演示：查 · 催 · 报&lt;/Text&gt;&#13;&#10;    &lt;/Box&gt;&#13;&#10;    &lt;Box style={{ flexDirection: 'row', height: 540, gap: 44 }}&gt;&#13;&#10;      &lt;Box style={{ flex: 1, flexDirection: 'column', justifyContent: 'center', gap: 26 }}&gt;&#13;&#10;        &lt;Box style={{ flexDirection: 'row', gap: 18, alignItems: 'flex-start' }}&gt;&#13;&#10;          &lt;Box style={{ width: 52, height: 52, borderRadius: 14, background: 'rgba(217,119,87,0.1)', justifyContent: 'center', alignItems: 'center' }}&gt;&#13;&#10;            &lt;FAIcon name=&quot;search&quot; style={{ fill: '#D97757', width: 26, height: 26 }} /&gt;&#13;&#10;          &lt;/Box&gt;&#13;&#10;          &lt;Box style={{ flex: 1 }}&gt;&#13;&#10;            &lt;Text style={{ fontFamily: '微软雅黑', fontSize: 21, fontWeight: 'bold', color: '#1F1E1B' }}&gt;查&lt;/Text&gt;&#13;&#10;            &lt;Text style={{ fontFamily: '微软雅黑', fontSize: 15, color: '#A9A294', marginTop: 4, lineHeight: 1.5 }}&gt;对 OpenClaw 说一句话，拉出全公司在途审批，6 张高危单高亮&lt;/Text&gt;&#13;&#10;          &lt;/Box&gt;&#13;&#10;        &lt;/Box&gt;&#13;&#10;        &lt;Box style={{ flexDirection: 'row', gap: 18, alignItems: 'flex-start' }}&gt;&#13;&#10;          &lt;Box style={{ width: 52, height: 52, borderRadius: 14, background: 'rgba(217,119,87,0.1)', justifyContent: 'center', alignItems: 'center' }}&gt;&#13;&#10;            &lt;FAIcon name=&quot;bullhorn&quot; style={{ fill: '#D97757', width: 26, height: 26 }} /&gt;&#13;&#10;          &lt;/Box&gt;&#13;&#10;          &lt;Box style={{ flex: 1 }}&gt;&#13;&#10;            &lt;Text style={{ fontFamily: '微软雅黑', fontSize: 21, fontWeight: 'bold', color: '#1F1E1B' }}&gt;催&lt;/Text&gt;&#13;&#10;            &lt;Text style={{ fontFamily: '微软雅黑', fontSize: 15, color: '#A9A294', marginTop: 4, lineHeight: 1.5 }}&gt;让 AI 催一张真实滞留单 → 切 OA 页面看站内信实时到达&lt;/Text&gt;&#13;&#10;          &lt;/Box&gt;&#13;&#10;        &lt;/Box&gt;&#13;&#10;        &lt;Box style={{ flexDirection: 'row', gap: 18, alignItems: 'flex-start' }}&gt;&#13;&#10;          &lt;Box style={{ width: 52, height: 52, borderRadius: 14, background: 'rgba(217,119,87,0.1)', justifyContent: 'center', alignItems: 'center' }}&gt;&#13;&#10;            &lt;FAIcon name=&quot;file-text&quot; style={{ fill: '#D97757', width: 26, height: 26 }} /&gt;&#13;&#10;          &lt;/Box&gt;&#13;&#10;          &lt;Box style={{ flex: 1 }}&gt;&#13;&#10;            &lt;Text style={{ fontFamily: '微软雅黑', fontSize: 21, fontWeight: 'bold', color: '#1F1E1B' }}&gt;报&lt;/Text&gt;&#13;&#10;            &lt;Text style={{ fontFamily: '微软雅黑', fontSize: 15, color: '#A9A294', marginTop: 4, lineHeight: 1.5 }}&gt;AI 生成本周健康度报告 → 公告栏实时发布&lt;/Text&gt;&#13;&#10;          &lt;/Box&gt;&#13;&#10;        &lt;/Box&gt;&#13;&#10;        &lt;Box style={{ flexDirection: 'row', gap: 10, alignItems: 'center', padding: '14px 18px', background: 'rgba(31,30,27,0.04)', borderRadius: 10 }}&gt;&#13;&#10;          &lt;FAIcon name=&quot;shield&quot; style={{ fill: '#A9A294', width: 20, height: 20 }} /&gt;&#13;&#10;          &lt;Text style={{ fontFamily: '微软雅黑', fontSize: 14, color: '#A9A294', lineHeight: 1.5 }}&gt;兜底预案：若现场链路抖动，切换本地 127.0.0.1:8010，效果一致&lt;/Text&gt;&#13;&#10;        &lt;/Box&gt;&#13;&#10;      &lt;/Box&gt;&#13;&#10;      &lt;Image src=&quot;assets/demo_scene.png&quot; style={{ width: 545, height: 540, objectFit: 'cover', borderRadius: 16 }} /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20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现场演示：查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催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报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66750" y="22764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3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2400300"/>
            <a:ext cx="247650" cy="247650"/>
          </a:xfrm>
          <a:prstGeom prst="rect">
            <a:avLst/>
          </a:prstGeom>
          <a:ln/>
        </p:spPr>
      </p:pic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333500" y="2276475"/>
            <a:ext cx="4581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查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333500" y="2562225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对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OpenClaw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说一句话，拉出全公司在途审批，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6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张高危单高亮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66750" y="30670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3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3190875"/>
            <a:ext cx="247650" cy="247650"/>
          </a:xfrm>
          <a:prstGeom prst="rect">
            <a:avLst/>
          </a:prstGeom>
          <a:ln/>
        </p:spPr>
      </p:pic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333500" y="3067050"/>
            <a:ext cx="4581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催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333500" y="3352800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让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催一张真实滞留单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切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页面看站内信实时到达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66750" y="38576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3981450"/>
            <a:ext cx="247650" cy="247650"/>
          </a:xfrm>
          <a:prstGeom prst="rect">
            <a:avLst/>
          </a:prstGeom>
          <a:ln/>
        </p:spPr>
      </p:pic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333500" y="3857625"/>
            <a:ext cx="4581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报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333500" y="4143375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AI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生成本周健康度报告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公告栏实时发布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66750" y="4648200"/>
            <a:ext cx="5248275" cy="514350"/>
          </a:xfrm>
          <a:prstGeom prst="roundRect">
            <a:avLst>
              <a:gd name="adj" fmla="val 18519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3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4810125"/>
            <a:ext cx="190500" cy="190500"/>
          </a:xfrm>
          <a:prstGeom prst="rect">
            <a:avLst/>
          </a:prstGeom>
          <a:ln/>
        </p:spPr>
      </p:pic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23950" y="4781550"/>
            <a:ext cx="4000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兜底预案：若现场链路抖动，切换本地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127.0.0.1:8010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，效果一致</a:t>
            </a:r>
            <a:endParaRPr/>
          </a:p>
        </p:txBody>
      </p:sp>
      <p:pic>
        <p:nvPicPr>
          <p:cNvPr id="369" name=""/>
          <p:cNvPicPr>
            <a:picLocks noChangeAspect="1"/>
          </p:cNvPicPr>
          <p:nvPr/>
        </p:nvPicPr>
        <p:blipFill>
          <a:blip r:embed="rId2"/>
          <a:srcRect l="0" t="458" r="0" b="458"/>
          <a:stretch>
            <a:fillRect/>
          </a:stretch>
        </p:blipFill>
        <p:spPr>
          <a:xfrm rot="0" flipH="0" flipV="0">
            <a:off x="6334125" y="1143000"/>
            <a:ext cx="5191125" cy="5143500"/>
          </a:xfrm>
          <a:prstGeom prst="roundRect">
            <a:avLst>
              <a:gd name="adj" fmla="val 2963"/>
            </a:avLst>
          </a:prstGeom>
          <a:ln/>
        </p:spPr>
      </p:pic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20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72" name="" descr="&lt;Slide notes={`今天讲的不是 OA，是一套方法论。任何老系统——CRM、ERP、工单系统——想接 AI，都是这五步：第一步翻译需求，把业务话变成技术话，先画清楚 AI 做什么、不做什么；第二步开薄接口，只读优先，写操作最小化，给 AI 发独立工卡；第三步无状态设计，规则记忆放 AI 侧，系统侧极简，改规则不动代码；第四步分层联调，鉴权、参数、网络、稳定性，一层一层实测；第五步小步试点，用数据选范围，跑通再放大。记住那句话：系统出数据，AI 出判断，人出决定。边界画清楚，AI 落地就不玄了。`}&gt;&#13;&#10;  &lt;Slide style={{ background: '#FAF9F5', padding: '20px 70px', width: 1280, height: 720 }}&gt;&#13;&#10;    &lt;Box style={{ height: 100, justifyContent: 'center' }}&gt;&#13;&#10;      &lt;Text style={{ fontFamily: '华文中宋', fontSize: 34, fontWeight: 'bold', color: '#1F1E1B' }}&gt;复盘 · 五步法，复制到任何系统&lt;/Text&gt;&#13;&#10;    &lt;/Box&gt;&#13;&#10;    &lt;Box style={{ height: 540, justifyContent: 'center' }}&gt;&#13;&#10;      &lt;Box style={{ flexDirection: 'row', gap: 8, alignItems: 'stretch' }}&gt;&#13;&#10;        &lt;Box style={{ flex: 1, padding: '24px 18px', background: 'rgba(31,30,27,0.04)', borderRadius: 14, height: 330 }}&gt;&#13;&#10;          &lt;Text style={{ fontFamily: '华文中宋', fontSize: 40, fontWeight: 'bold', color: '#D97757', lineHeight: 1 }}&gt;01&lt;/Text&gt;&#13;&#10;          &lt;Text style={{ fontFamily: '微软雅黑', fontSize: 19, fontWeight: 'bold', color: '#1F1E1B', marginTop: 14 }}&gt;翻译需求&lt;/Text&gt;&#13;&#10;          &lt;Text style={{ fontFamily: '微软雅黑', fontSize: 14, color: '#A9A294', marginTop: 10, lineHeight: 1.6 }}&gt;业务话 → 技术话，先画清 AI 做什么、不做什么&lt;/Text&gt;&#13;&#10;        &lt;/Box&gt;&#13;&#10;        &lt;Box style={{ justifyContent: 'center' }}&gt;&#13;&#10;          &lt;FAIcon name=&quot;arrow-right&quot; style={{ fill: '#D97757', width: 20, height: 20 }} /&gt;&#13;&#10;        &lt;/Box&gt;&#13;&#10;        &lt;Box style={{ flex: 1, padding: '24px 18px', background: 'rgba(31,30,27,0.04)', borderRadius: 14, height: 330 }}&gt;&#13;&#10;          &lt;Text style={{ fontFamily: '华文中宋', fontSize: 40, fontWeight: 'bold', color: '#D97757', lineHeight: 1 }}&gt;02&lt;/Text&gt;&#13;&#10;          &lt;Text style={{ fontFamily: '微软雅黑', fontSize: 19, fontWeight: 'bold', color: '#1F1E1B', marginTop: 14 }}&gt;开薄接口&lt;/Text&gt;&#13;&#10;          &lt;Text style={{ fontFamily: '微软雅黑', fontSize: 14, color: '#A9A294', marginTop: 10, lineHeight: 1.6 }}&gt;只读优先、写操作最小化，AI 用独立账号&lt;/Text&gt;&#13;&#10;        &lt;/Box&gt;&#13;&#10;        &lt;Box style={{ justifyContent: 'center' }}&gt;&#13;&#10;          &lt;FAIcon name=&quot;arrow-right&quot; style={{ fill: '#D97757', width: 20, height: 20 }} /&gt;&#13;&#10;        &lt;/Box&gt;&#13;&#10;        &lt;Box style={{ flex: 1, padding: '24px 18px', background: '#1F1E1B', borderRadius: 14, height: 330 }}&gt;&#13;&#10;          &lt;Text style={{ fontFamily: '华文中宋', fontSize: 40, fontWeight: 'bold', color: '#D97757', lineHeight: 1 }}&gt;03&lt;/Text&gt;&#13;&#10;          &lt;Text style={{ fontFamily: '微软雅黑', fontSize: 19, fontWeight: 'bold', color: '#FAF9F5', marginTop: 14 }}&gt;无状态设计&lt;/Text&gt;&#13;&#10;          &lt;Text style={{ fontFamily: '微软雅黑', fontSize: 14, color: '#FAF9F5', opacity: 0.65, marginTop: 10, lineHeight: 1.6 }}&gt;规则记忆放 AI 侧，系统侧极简，改规则不动代码&lt;/Text&gt;&#13;&#10;        &lt;/Box&gt;&#13;&#10;        &lt;Box style={{ justifyContent: 'center' }}&gt;&#13;&#10;          &lt;FAIcon name=&quot;arrow-right&quot; style={{ fill: '#D97757', width: 20, height: 20 }} /&gt;&#13;&#10;        &lt;/Box&gt;&#13;&#10;        &lt;Box style={{ flex: 1, padding: '24px 18px', background: 'rgba(31,30,27,0.04)', borderRadius: 14, height: 330 }}&gt;&#13;&#10;          &lt;Text style={{ fontFamily: '华文中宋', fontSize: 40, fontWeight: 'bold', color: '#D97757', lineHeight: 1 }}&gt;04&lt;/Text&gt;&#13;&#10;          &lt;Text style={{ fontFamily: '微软雅黑', fontSize: 19, fontWeight: 'bold', color: '#1F1E1B', marginTop: 14 }}&gt;分层联调&lt;/Text&gt;&#13;&#10;          &lt;Text style={{ fontFamily: '微软雅黑', fontSize: 14, color: '#A9A294', marginTop: 10, lineHeight: 1.6 }}&gt;鉴权 → 参数 → 网络 → 稳定性，逐层实测&lt;/Text&gt;&#13;&#10;        &lt;/Box&gt;&#13;&#10;        &lt;Box style={{ justifyContent: 'center' }}&gt;&#13;&#10;          &lt;FAIcon name=&quot;arrow-right&quot; style={{ fill: '#D97757', width: 20, height: 20 }} /&gt;&#13;&#10;        &lt;/Box&gt;&#13;&#10;        &lt;Box style={{ flex: 1, padding: '24px 18px', background: 'rgba(31,30,27,0.04)', borderRadius: 14, height: 330 }}&gt;&#13;&#10;          &lt;Text style={{ fontFamily: '华文中宋', fontSize: 40, fontWeight: 'bold', color: '#D97757', lineHeight: 1 }}&gt;05&lt;/Text&gt;&#13;&#10;          &lt;Text style={{ fontFamily: '微软雅黑', fontSize: 19, fontWeight: 'bold', color: '#1F1E1B', marginTop: 14 }}&gt;小步试点&lt;/Text&gt;&#13;&#10;          &lt;Text style={{ fontFamily: '微软雅黑', fontSize: 14, color: '#A9A294', marginTop: 10, lineHeight: 1.6 }}&gt;用数据选范围，跑通再放大到全量&lt;/Text&gt;&#13;&#10;        &lt;/Box&gt;&#13;&#10;      &lt;/Box&gt;&#13;&#10;      &lt;Text style={{ fontFamily: '微软雅黑', fontSize: 17, color: '#A9A294', textAlign: 'center', marginTop: 46 }}&gt;上篇的五步法管「想清楚」，这五步管「做出来」——任何老系统都能复制&lt;/Text&gt;&#13;&#10;    &lt;/Box&gt;&#13;&#10;    &lt;Box style={{ height: 40, flexDirection: 'row', justifyContent: 'space-between', alignItems: 'center' }}&gt;&#13;&#10;      &lt;Text style={{ fontFamily: '微软雅黑', fontSize: 13, color: '#A9A294' }}&gt;当 OA 遇上 AI 数字员工 · 内部教学&lt;/Text&gt;&#13;&#10;      &lt;Text style={{ fontFamily: '微软雅黑', fontSize: 13, color: '#A9A294' }}&gt;21 / 22&lt;/Text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复盘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五步法，复制到任何系统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66750" y="1828800"/>
            <a:ext cx="1895475" cy="3143250"/>
          </a:xfrm>
          <a:prstGeom prst="roundRect">
            <a:avLst>
              <a:gd name="adj" fmla="val 703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38200" y="2057400"/>
            <a:ext cx="1552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8200" y="264795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翻译需求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38200" y="2962275"/>
            <a:ext cx="1552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业务话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技术话，先画清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做什么、不做什么</a:t>
            </a:r>
            <a:endParaRPr/>
          </a:p>
        </p:txBody>
      </p:sp>
      <p:pic>
        <p:nvPicPr>
          <p:cNvPr id="3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638425" y="3305175"/>
            <a:ext cx="190500" cy="190500"/>
          </a:xfrm>
          <a:prstGeom prst="rect">
            <a:avLst/>
          </a:prstGeom>
          <a:ln/>
        </p:spPr>
      </p:pic>
      <p:sp>
        <p:nvSpPr>
          <p:cNvPr id="380" name=""/>
          <p:cNvSpPr/>
          <p:nvPr/>
        </p:nvSpPr>
        <p:spPr>
          <a:xfrm rot="0" flipH="0" flipV="0">
            <a:off x="2905125" y="1828800"/>
            <a:ext cx="1895475" cy="3143250"/>
          </a:xfrm>
          <a:prstGeom prst="roundRect">
            <a:avLst>
              <a:gd name="adj" fmla="val 703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076575" y="2057400"/>
            <a:ext cx="1552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3076575" y="264795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开薄接口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076575" y="2962275"/>
            <a:ext cx="1552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只读优先、写操作最小化，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用独立账号</a:t>
            </a:r>
            <a:endParaRPr/>
          </a:p>
        </p:txBody>
      </p:sp>
      <p:pic>
        <p:nvPicPr>
          <p:cNvPr id="3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76800" y="3305175"/>
            <a:ext cx="190500" cy="190500"/>
          </a:xfrm>
          <a:prstGeom prst="rect">
            <a:avLst/>
          </a:prstGeom>
          <a:ln/>
        </p:spPr>
      </p:pic>
      <p:sp>
        <p:nvSpPr>
          <p:cNvPr id="385" name=""/>
          <p:cNvSpPr/>
          <p:nvPr/>
        </p:nvSpPr>
        <p:spPr>
          <a:xfrm rot="0" flipH="0" flipV="0">
            <a:off x="5143500" y="1828800"/>
            <a:ext cx="1905000" cy="3143250"/>
          </a:xfrm>
          <a:prstGeom prst="roundRect">
            <a:avLst>
              <a:gd name="adj" fmla="val 7000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314950" y="2057400"/>
            <a:ext cx="1562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314950" y="2647950"/>
            <a:ext cx="1562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无状态设计</a:t>
            </a:r>
            <a:endParaRPr/>
          </a:p>
        </p:txBody>
      </p:sp>
      <p:pic>
        <p:nvPicPr>
          <p:cNvPr id="3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24700" y="3305175"/>
            <a:ext cx="190500" cy="190500"/>
          </a:xfrm>
          <a:prstGeom prst="rect">
            <a:avLst/>
          </a:prstGeom>
          <a:ln/>
        </p:spPr>
      </p:pic>
      <p:sp>
        <p:nvSpPr>
          <p:cNvPr id="389" name=""/>
          <p:cNvSpPr/>
          <p:nvPr/>
        </p:nvSpPr>
        <p:spPr>
          <a:xfrm rot="0" flipH="0" flipV="0">
            <a:off x="7391400" y="1828800"/>
            <a:ext cx="1895475" cy="3143250"/>
          </a:xfrm>
          <a:prstGeom prst="roundRect">
            <a:avLst>
              <a:gd name="adj" fmla="val 703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562850" y="2057400"/>
            <a:ext cx="1552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04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562850" y="264795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分层联调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562850" y="2962275"/>
            <a:ext cx="1552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鉴权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参数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网络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稳定性，逐层实测</a:t>
            </a:r>
            <a:endParaRPr/>
          </a:p>
        </p:txBody>
      </p:sp>
      <p:pic>
        <p:nvPicPr>
          <p:cNvPr id="3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63075" y="3305175"/>
            <a:ext cx="190500" cy="190500"/>
          </a:xfrm>
          <a:prstGeom prst="rect">
            <a:avLst/>
          </a:prstGeom>
          <a:ln/>
        </p:spPr>
      </p:pic>
      <p:sp>
        <p:nvSpPr>
          <p:cNvPr id="394" name=""/>
          <p:cNvSpPr/>
          <p:nvPr/>
        </p:nvSpPr>
        <p:spPr>
          <a:xfrm rot="0" flipH="0" flipV="0">
            <a:off x="9629775" y="1828800"/>
            <a:ext cx="1895475" cy="3143250"/>
          </a:xfrm>
          <a:prstGeom prst="roundRect">
            <a:avLst>
              <a:gd name="adj" fmla="val 703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801225" y="2057400"/>
            <a:ext cx="1552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05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801225" y="264795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小步试点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801225" y="2962275"/>
            <a:ext cx="1552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用数据选范围，跑通再放大到全量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66750" y="5410200"/>
            <a:ext cx="108585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上篇的五步法管「想清楚」，这五步管「做出来」——任何老系统都能复制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21 / 22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314950" y="2962275"/>
            <a:ext cx="1562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规则记忆放</a:t>
            </a:r>
            <a:r>
              <a:rPr lang="en-US" sz="1050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侧，系统侧极简，改规则不动代码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notes={`一期我们守住了边界：AI 只动嘴、不动手。二期才考虑让它动手——审批写操作会配人工确认、健康度做成可视化看板、把更多流程接进来。最后送大家一句话，也是这个项目教会我们的：系统出数据，AI 出判断，人出决定。三者边界画清楚，AI 落地就不再玄学。谢谢大家，欢迎提问。`}&gt;&#13;&#10;  &lt;Slide style={{ background: '#FAF9F5', padding: '80px 70px 40px 70px', width: 1280, height: 720, justifyContent: 'space-between', alignItems: 'center' }}&gt;&#13;&#10;    &lt;Box style={{ flex: 1, justifyContent: 'center', alignItems: 'center', gap: 40 }}&gt;&#13;&#10;      &lt;Box style={{ flexDirection: 'row', alignItems: 'center', gap: 20 }}&gt;&#13;&#10;        &lt;Box style={{ width: 44, height: 3, background: '#D97757' }} /&gt;&#13;&#10;        &lt;Text style={{ fontFamily: '微软雅黑', fontSize: 15, color: '#A9A294', letterSpacing: 4 }}&gt;写在这个项目的最后&lt;/Text&gt;&#13;&#10;        &lt;Box style={{ width: 44, height: 3, background: '#D97757' }} /&gt;&#13;&#10;      &lt;/Box&gt;&#13;&#10;      &lt;Text style={{ fontFamily: '华文中宋', fontSize: 46, fontWeight: 'bold', color: '#1F1E1B', textAlign: 'center', lineHeight: 1.6 }}&gt;系统出数据 · &lt;span style={{ color: '#D97757' }}&gt;AI 出判断&lt;/span&gt; · 人出决定&lt;/Text&gt;&#13;&#10;      &lt;Box style={{ flexDirection: 'row', gap: 16 }}&gt;&#13;&#10;        &lt;Box style={{ padding: '12px 22px', background: 'rgba(31,30,27,0.04)', borderRadius: 24 }}&gt;&#13;&#10;          &lt;Text style={{ fontFamily: '微软雅黑', fontSize: 15, color: '#1F1E1B' }}&gt;二期 · 审批写操作&lt;span style={{ color: '#A9A294' }}&gt;（带人工确认）&lt;/span&gt;&lt;/Text&gt;&#13;&#10;        &lt;/Box&gt;&#13;&#10;        &lt;Box style={{ padding: '12px 22px', background: 'rgba(31,30,27,0.04)', borderRadius: 24 }}&gt;&#13;&#10;          &lt;Text style={{ fontFamily: '微软雅黑', fontSize: 15, color: '#1F1E1B' }}&gt;二期 · 健康度看板&lt;/Text&gt;&#13;&#10;        &lt;/Box&gt;&#13;&#10;        &lt;Box style={{ padding: '12px 22px', background: 'rgba(31,30,27,0.04)', borderRadius: 24 }}&gt;&#13;&#10;          &lt;Text style={{ fontFamily: '微软雅黑', fontSize: 15, color: '#1F1E1B' }}&gt;二期 · 更多流程接入&lt;/Text&gt;&#13;&#10;        &lt;/Box&gt;&#13;&#10;      &lt;/Box&gt;&#13;&#10;    &lt;/Box&gt;&#13;&#10;    &lt;Box style={{ flexDirection: 'row', justifyContent: 'space-between', alignItems: 'center', width: '100%' }}&gt;&#13;&#10;      &lt;Text style={{ fontFamily: '微软雅黑', fontSize: 14, color: '#A9A294' }}&gt;谢谢观看 · Q&amp;A&lt;/Text&gt;&#13;&#10;      &lt;Box style={{ flexDirection: 'row', gap: 24, alignItems: 'center' }}&gt;&#13;&#10;        &lt;Text style={{ fontFamily: '微软雅黑', fontSize: 13, color: '#A9A294' }}&gt;知识管理中心 · 2026.09&lt;/Text&gt;&#13;&#10;        &lt;Text style={{ fontFamily: '微软雅黑', fontSize: 13, color: '#A9A294' }}&gt;22 / 22&lt;/Text&gt;&#13;&#10;      &lt;/Box&gt;&#13;&#10;    &lt;/Box&gt;&#13;&#10;  &lt;/Slide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4676775" y="2524125"/>
            <a:ext cx="419100" cy="28575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286375" y="2447925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写在这个项目的最后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7105650" y="2524125"/>
            <a:ext cx="419100" cy="28575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2762250" y="3000375"/>
            <a:ext cx="6667500" cy="8477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3450" b="1">
                <a:solidFill>
                  <a:srgbClr val="1F1E1B"/>
                </a:solidFill>
                <a:latin typeface="华文中宋"/>
                <a:ea typeface="华文中宋"/>
              </a:rPr>
              <a:t>系统出数据</a:t>
            </a:r>
            <a:r>
              <a:rPr lang="en-US" sz="34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en-US" sz="3450" b="1">
                <a:solidFill>
                  <a:srgbClr val="D97757"/>
                </a:solidFill>
                <a:latin typeface="华文中宋"/>
                <a:ea typeface="华文中宋"/>
              </a:rPr>
              <a:t>AI </a:t>
            </a:r>
            <a:r>
              <a:rPr lang="zh-CN" sz="3450" b="1">
                <a:solidFill>
                  <a:srgbClr val="D97757"/>
                </a:solidFill>
                <a:latin typeface="华文中宋"/>
                <a:ea typeface="华文中宋"/>
              </a:rPr>
              <a:t>出判断</a:t>
            </a:r>
            <a:r>
              <a:rPr lang="en-US" sz="34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3450" b="1">
                <a:solidFill>
                  <a:srgbClr val="1F1E1B"/>
                </a:solidFill>
                <a:latin typeface="华文中宋"/>
                <a:ea typeface="华文中宋"/>
              </a:rPr>
              <a:t>人出决定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3028950" y="4229100"/>
            <a:ext cx="2562225" cy="400050"/>
          </a:xfrm>
          <a:prstGeom prst="roundRect">
            <a:avLst>
              <a:gd name="adj" fmla="val 57143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3238500" y="43434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二期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审批写操作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（带人工确认）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5743575" y="4229100"/>
            <a:ext cx="1562100" cy="400050"/>
          </a:xfrm>
          <a:prstGeom prst="roundRect">
            <a:avLst>
              <a:gd name="adj" fmla="val 57143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953125" y="43434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二期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健康度看板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7458075" y="4229100"/>
            <a:ext cx="1704975" cy="400050"/>
          </a:xfrm>
          <a:prstGeom prst="roundRect">
            <a:avLst>
              <a:gd name="adj" fmla="val 57143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667625" y="43434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二期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更多流程接入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谢谢观看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· Q&amp;A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9477375" y="6324600"/>
            <a:ext cx="1381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知识管理中心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2026.09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1087100" y="63246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22 / 22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2026-09-09T18:35:13Z</dcterms:created>
  <dcterms:modified xsi:type="dcterms:W3CDTF">2026-09-09T18:35:13Z</dcterms:modified>
</cp:coreProperties>
</file>